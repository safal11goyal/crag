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1"/>
  </p:notesMasterIdLst>
  <p:sldIdLst>
    <p:sldId id="256" r:id="rId2"/>
    <p:sldId id="275" r:id="rId3"/>
    <p:sldId id="277" r:id="rId4"/>
    <p:sldId id="269" r:id="rId5"/>
    <p:sldId id="267" r:id="rId6"/>
    <p:sldId id="270" r:id="rId7"/>
    <p:sldId id="268" r:id="rId8"/>
    <p:sldId id="271" r:id="rId9"/>
    <p:sldId id="273" r:id="rId10"/>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p:scale>
          <a:sx n="100" d="100"/>
          <a:sy n="100" d="100"/>
        </p:scale>
        <p:origin x="420" y="2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6"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afal goyal" userId="2a6e181bf2efa8eb" providerId="LiveId" clId="{E9C65051-DD6F-4FC7-AF42-E35B75A92BD1}"/>
    <pc:docChg chg="undo custSel delSld modSld sldOrd">
      <pc:chgData name="safal goyal" userId="2a6e181bf2efa8eb" providerId="LiveId" clId="{E9C65051-DD6F-4FC7-AF42-E35B75A92BD1}" dt="2026-09-16T06:54:12.258" v="334" actId="20577"/>
      <pc:docMkLst>
        <pc:docMk/>
      </pc:docMkLst>
      <pc:sldChg chg="modSp del mod">
        <pc:chgData name="safal goyal" userId="2a6e181bf2efa8eb" providerId="LiveId" clId="{E9C65051-DD6F-4FC7-AF42-E35B75A92BD1}" dt="2026-09-16T06:46:41.032" v="319" actId="47"/>
        <pc:sldMkLst>
          <pc:docMk/>
          <pc:sldMk cId="0" sldId="257"/>
        </pc:sldMkLst>
        <pc:spChg chg="mod">
          <ac:chgData name="safal goyal" userId="2a6e181bf2efa8eb" providerId="LiveId" clId="{E9C65051-DD6F-4FC7-AF42-E35B75A92BD1}" dt="2026-09-15T14:06:34.110" v="57" actId="1076"/>
          <ac:spMkLst>
            <pc:docMk/>
            <pc:sldMk cId="0" sldId="257"/>
            <ac:spMk id="34" creationId="{00000000-0000-0000-0000-000000000000}"/>
          </ac:spMkLst>
        </pc:spChg>
        <pc:spChg chg="mod">
          <ac:chgData name="safal goyal" userId="2a6e181bf2efa8eb" providerId="LiveId" clId="{E9C65051-DD6F-4FC7-AF42-E35B75A92BD1}" dt="2026-09-15T14:06:27.244" v="55" actId="688"/>
          <ac:spMkLst>
            <pc:docMk/>
            <pc:sldMk cId="0" sldId="257"/>
            <ac:spMk id="38" creationId="{00000000-0000-0000-0000-000000000000}"/>
          </ac:spMkLst>
        </pc:spChg>
        <pc:spChg chg="mod">
          <ac:chgData name="safal goyal" userId="2a6e181bf2efa8eb" providerId="LiveId" clId="{E9C65051-DD6F-4FC7-AF42-E35B75A92BD1}" dt="2026-09-15T14:06:11.281" v="50" actId="1076"/>
          <ac:spMkLst>
            <pc:docMk/>
            <pc:sldMk cId="0" sldId="257"/>
            <ac:spMk id="39" creationId="{00000000-0000-0000-0000-000000000000}"/>
          </ac:spMkLst>
        </pc:spChg>
      </pc:sldChg>
      <pc:sldChg chg="modSp mod">
        <pc:chgData name="safal goyal" userId="2a6e181bf2efa8eb" providerId="LiveId" clId="{E9C65051-DD6F-4FC7-AF42-E35B75A92BD1}" dt="2026-09-15T14:01:50.463" v="46" actId="1076"/>
        <pc:sldMkLst>
          <pc:docMk/>
          <pc:sldMk cId="0" sldId="258"/>
        </pc:sldMkLst>
        <pc:spChg chg="mod">
          <ac:chgData name="safal goyal" userId="2a6e181bf2efa8eb" providerId="LiveId" clId="{E9C65051-DD6F-4FC7-AF42-E35B75A92BD1}" dt="2026-09-15T14:01:50.463" v="46" actId="1076"/>
          <ac:spMkLst>
            <pc:docMk/>
            <pc:sldMk cId="0" sldId="258"/>
            <ac:spMk id="5" creationId="{00000000-0000-0000-0000-000000000000}"/>
          </ac:spMkLst>
        </pc:spChg>
        <pc:spChg chg="mod">
          <ac:chgData name="safal goyal" userId="2a6e181bf2efa8eb" providerId="LiveId" clId="{E9C65051-DD6F-4FC7-AF42-E35B75A92BD1}" dt="2026-09-15T14:01:49.513" v="45" actId="1076"/>
          <ac:spMkLst>
            <pc:docMk/>
            <pc:sldMk cId="0" sldId="258"/>
            <ac:spMk id="7" creationId="{00000000-0000-0000-0000-000000000000}"/>
          </ac:spMkLst>
        </pc:spChg>
        <pc:spChg chg="mod">
          <ac:chgData name="safal goyal" userId="2a6e181bf2efa8eb" providerId="LiveId" clId="{E9C65051-DD6F-4FC7-AF42-E35B75A92BD1}" dt="2026-09-15T14:01:48.575" v="44" actId="1076"/>
          <ac:spMkLst>
            <pc:docMk/>
            <pc:sldMk cId="0" sldId="258"/>
            <ac:spMk id="9" creationId="{00000000-0000-0000-0000-000000000000}"/>
          </ac:spMkLst>
        </pc:spChg>
        <pc:spChg chg="mod">
          <ac:chgData name="safal goyal" userId="2a6e181bf2efa8eb" providerId="LiveId" clId="{E9C65051-DD6F-4FC7-AF42-E35B75A92BD1}" dt="2026-09-15T14:01:47.669" v="43" actId="1076"/>
          <ac:spMkLst>
            <pc:docMk/>
            <pc:sldMk cId="0" sldId="258"/>
            <ac:spMk id="11" creationId="{00000000-0000-0000-0000-000000000000}"/>
          </ac:spMkLst>
        </pc:spChg>
        <pc:spChg chg="mod">
          <ac:chgData name="safal goyal" userId="2a6e181bf2efa8eb" providerId="LiveId" clId="{E9C65051-DD6F-4FC7-AF42-E35B75A92BD1}" dt="2026-09-15T14:01:40.986" v="40" actId="1076"/>
          <ac:spMkLst>
            <pc:docMk/>
            <pc:sldMk cId="0" sldId="258"/>
            <ac:spMk id="13" creationId="{00000000-0000-0000-0000-000000000000}"/>
          </ac:spMkLst>
        </pc:spChg>
        <pc:spChg chg="mod">
          <ac:chgData name="safal goyal" userId="2a6e181bf2efa8eb" providerId="LiveId" clId="{E9C65051-DD6F-4FC7-AF42-E35B75A92BD1}" dt="2026-09-15T14:01:46.226" v="42" actId="1076"/>
          <ac:spMkLst>
            <pc:docMk/>
            <pc:sldMk cId="0" sldId="258"/>
            <ac:spMk id="14" creationId="{00000000-0000-0000-0000-000000000000}"/>
          </ac:spMkLst>
        </pc:spChg>
        <pc:picChg chg="mod">
          <ac:chgData name="safal goyal" userId="2a6e181bf2efa8eb" providerId="LiveId" clId="{E9C65051-DD6F-4FC7-AF42-E35B75A92BD1}" dt="2026-09-15T14:01:42.806" v="41" actId="1076"/>
          <ac:picMkLst>
            <pc:docMk/>
            <pc:sldMk cId="0" sldId="258"/>
            <ac:picMk id="15" creationId="{00000000-0000-0000-0000-000000000000}"/>
          </ac:picMkLst>
        </pc:picChg>
      </pc:sldChg>
      <pc:sldChg chg="del">
        <pc:chgData name="safal goyal" userId="2a6e181bf2efa8eb" providerId="LiveId" clId="{E9C65051-DD6F-4FC7-AF42-E35B75A92BD1}" dt="2026-09-16T06:44:10.590" v="317" actId="47"/>
        <pc:sldMkLst>
          <pc:docMk/>
          <pc:sldMk cId="0" sldId="265"/>
        </pc:sldMkLst>
      </pc:sldChg>
      <pc:sldChg chg="addSp delSp modSp mod">
        <pc:chgData name="safal goyal" userId="2a6e181bf2efa8eb" providerId="LiveId" clId="{E9C65051-DD6F-4FC7-AF42-E35B75A92BD1}" dt="2026-09-16T06:53:39.031" v="322" actId="20577"/>
        <pc:sldMkLst>
          <pc:docMk/>
          <pc:sldMk cId="0" sldId="267"/>
        </pc:sldMkLst>
        <pc:spChg chg="mod">
          <ac:chgData name="safal goyal" userId="2a6e181bf2efa8eb" providerId="LiveId" clId="{E9C65051-DD6F-4FC7-AF42-E35B75A92BD1}" dt="2026-09-16T04:42:16.396" v="194" actId="1076"/>
          <ac:spMkLst>
            <pc:docMk/>
            <pc:sldMk cId="0" sldId="267"/>
            <ac:spMk id="2" creationId="{00000000-0000-0000-0000-000000000000}"/>
          </ac:spMkLst>
        </pc:spChg>
        <pc:spChg chg="mod">
          <ac:chgData name="safal goyal" userId="2a6e181bf2efa8eb" providerId="LiveId" clId="{E9C65051-DD6F-4FC7-AF42-E35B75A92BD1}" dt="2026-09-16T06:53:39.031" v="322" actId="20577"/>
          <ac:spMkLst>
            <pc:docMk/>
            <pc:sldMk cId="0" sldId="267"/>
            <ac:spMk id="53" creationId="{00000000-0000-0000-0000-000000000000}"/>
          </ac:spMkLst>
        </pc:spChg>
        <pc:spChg chg="mod">
          <ac:chgData name="safal goyal" userId="2a6e181bf2efa8eb" providerId="LiveId" clId="{E9C65051-DD6F-4FC7-AF42-E35B75A92BD1}" dt="2026-09-16T04:42:44.194" v="314" actId="1076"/>
          <ac:spMkLst>
            <pc:docMk/>
            <pc:sldMk cId="0" sldId="267"/>
            <ac:spMk id="56" creationId="{00000000-0000-0000-0000-000000000000}"/>
          </ac:spMkLst>
        </pc:spChg>
        <pc:picChg chg="add mod">
          <ac:chgData name="safal goyal" userId="2a6e181bf2efa8eb" providerId="LiveId" clId="{E9C65051-DD6F-4FC7-AF42-E35B75A92BD1}" dt="2026-09-16T04:42:54.750" v="316" actId="14100"/>
          <ac:picMkLst>
            <pc:docMk/>
            <pc:sldMk cId="0" sldId="267"/>
            <ac:picMk id="15" creationId="{FDFA5FF0-19C0-2C0E-894C-2E604E5C2F15}"/>
          </ac:picMkLst>
        </pc:picChg>
        <pc:picChg chg="del mod modCrop">
          <ac:chgData name="safal goyal" userId="2a6e181bf2efa8eb" providerId="LiveId" clId="{E9C65051-DD6F-4FC7-AF42-E35B75A92BD1}" dt="2026-09-16T04:41:29.645" v="187" actId="478"/>
          <ac:picMkLst>
            <pc:docMk/>
            <pc:sldMk cId="0" sldId="267"/>
            <ac:picMk id="55" creationId="{00000000-0000-0000-0000-000000000000}"/>
          </ac:picMkLst>
        </pc:picChg>
      </pc:sldChg>
      <pc:sldChg chg="modSp mod">
        <pc:chgData name="safal goyal" userId="2a6e181bf2efa8eb" providerId="LiveId" clId="{E9C65051-DD6F-4FC7-AF42-E35B75A92BD1}" dt="2026-09-16T06:53:49.013" v="326" actId="20577"/>
        <pc:sldMkLst>
          <pc:docMk/>
          <pc:sldMk cId="0" sldId="268"/>
        </pc:sldMkLst>
        <pc:spChg chg="mod">
          <ac:chgData name="safal goyal" userId="2a6e181bf2efa8eb" providerId="LiveId" clId="{E9C65051-DD6F-4FC7-AF42-E35B75A92BD1}" dt="2026-09-15T14:08:26.417" v="63" actId="207"/>
          <ac:spMkLst>
            <pc:docMk/>
            <pc:sldMk cId="0" sldId="268"/>
            <ac:spMk id="7" creationId="{00000000-0000-0000-0000-000000000000}"/>
          </ac:spMkLst>
        </pc:spChg>
        <pc:spChg chg="mod">
          <ac:chgData name="safal goyal" userId="2a6e181bf2efa8eb" providerId="LiveId" clId="{E9C65051-DD6F-4FC7-AF42-E35B75A92BD1}" dt="2026-09-15T14:08:13.167" v="60" actId="207"/>
          <ac:spMkLst>
            <pc:docMk/>
            <pc:sldMk cId="0" sldId="268"/>
            <ac:spMk id="8" creationId="{00000000-0000-0000-0000-000000000000}"/>
          </ac:spMkLst>
        </pc:spChg>
        <pc:spChg chg="mod">
          <ac:chgData name="safal goyal" userId="2a6e181bf2efa8eb" providerId="LiveId" clId="{E9C65051-DD6F-4FC7-AF42-E35B75A92BD1}" dt="2026-09-15T14:08:28.810" v="64" actId="207"/>
          <ac:spMkLst>
            <pc:docMk/>
            <pc:sldMk cId="0" sldId="268"/>
            <ac:spMk id="17" creationId="{00000000-0000-0000-0000-000000000000}"/>
          </ac:spMkLst>
        </pc:spChg>
        <pc:spChg chg="mod">
          <ac:chgData name="safal goyal" userId="2a6e181bf2efa8eb" providerId="LiveId" clId="{E9C65051-DD6F-4FC7-AF42-E35B75A92BD1}" dt="2026-09-15T14:08:23.809" v="62" actId="207"/>
          <ac:spMkLst>
            <pc:docMk/>
            <pc:sldMk cId="0" sldId="268"/>
            <ac:spMk id="18" creationId="{00000000-0000-0000-0000-000000000000}"/>
          </ac:spMkLst>
        </pc:spChg>
        <pc:spChg chg="mod">
          <ac:chgData name="safal goyal" userId="2a6e181bf2efa8eb" providerId="LiveId" clId="{E9C65051-DD6F-4FC7-AF42-E35B75A92BD1}" dt="2026-09-15T16:34:59.466" v="130" actId="20577"/>
          <ac:spMkLst>
            <pc:docMk/>
            <pc:sldMk cId="0" sldId="268"/>
            <ac:spMk id="23" creationId="{00000000-0000-0000-0000-000000000000}"/>
          </ac:spMkLst>
        </pc:spChg>
        <pc:spChg chg="mod">
          <ac:chgData name="safal goyal" userId="2a6e181bf2efa8eb" providerId="LiveId" clId="{E9C65051-DD6F-4FC7-AF42-E35B75A92BD1}" dt="2026-09-15T14:08:41.264" v="68" actId="207"/>
          <ac:spMkLst>
            <pc:docMk/>
            <pc:sldMk cId="0" sldId="268"/>
            <ac:spMk id="27" creationId="{00000000-0000-0000-0000-000000000000}"/>
          </ac:spMkLst>
        </pc:spChg>
        <pc:spChg chg="mod">
          <ac:chgData name="safal goyal" userId="2a6e181bf2efa8eb" providerId="LiveId" clId="{E9C65051-DD6F-4FC7-AF42-E35B75A92BD1}" dt="2026-09-15T16:35:10.902" v="176" actId="20577"/>
          <ac:spMkLst>
            <pc:docMk/>
            <pc:sldMk cId="0" sldId="268"/>
            <ac:spMk id="28" creationId="{00000000-0000-0000-0000-000000000000}"/>
          </ac:spMkLst>
        </pc:spChg>
        <pc:spChg chg="mod">
          <ac:chgData name="safal goyal" userId="2a6e181bf2efa8eb" providerId="LiveId" clId="{E9C65051-DD6F-4FC7-AF42-E35B75A92BD1}" dt="2026-09-15T14:08:33.752" v="66" actId="207"/>
          <ac:spMkLst>
            <pc:docMk/>
            <pc:sldMk cId="0" sldId="268"/>
            <ac:spMk id="37" creationId="{00000000-0000-0000-0000-000000000000}"/>
          </ac:spMkLst>
        </pc:spChg>
        <pc:spChg chg="mod">
          <ac:chgData name="safal goyal" userId="2a6e181bf2efa8eb" providerId="LiveId" clId="{E9C65051-DD6F-4FC7-AF42-E35B75A92BD1}" dt="2026-09-15T14:08:18.846" v="61" actId="207"/>
          <ac:spMkLst>
            <pc:docMk/>
            <pc:sldMk cId="0" sldId="268"/>
            <ac:spMk id="38" creationId="{00000000-0000-0000-0000-000000000000}"/>
          </ac:spMkLst>
        </pc:spChg>
        <pc:spChg chg="mod">
          <ac:chgData name="safal goyal" userId="2a6e181bf2efa8eb" providerId="LiveId" clId="{E9C65051-DD6F-4FC7-AF42-E35B75A92BD1}" dt="2026-09-16T06:53:49.013" v="326" actId="20577"/>
          <ac:spMkLst>
            <pc:docMk/>
            <pc:sldMk cId="0" sldId="268"/>
            <ac:spMk id="39" creationId="{00000000-0000-0000-0000-000000000000}"/>
          </ac:spMkLst>
        </pc:spChg>
      </pc:sldChg>
      <pc:sldChg chg="modSp mod ord">
        <pc:chgData name="safal goyal" userId="2a6e181bf2efa8eb" providerId="LiveId" clId="{E9C65051-DD6F-4FC7-AF42-E35B75A92BD1}" dt="2026-09-15T16:35:52.837" v="186" actId="14100"/>
        <pc:sldMkLst>
          <pc:docMk/>
          <pc:sldMk cId="0" sldId="269"/>
        </pc:sldMkLst>
        <pc:graphicFrameChg chg="mod modGraphic">
          <ac:chgData name="safal goyal" userId="2a6e181bf2efa8eb" providerId="LiveId" clId="{E9C65051-DD6F-4FC7-AF42-E35B75A92BD1}" dt="2026-09-15T16:35:52.837" v="186" actId="14100"/>
          <ac:graphicFrameMkLst>
            <pc:docMk/>
            <pc:sldMk cId="0" sldId="269"/>
            <ac:graphicFrameMk id="36" creationId="{00000000-0000-0000-0000-000000000000}"/>
          </ac:graphicFrameMkLst>
        </pc:graphicFrameChg>
      </pc:sldChg>
      <pc:sldChg chg="modSp mod">
        <pc:chgData name="safal goyal" userId="2a6e181bf2efa8eb" providerId="LiveId" clId="{E9C65051-DD6F-4FC7-AF42-E35B75A92BD1}" dt="2026-09-16T06:53:44.057" v="324" actId="6549"/>
        <pc:sldMkLst>
          <pc:docMk/>
          <pc:sldMk cId="0" sldId="270"/>
        </pc:sldMkLst>
        <pc:spChg chg="mod">
          <ac:chgData name="safal goyal" userId="2a6e181bf2efa8eb" providerId="LiveId" clId="{E9C65051-DD6F-4FC7-AF42-E35B75A92BD1}" dt="2026-09-16T06:53:44.057" v="324" actId="6549"/>
          <ac:spMkLst>
            <pc:docMk/>
            <pc:sldMk cId="0" sldId="270"/>
            <ac:spMk id="29" creationId="{00000000-0000-0000-0000-000000000000}"/>
          </ac:spMkLst>
        </pc:spChg>
      </pc:sldChg>
      <pc:sldChg chg="modSp mod">
        <pc:chgData name="safal goyal" userId="2a6e181bf2efa8eb" providerId="LiveId" clId="{E9C65051-DD6F-4FC7-AF42-E35B75A92BD1}" dt="2026-09-16T06:53:54.248" v="328" actId="20577"/>
        <pc:sldMkLst>
          <pc:docMk/>
          <pc:sldMk cId="0" sldId="271"/>
        </pc:sldMkLst>
        <pc:spChg chg="mod">
          <ac:chgData name="safal goyal" userId="2a6e181bf2efa8eb" providerId="LiveId" clId="{E9C65051-DD6F-4FC7-AF42-E35B75A92BD1}" dt="2026-09-16T06:53:21.248" v="320" actId="207"/>
          <ac:spMkLst>
            <pc:docMk/>
            <pc:sldMk cId="0" sldId="271"/>
            <ac:spMk id="35" creationId="{00000000-0000-0000-0000-000000000000}"/>
          </ac:spMkLst>
        </pc:spChg>
        <pc:spChg chg="mod">
          <ac:chgData name="safal goyal" userId="2a6e181bf2efa8eb" providerId="LiveId" clId="{E9C65051-DD6F-4FC7-AF42-E35B75A92BD1}" dt="2026-09-16T06:53:54.248" v="328" actId="20577"/>
          <ac:spMkLst>
            <pc:docMk/>
            <pc:sldMk cId="0" sldId="271"/>
            <ac:spMk id="36" creationId="{00000000-0000-0000-0000-000000000000}"/>
          </ac:spMkLst>
        </pc:spChg>
      </pc:sldChg>
      <pc:sldChg chg="delSp modSp mod">
        <pc:chgData name="safal goyal" userId="2a6e181bf2efa8eb" providerId="LiveId" clId="{E9C65051-DD6F-4FC7-AF42-E35B75A92BD1}" dt="2026-09-16T06:53:58.155" v="330" actId="20577"/>
        <pc:sldMkLst>
          <pc:docMk/>
          <pc:sldMk cId="0" sldId="273"/>
        </pc:sldMkLst>
        <pc:spChg chg="mod">
          <ac:chgData name="safal goyal" userId="2a6e181bf2efa8eb" providerId="LiveId" clId="{E9C65051-DD6F-4FC7-AF42-E35B75A92BD1}" dt="2026-08-18T17:44:08.135" v="34" actId="1076"/>
          <ac:spMkLst>
            <pc:docMk/>
            <pc:sldMk cId="0" sldId="273"/>
            <ac:spMk id="4" creationId="{00000000-0000-0000-0000-000000000000}"/>
          </ac:spMkLst>
        </pc:spChg>
        <pc:spChg chg="mod">
          <ac:chgData name="safal goyal" userId="2a6e181bf2efa8eb" providerId="LiveId" clId="{E9C65051-DD6F-4FC7-AF42-E35B75A92BD1}" dt="2026-09-16T06:53:58.155" v="330" actId="20577"/>
          <ac:spMkLst>
            <pc:docMk/>
            <pc:sldMk cId="0" sldId="273"/>
            <ac:spMk id="21" creationId="{00000000-0000-0000-0000-000000000000}"/>
          </ac:spMkLst>
        </pc:spChg>
        <pc:picChg chg="mod">
          <ac:chgData name="safal goyal" userId="2a6e181bf2efa8eb" providerId="LiveId" clId="{E9C65051-DD6F-4FC7-AF42-E35B75A92BD1}" dt="2026-08-18T17:44:02.383" v="33" actId="1076"/>
          <ac:picMkLst>
            <pc:docMk/>
            <pc:sldMk cId="0" sldId="273"/>
            <ac:picMk id="6" creationId="{00000000-0000-0000-0000-000000000000}"/>
          </ac:picMkLst>
        </pc:picChg>
      </pc:sldChg>
      <pc:sldChg chg="modSp mod">
        <pc:chgData name="safal goyal" userId="2a6e181bf2efa8eb" providerId="LiveId" clId="{E9C65051-DD6F-4FC7-AF42-E35B75A92BD1}" dt="2026-09-16T06:54:12.258" v="334" actId="20577"/>
        <pc:sldMkLst>
          <pc:docMk/>
          <pc:sldMk cId="0" sldId="275"/>
        </pc:sldMkLst>
        <pc:spChg chg="mod">
          <ac:chgData name="safal goyal" userId="2a6e181bf2efa8eb" providerId="LiveId" clId="{E9C65051-DD6F-4FC7-AF42-E35B75A92BD1}" dt="2026-09-16T06:54:12.258" v="334" actId="20577"/>
          <ac:spMkLst>
            <pc:docMk/>
            <pc:sldMk cId="0" sldId="275"/>
            <ac:spMk id="32" creationId="{00000000-0000-0000-0000-000000000000}"/>
          </ac:spMkLst>
        </pc:spChg>
      </pc:sldChg>
      <pc:sldChg chg="modSp mod">
        <pc:chgData name="safal goyal" userId="2a6e181bf2efa8eb" providerId="LiveId" clId="{E9C65051-DD6F-4FC7-AF42-E35B75A92BD1}" dt="2026-09-16T06:54:07.904" v="332" actId="20577"/>
        <pc:sldMkLst>
          <pc:docMk/>
          <pc:sldMk cId="0" sldId="277"/>
        </pc:sldMkLst>
        <pc:spChg chg="mod">
          <ac:chgData name="safal goyal" userId="2a6e181bf2efa8eb" providerId="LiveId" clId="{E9C65051-DD6F-4FC7-AF42-E35B75A92BD1}" dt="2026-09-16T06:54:07.904" v="332" actId="20577"/>
          <ac:spMkLst>
            <pc:docMk/>
            <pc:sldMk cId="0" sldId="277"/>
            <ac:spMk id="41" creationId="{00000000-0000-0000-0000-000000000000}"/>
          </ac:spMkLst>
        </pc:spChg>
      </pc:sldChg>
      <pc:sldChg chg="del">
        <pc:chgData name="safal goyal" userId="2a6e181bf2efa8eb" providerId="LiveId" clId="{E9C65051-DD6F-4FC7-AF42-E35B75A92BD1}" dt="2026-09-16T06:44:44.644" v="318" actId="47"/>
        <pc:sldMkLst>
          <pc:docMk/>
          <pc:sldMk cId="0" sldId="279"/>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27786745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Title slide for the capstone proposal. Presenter should introduce themselves, their registration number, department, guide, and university before stating the project title. Emphasize that this is a research-inspired proposal, not a finished product, and that the talk will walk through motivation, related work, proposed architecture, methodology and expected outcomes.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LLMs like ChatGPT, Llama, Qwen and Gemini are trained on large static corpora and generate answers purely from learned parameters, with no mechanism to verify claims against current, external evidence. This motivates augmenting LLMs with retrieval and verification.</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each stage: the retriever converts the query into a search over the knowledge base (often using dense embeddings), returns relevant documents, and the LLM conditions its generation on this retrieved context, producing a grounded rather than purely parametric answer.</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Evaluation will use RAGAS-style metrics — answer correctness, faithfulness, context precision and recall — alongside hallucination rate and response time, comparing the proposed evidence-verified pipeline against a traditional single-pass RAG baseline. The bar values shown are illustrative targets, not measured results.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methodology follows seven steps from receiving the question through hybrid retrieval, evidence evaluation, optional re-retrieval, grounded answer generation, citation attachment, and finally confidence scoring.</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outcomes: fewer hallucinations, improved factual correctness, greater transparency into the reasoning process, evidence-backed responses, and ultimately improved user trust in the system.</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stack spans a Next.js/React frontend, a FastAPI backend, LangChain and LlamaIndex for orchestration, Sentence Transformers for embeddings, open LLMs (Llama 3, Qwen, Gemma), ChromaDB/FAISS as vector stores, and a hybrid of BM25 keyword search with dense retrieval.</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Beyond this capstone, the architecture generalizes toward graph-structured retrieval, multi-agent verification pipelines, deeper knowledge-graph integration, and domain-specific deployments in medicine, law, research assistance, and enterprise knowledge management.</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by restating the core contribution — combining RAG with evidence verification and confidence estimation to reduce hallucinations and improve trust, transparency, and factual reliability — then invite questions.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4.png"/><Relationship Id="rId7"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0.png"/><Relationship Id="rId7" Type="http://schemas.openxmlformats.org/officeDocument/2006/relationships/image" Target="../media/image14.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 Id="rId9" Type="http://schemas.openxmlformats.org/officeDocument/2006/relationships/image" Target="../media/image15.png"/></Relationships>
</file>

<file path=ppt/slides/_rels/slide8.xml.rels><?xml version="1.0" encoding="UTF-8" standalone="yes"?>
<Relationships xmlns="http://schemas.openxmlformats.org/package/2006/relationships"><Relationship Id="rId8" Type="http://schemas.openxmlformats.org/officeDocument/2006/relationships/image" Target="../media/image21.png"/><Relationship Id="rId3" Type="http://schemas.openxmlformats.org/officeDocument/2006/relationships/image" Target="../media/image16.png"/><Relationship Id="rId7" Type="http://schemas.openxmlformats.org/officeDocument/2006/relationships/image" Target="../media/image20.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19.png"/><Relationship Id="rId5" Type="http://schemas.openxmlformats.org/officeDocument/2006/relationships/image" Target="../media/image18.png"/><Relationship Id="rId10" Type="http://schemas.openxmlformats.org/officeDocument/2006/relationships/image" Target="../media/image23.png"/><Relationship Id="rId4" Type="http://schemas.openxmlformats.org/officeDocument/2006/relationships/image" Target="../media/image17.png"/><Relationship Id="rId9" Type="http://schemas.openxmlformats.org/officeDocument/2006/relationships/image" Target="../media/image22.png"/></Relationships>
</file>

<file path=ppt/slides/_rels/slide9.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761"/>
        </a:solidFill>
        <a:effectLst/>
      </p:bgPr>
    </p:bg>
    <p:spTree>
      <p:nvGrpSpPr>
        <p:cNvPr id="1" name=""/>
        <p:cNvGrpSpPr/>
        <p:nvPr/>
      </p:nvGrpSpPr>
      <p:grpSpPr>
        <a:xfrm>
          <a:off x="0" y="0"/>
          <a:ext cx="0" cy="0"/>
          <a:chOff x="0" y="0"/>
          <a:chExt cx="0" cy="0"/>
        </a:xfrm>
      </p:grpSpPr>
      <p:sp>
        <p:nvSpPr>
          <p:cNvPr id="2" name="Shape 0"/>
          <p:cNvSpPr/>
          <p:nvPr/>
        </p:nvSpPr>
        <p:spPr>
          <a:xfrm>
            <a:off x="9692640" y="-2011680"/>
            <a:ext cx="5486400" cy="5486400"/>
          </a:xfrm>
          <a:prstGeom prst="ellipse">
            <a:avLst/>
          </a:prstGeom>
          <a:solidFill>
            <a:srgbClr val="141B49">
              <a:alpha val="60000"/>
            </a:srgbClr>
          </a:solidFill>
          <a:ln/>
        </p:spPr>
        <p:txBody>
          <a:bodyPr/>
          <a:lstStyle/>
          <a:p>
            <a:endParaRPr lang="en-US"/>
          </a:p>
        </p:txBody>
      </p:sp>
      <p:sp>
        <p:nvSpPr>
          <p:cNvPr id="3" name="Shape 1"/>
          <p:cNvSpPr/>
          <p:nvPr/>
        </p:nvSpPr>
        <p:spPr>
          <a:xfrm>
            <a:off x="-2194560" y="4206240"/>
            <a:ext cx="5029200" cy="5029200"/>
          </a:xfrm>
          <a:prstGeom prst="ellipse">
            <a:avLst/>
          </a:prstGeom>
          <a:solidFill>
            <a:srgbClr val="141B49">
              <a:alpha val="60000"/>
            </a:srgbClr>
          </a:solidFill>
          <a:ln/>
        </p:spPr>
        <p:txBody>
          <a:bodyPr/>
          <a:lstStyle/>
          <a:p>
            <a:endParaRPr lang="en-US"/>
          </a:p>
        </p:txBody>
      </p:sp>
      <p:sp>
        <p:nvSpPr>
          <p:cNvPr id="4" name="Shape 2"/>
          <p:cNvSpPr/>
          <p:nvPr/>
        </p:nvSpPr>
        <p:spPr>
          <a:xfrm>
            <a:off x="5591556" y="502920"/>
            <a:ext cx="1005840" cy="1005840"/>
          </a:xfrm>
          <a:prstGeom prst="ellipse">
            <a:avLst/>
          </a:prstGeom>
          <a:solidFill>
            <a:srgbClr val="CADCFC"/>
          </a:solidFill>
          <a:ln/>
        </p:spPr>
        <p:txBody>
          <a:bodyPr/>
          <a:lstStyle/>
          <a:p>
            <a:endParaRPr lang="en-US"/>
          </a:p>
        </p:txBody>
      </p:sp>
      <p:pic>
        <p:nvPicPr>
          <p:cNvPr id="5" name="Image 0" descr="/home/claude/capstone/icons/brain_navy.png"/>
          <p:cNvPicPr>
            <a:picLocks noChangeAspect="1"/>
          </p:cNvPicPr>
          <p:nvPr/>
        </p:nvPicPr>
        <p:blipFill>
          <a:blip r:embed="rId3"/>
          <a:stretch>
            <a:fillRect/>
          </a:stretch>
        </p:blipFill>
        <p:spPr>
          <a:xfrm>
            <a:off x="5817870" y="729234"/>
            <a:ext cx="553212" cy="553212"/>
          </a:xfrm>
          <a:prstGeom prst="rect">
            <a:avLst/>
          </a:prstGeom>
        </p:spPr>
      </p:pic>
      <p:sp>
        <p:nvSpPr>
          <p:cNvPr id="6" name="Text 3"/>
          <p:cNvSpPr/>
          <p:nvPr/>
        </p:nvSpPr>
        <p:spPr>
          <a:xfrm>
            <a:off x="731520" y="1783080"/>
            <a:ext cx="10725912" cy="320040"/>
          </a:xfrm>
          <a:prstGeom prst="rect">
            <a:avLst/>
          </a:prstGeom>
          <a:noFill/>
          <a:ln/>
        </p:spPr>
        <p:txBody>
          <a:bodyPr wrap="square" rtlCol="0" anchor="ctr"/>
          <a:lstStyle/>
          <a:p>
            <a:pPr marL="0" indent="0" algn="l">
              <a:buNone/>
            </a:pPr>
            <a:r>
              <a:rPr sz="1500" b="1">
                <a:solidFill>
                  <a:srgbClr val="C89B3C"/>
                </a:solidFill>
              </a:rPr>
              <a:t>PROJECT PROPOSAL</a:t>
            </a:r>
            <a:endParaRPr lang="en-US" sz="1300" dirty="0"/>
          </a:p>
        </p:txBody>
      </p:sp>
      <p:sp>
        <p:nvSpPr>
          <p:cNvPr id="7" name="Text 4"/>
          <p:cNvSpPr/>
          <p:nvPr/>
        </p:nvSpPr>
        <p:spPr>
          <a:xfrm>
            <a:off x="1005840" y="2148840"/>
            <a:ext cx="10177272" cy="1554480"/>
          </a:xfrm>
          <a:prstGeom prst="rect">
            <a:avLst/>
          </a:prstGeom>
          <a:noFill/>
          <a:ln/>
        </p:spPr>
        <p:txBody>
          <a:bodyPr wrap="square" rtlCol="0" anchor="ctr"/>
          <a:lstStyle/>
          <a:p>
            <a:pPr marL="0" indent="0" algn="l">
              <a:lnSpc>
                <a:spcPts val="3600"/>
              </a:lnSpc>
              <a:buNone/>
            </a:pPr>
            <a:r>
              <a:rPr sz="3400" b="1" dirty="0">
                <a:solidFill>
                  <a:srgbClr val="FFFFFF"/>
                </a:solidFill>
                <a:latin typeface="Cambria"/>
              </a:rPr>
              <a:t>Evidence-Based Fact Verification</a:t>
            </a:r>
            <a:endParaRPr lang="en-US" sz="3000" dirty="0"/>
          </a:p>
          <a:p>
            <a:pPr algn="l"/>
            <a:r>
              <a:rPr sz="2800" b="1" dirty="0">
                <a:solidFill>
                  <a:srgbClr val="FFFFFF"/>
                </a:solidFill>
                <a:latin typeface="Cambria"/>
              </a:rPr>
              <a:t>using RAG and Large Language Models</a:t>
            </a:r>
          </a:p>
        </p:txBody>
      </p:sp>
      <p:sp>
        <p:nvSpPr>
          <p:cNvPr id="8" name="Text 5"/>
          <p:cNvSpPr/>
          <p:nvPr/>
        </p:nvSpPr>
        <p:spPr>
          <a:xfrm>
            <a:off x="1463040" y="3703320"/>
            <a:ext cx="9262872" cy="457200"/>
          </a:xfrm>
          <a:prstGeom prst="rect">
            <a:avLst/>
          </a:prstGeom>
          <a:noFill/>
          <a:ln/>
        </p:spPr>
        <p:txBody>
          <a:bodyPr wrap="square" rtlCol="0" anchor="ctr"/>
          <a:lstStyle/>
          <a:p>
            <a:pPr marL="0" indent="0" algn="l">
              <a:buNone/>
            </a:pPr>
            <a:r>
              <a:rPr sz="1800" b="0">
                <a:solidFill>
                  <a:srgbClr val="CADCFC"/>
                </a:solidFill>
              </a:rPr>
              <a:t>Hybrid retrieval, evidence verification, and confidence scoring for grounded AI answers</a:t>
            </a:r>
            <a:endParaRPr lang="en-US" sz="1300" dirty="0"/>
          </a:p>
        </p:txBody>
      </p:sp>
      <p:sp>
        <p:nvSpPr>
          <p:cNvPr id="9" name="Shape 6"/>
          <p:cNvSpPr/>
          <p:nvPr/>
        </p:nvSpPr>
        <p:spPr>
          <a:xfrm>
            <a:off x="1005840" y="4793360"/>
            <a:ext cx="10177272" cy="1778889"/>
          </a:xfrm>
          <a:prstGeom prst="roundRect">
            <a:avLst>
              <a:gd name="adj" fmla="val 5143"/>
            </a:avLst>
          </a:prstGeom>
          <a:solidFill>
            <a:srgbClr val="141B49"/>
          </a:solidFill>
          <a:ln/>
        </p:spPr>
        <p:txBody>
          <a:bodyPr/>
          <a:lstStyle/>
          <a:p>
            <a:endParaRPr lang="en-US"/>
          </a:p>
        </p:txBody>
      </p:sp>
      <p:sp>
        <p:nvSpPr>
          <p:cNvPr id="10" name="Text 7"/>
          <p:cNvSpPr/>
          <p:nvPr/>
        </p:nvSpPr>
        <p:spPr>
          <a:xfrm>
            <a:off x="1417320" y="4892040"/>
            <a:ext cx="4206240" cy="219456"/>
          </a:xfrm>
          <a:prstGeom prst="rect">
            <a:avLst/>
          </a:prstGeom>
          <a:noFill/>
          <a:ln/>
        </p:spPr>
        <p:txBody>
          <a:bodyPr wrap="square" rtlCol="0" anchor="ctr"/>
          <a:lstStyle/>
          <a:p>
            <a:pPr marL="0" indent="0" algn="l">
              <a:buNone/>
            </a:pPr>
            <a:r>
              <a:rPr sz="1300" b="1">
                <a:solidFill>
                  <a:srgbClr val="C89B3C"/>
                </a:solidFill>
              </a:rPr>
              <a:t>STUDENT NAMES</a:t>
            </a:r>
            <a:endParaRPr lang="en-US" sz="1000" dirty="0"/>
          </a:p>
        </p:txBody>
      </p:sp>
      <p:sp>
        <p:nvSpPr>
          <p:cNvPr id="11" name="Text 8"/>
          <p:cNvSpPr/>
          <p:nvPr/>
        </p:nvSpPr>
        <p:spPr>
          <a:xfrm>
            <a:off x="1417320" y="5111496"/>
            <a:ext cx="4206240" cy="320040"/>
          </a:xfrm>
          <a:prstGeom prst="rect">
            <a:avLst/>
          </a:prstGeom>
          <a:noFill/>
          <a:ln/>
        </p:spPr>
        <p:txBody>
          <a:bodyPr wrap="square" rtlCol="0" anchor="ctr"/>
          <a:lstStyle/>
          <a:p>
            <a:pPr marL="0" indent="0" algn="l">
              <a:buNone/>
            </a:pPr>
            <a:r>
              <a:rPr sz="1800" b="0">
                <a:solidFill>
                  <a:srgbClr val="FFFFFF"/>
                </a:solidFill>
              </a:rPr>
              <a:t>Divik Dhiman  |  Satyam Jha  |  Safal Goyal</a:t>
            </a:r>
            <a:endParaRPr lang="en-US" sz="1400" dirty="0"/>
          </a:p>
        </p:txBody>
      </p:sp>
      <p:sp>
        <p:nvSpPr>
          <p:cNvPr id="12" name="Text 9"/>
          <p:cNvSpPr/>
          <p:nvPr/>
        </p:nvSpPr>
        <p:spPr>
          <a:xfrm>
            <a:off x="1417320" y="5623560"/>
            <a:ext cx="4206240" cy="219456"/>
          </a:xfrm>
          <a:prstGeom prst="rect">
            <a:avLst/>
          </a:prstGeom>
          <a:noFill/>
          <a:ln/>
        </p:spPr>
        <p:txBody>
          <a:bodyPr wrap="square" rtlCol="0" anchor="ctr"/>
          <a:lstStyle/>
          <a:p>
            <a:pPr marL="0" indent="0" algn="l">
              <a:buNone/>
            </a:pPr>
            <a:r>
              <a:rPr sz="1300" b="1">
                <a:solidFill>
                  <a:srgbClr val="C89B3C"/>
                </a:solidFill>
              </a:rPr>
              <a:t>REGISTRATION NOS.</a:t>
            </a:r>
            <a:endParaRPr lang="en-US" sz="1000" dirty="0"/>
          </a:p>
        </p:txBody>
      </p:sp>
      <p:sp>
        <p:nvSpPr>
          <p:cNvPr id="13" name="Text 10"/>
          <p:cNvSpPr/>
          <p:nvPr/>
        </p:nvSpPr>
        <p:spPr>
          <a:xfrm>
            <a:off x="1417320" y="5843016"/>
            <a:ext cx="4206240" cy="320040"/>
          </a:xfrm>
          <a:prstGeom prst="rect">
            <a:avLst/>
          </a:prstGeom>
          <a:noFill/>
          <a:ln/>
        </p:spPr>
        <p:txBody>
          <a:bodyPr wrap="square" rtlCol="0" anchor="ctr"/>
          <a:lstStyle/>
          <a:p>
            <a:pPr marL="0" indent="0" algn="l">
              <a:buNone/>
            </a:pPr>
            <a:r>
              <a:rPr sz="1800" b="0">
                <a:solidFill>
                  <a:srgbClr val="FFFFFF"/>
                </a:solidFill>
              </a:rPr>
              <a:t>23BCE1365  |  23BCE1139  |  23BCE1234</a:t>
            </a:r>
            <a:endParaRPr lang="en-US" sz="1400" dirty="0"/>
          </a:p>
        </p:txBody>
      </p:sp>
      <p:sp>
        <p:nvSpPr>
          <p:cNvPr id="14" name="Text 11"/>
          <p:cNvSpPr/>
          <p:nvPr/>
        </p:nvSpPr>
        <p:spPr>
          <a:xfrm>
            <a:off x="6492240" y="4892040"/>
            <a:ext cx="4206240" cy="219456"/>
          </a:xfrm>
          <a:prstGeom prst="rect">
            <a:avLst/>
          </a:prstGeom>
          <a:noFill/>
          <a:ln/>
        </p:spPr>
        <p:txBody>
          <a:bodyPr wrap="square" rtlCol="0" anchor="ctr"/>
          <a:lstStyle/>
          <a:p>
            <a:pPr marL="0" indent="0" algn="l">
              <a:buNone/>
            </a:pPr>
            <a:r>
              <a:rPr sz="1300" b="1">
                <a:solidFill>
                  <a:srgbClr val="C89B3C"/>
                </a:solidFill>
              </a:rPr>
              <a:t>SCHOOL</a:t>
            </a:r>
            <a:endParaRPr lang="en-US" sz="1000" dirty="0"/>
          </a:p>
        </p:txBody>
      </p:sp>
      <p:sp>
        <p:nvSpPr>
          <p:cNvPr id="15" name="Text 12"/>
          <p:cNvSpPr/>
          <p:nvPr/>
        </p:nvSpPr>
        <p:spPr>
          <a:xfrm>
            <a:off x="6492240" y="5111496"/>
            <a:ext cx="4206240" cy="320040"/>
          </a:xfrm>
          <a:prstGeom prst="rect">
            <a:avLst/>
          </a:prstGeom>
          <a:noFill/>
          <a:ln/>
        </p:spPr>
        <p:txBody>
          <a:bodyPr wrap="square" rtlCol="0" anchor="ctr"/>
          <a:lstStyle/>
          <a:p>
            <a:pPr marL="0" indent="0" algn="l">
              <a:buNone/>
            </a:pPr>
            <a:r>
              <a:rPr sz="1800" b="0">
                <a:solidFill>
                  <a:srgbClr val="FFFFFF"/>
                </a:solidFill>
              </a:rPr>
              <a:t>SCOPE</a:t>
            </a:r>
            <a:endParaRPr lang="en-US" sz="1400" dirty="0"/>
          </a:p>
        </p:txBody>
      </p:sp>
      <p:sp>
        <p:nvSpPr>
          <p:cNvPr id="16" name="Text 13"/>
          <p:cNvSpPr/>
          <p:nvPr/>
        </p:nvSpPr>
        <p:spPr>
          <a:xfrm>
            <a:off x="6492240" y="5623560"/>
            <a:ext cx="4206240" cy="219456"/>
          </a:xfrm>
          <a:prstGeom prst="rect">
            <a:avLst/>
          </a:prstGeom>
          <a:noFill/>
          <a:ln/>
        </p:spPr>
        <p:txBody>
          <a:bodyPr wrap="square" rtlCol="0" anchor="ctr"/>
          <a:lstStyle/>
          <a:p>
            <a:pPr marL="0" indent="0" algn="l">
              <a:buNone/>
            </a:pPr>
            <a:r>
              <a:rPr sz="1300" b="1">
                <a:solidFill>
                  <a:srgbClr val="C89B3C"/>
                </a:solidFill>
              </a:rPr>
              <a:t>GUIDE</a:t>
            </a:r>
            <a:endParaRPr lang="en-US" sz="1000" dirty="0"/>
          </a:p>
        </p:txBody>
      </p:sp>
      <p:sp>
        <p:nvSpPr>
          <p:cNvPr id="17" name="Text 14"/>
          <p:cNvSpPr/>
          <p:nvPr/>
        </p:nvSpPr>
        <p:spPr>
          <a:xfrm>
            <a:off x="6492240" y="5843016"/>
            <a:ext cx="4206240" cy="320040"/>
          </a:xfrm>
          <a:prstGeom prst="rect">
            <a:avLst/>
          </a:prstGeom>
          <a:noFill/>
          <a:ln/>
        </p:spPr>
        <p:txBody>
          <a:bodyPr wrap="square" rtlCol="0" anchor="ctr"/>
          <a:lstStyle/>
          <a:p>
            <a:pPr marL="0" indent="0" algn="l">
              <a:buNone/>
            </a:pPr>
            <a:r>
              <a:rPr sz="1800" b="0">
                <a:solidFill>
                  <a:srgbClr val="FFFFFF"/>
                </a:solidFill>
              </a:rPr>
              <a:t>Dr. Rabindra Kumar Singh</a:t>
            </a:r>
            <a:endParaRPr lang="en-US" sz="1400" dirty="0"/>
          </a:p>
        </p:txBody>
      </p:sp>
      <p:sp>
        <p:nvSpPr>
          <p:cNvPr id="18" name="Text 15"/>
          <p:cNvSpPr/>
          <p:nvPr/>
        </p:nvSpPr>
        <p:spPr>
          <a:xfrm>
            <a:off x="1399032" y="6227064"/>
            <a:ext cx="9326880" cy="256032"/>
          </a:xfrm>
          <a:prstGeom prst="rect">
            <a:avLst/>
          </a:prstGeom>
          <a:noFill/>
          <a:ln/>
        </p:spPr>
        <p:txBody>
          <a:bodyPr wrap="square" rtlCol="0" anchor="ctr"/>
          <a:lstStyle/>
          <a:p>
            <a:pPr marL="0" indent="0" algn="l">
              <a:buNone/>
            </a:pPr>
            <a:r>
              <a:rPr sz="1600" b="0">
                <a:solidFill>
                  <a:srgbClr val="CADCFC"/>
                </a:solidFill>
              </a:rPr>
              <a:t>Vellore Institute of Technology, Chennai</a:t>
            </a:r>
            <a:endParaRPr lang="en-US" sz="11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48640" y="384048"/>
            <a:ext cx="11064240" cy="685800"/>
          </a:xfrm>
          <a:prstGeom prst="rect">
            <a:avLst/>
          </a:prstGeom>
          <a:noFill/>
          <a:ln/>
        </p:spPr>
        <p:txBody>
          <a:bodyPr wrap="square" rtlCol="0" anchor="ctr"/>
          <a:lstStyle/>
          <a:p>
            <a:pPr marL="0" indent="0" algn="l">
              <a:buNone/>
            </a:pPr>
            <a:r>
              <a:rPr lang="en-US" sz="3200" b="1" dirty="0">
                <a:solidFill>
                  <a:srgbClr val="1E2761"/>
                </a:solidFill>
                <a:latin typeface="Cambria" pitchFamily="34" charset="0"/>
                <a:ea typeface="Cambria" pitchFamily="34" charset="-122"/>
                <a:cs typeface="Cambria" pitchFamily="34" charset="-120"/>
              </a:rPr>
              <a:t>Introduction</a:t>
            </a:r>
            <a:endParaRPr lang="en-US" sz="3200" dirty="0"/>
          </a:p>
        </p:txBody>
      </p:sp>
      <p:sp>
        <p:nvSpPr>
          <p:cNvPr id="3" name="Text 1"/>
          <p:cNvSpPr/>
          <p:nvPr/>
        </p:nvSpPr>
        <p:spPr>
          <a:xfrm>
            <a:off x="548640" y="91440"/>
            <a:ext cx="9144000" cy="274320"/>
          </a:xfrm>
          <a:prstGeom prst="rect">
            <a:avLst/>
          </a:prstGeom>
          <a:noFill/>
          <a:ln/>
        </p:spPr>
        <p:txBody>
          <a:bodyPr wrap="square" rtlCol="0" anchor="ctr"/>
          <a:lstStyle/>
          <a:p>
            <a:pPr marL="0" indent="0" algn="l">
              <a:buNone/>
            </a:pPr>
            <a:r>
              <a:rPr lang="en-US" sz="1100" b="1" kern="0" spc="200" dirty="0">
                <a:solidFill>
                  <a:srgbClr val="C89B3C"/>
                </a:solidFill>
                <a:latin typeface="Calibri" pitchFamily="34" charset="0"/>
                <a:ea typeface="Calibri" pitchFamily="34" charset="-122"/>
                <a:cs typeface="Calibri" pitchFamily="34" charset="-120"/>
              </a:rPr>
              <a:t>THE RISE OF LARGE LANGUAGE MODELS</a:t>
            </a:r>
            <a:endParaRPr lang="en-US" sz="1100" dirty="0"/>
          </a:p>
        </p:txBody>
      </p:sp>
      <p:sp>
        <p:nvSpPr>
          <p:cNvPr id="4" name="Text 2"/>
          <p:cNvSpPr/>
          <p:nvPr/>
        </p:nvSpPr>
        <p:spPr>
          <a:xfrm>
            <a:off x="640080" y="1417320"/>
            <a:ext cx="5212080" cy="1920240"/>
          </a:xfrm>
          <a:prstGeom prst="rect">
            <a:avLst/>
          </a:prstGeom>
          <a:noFill/>
          <a:ln/>
        </p:spPr>
        <p:txBody>
          <a:bodyPr wrap="square" rtlCol="0" anchor="t"/>
          <a:lstStyle/>
          <a:p>
            <a:pPr marL="342900" indent="-342900">
              <a:lnSpc>
                <a:spcPts val="1800"/>
              </a:lnSpc>
              <a:spcAft>
                <a:spcPts val="1200"/>
              </a:spcAft>
              <a:buSzPct val="100000"/>
              <a:buChar char="•"/>
            </a:pPr>
            <a:r>
              <a:rPr lang="en-US" sz="1350" dirty="0">
                <a:solidFill>
                  <a:srgbClr val="2A2E3A"/>
                </a:solidFill>
                <a:latin typeface="Calibri" pitchFamily="34" charset="0"/>
                <a:ea typeface="Calibri" pitchFamily="34" charset="-122"/>
                <a:cs typeface="Calibri" pitchFamily="34" charset="-120"/>
              </a:rPr>
              <a:t>Large Language Models (LLMs) have achieved remarkable fluency in natural language understanding and generation.</a:t>
            </a:r>
            <a:endParaRPr lang="en-US" sz="1350" dirty="0"/>
          </a:p>
          <a:p>
            <a:pPr marL="342900" indent="-342900">
              <a:lnSpc>
                <a:spcPts val="1800"/>
              </a:lnSpc>
              <a:spcAft>
                <a:spcPts val="1200"/>
              </a:spcAft>
              <a:buSzPct val="100000"/>
              <a:buChar char="•"/>
            </a:pPr>
            <a:r>
              <a:rPr lang="en-US" sz="1350" dirty="0">
                <a:solidFill>
                  <a:srgbClr val="2A2E3A"/>
                </a:solidFill>
                <a:latin typeface="Calibri" pitchFamily="34" charset="0"/>
                <a:ea typeface="Calibri" pitchFamily="34" charset="-122"/>
                <a:cs typeface="Calibri" pitchFamily="34" charset="-120"/>
              </a:rPr>
              <a:t>Widely adopted general-purpose models include ChatGPT, Llama, Qwen, and Gemini.</a:t>
            </a:r>
            <a:endParaRPr lang="en-US" sz="1350" dirty="0"/>
          </a:p>
          <a:p>
            <a:pPr marL="342900" indent="-342900">
              <a:lnSpc>
                <a:spcPts val="1800"/>
              </a:lnSpc>
              <a:spcAft>
                <a:spcPts val="1200"/>
              </a:spcAft>
              <a:buSzPct val="100000"/>
              <a:buChar char="•"/>
            </a:pPr>
            <a:r>
              <a:rPr lang="en-US" sz="1350" dirty="0">
                <a:solidFill>
                  <a:srgbClr val="2A2E3A"/>
                </a:solidFill>
                <a:latin typeface="Calibri" pitchFamily="34" charset="0"/>
                <a:ea typeface="Calibri" pitchFamily="34" charset="-122"/>
                <a:cs typeface="Calibri" pitchFamily="34" charset="-120"/>
              </a:rPr>
              <a:t>These models are increasingly used for question answering, summarization, and decision support.</a:t>
            </a:r>
            <a:endParaRPr lang="en-US" sz="1350" dirty="0"/>
          </a:p>
        </p:txBody>
      </p:sp>
      <p:sp>
        <p:nvSpPr>
          <p:cNvPr id="5" name="Shape 3"/>
          <p:cNvSpPr/>
          <p:nvPr/>
        </p:nvSpPr>
        <p:spPr>
          <a:xfrm>
            <a:off x="640080" y="3429000"/>
            <a:ext cx="1188720" cy="502920"/>
          </a:xfrm>
          <a:prstGeom prst="roundRect">
            <a:avLst>
              <a:gd name="adj" fmla="val 14545"/>
            </a:avLst>
          </a:prstGeom>
          <a:solidFill>
            <a:srgbClr val="FFFFFF"/>
          </a:solidFill>
          <a:ln w="12700">
            <a:solidFill>
              <a:srgbClr val="CADCFC"/>
            </a:solidFill>
            <a:prstDash val="solid"/>
          </a:ln>
          <a:effectLst>
            <a:outerShdw blurRad="101600" dist="25400" dir="5400000" algn="bl" rotWithShape="0">
              <a:srgbClr val="1E2761">
                <a:alpha val="12000"/>
              </a:srgbClr>
            </a:outerShdw>
          </a:effectLst>
        </p:spPr>
        <p:txBody>
          <a:bodyPr/>
          <a:lstStyle/>
          <a:p>
            <a:endParaRPr lang="en-US"/>
          </a:p>
        </p:txBody>
      </p:sp>
      <p:sp>
        <p:nvSpPr>
          <p:cNvPr id="6" name="Text 4"/>
          <p:cNvSpPr/>
          <p:nvPr/>
        </p:nvSpPr>
        <p:spPr>
          <a:xfrm>
            <a:off x="640080" y="3429000"/>
            <a:ext cx="1188720" cy="502920"/>
          </a:xfrm>
          <a:prstGeom prst="rect">
            <a:avLst/>
          </a:prstGeom>
          <a:noFill/>
          <a:ln/>
        </p:spPr>
        <p:txBody>
          <a:bodyPr wrap="square" rtlCol="0" anchor="ctr"/>
          <a:lstStyle/>
          <a:p>
            <a:pPr marL="0" indent="0" algn="ctr">
              <a:buNone/>
            </a:pPr>
            <a:r>
              <a:rPr lang="en-US" sz="1100" b="1" dirty="0">
                <a:solidFill>
                  <a:srgbClr val="1E2761"/>
                </a:solidFill>
                <a:latin typeface="Calibri" pitchFamily="34" charset="0"/>
                <a:ea typeface="Calibri" pitchFamily="34" charset="-122"/>
                <a:cs typeface="Calibri" pitchFamily="34" charset="-120"/>
              </a:rPr>
              <a:t>ChatGPT</a:t>
            </a:r>
            <a:endParaRPr lang="en-US" sz="1100" dirty="0"/>
          </a:p>
        </p:txBody>
      </p:sp>
      <p:sp>
        <p:nvSpPr>
          <p:cNvPr id="7" name="Shape 5"/>
          <p:cNvSpPr/>
          <p:nvPr/>
        </p:nvSpPr>
        <p:spPr>
          <a:xfrm>
            <a:off x="1938528" y="3429000"/>
            <a:ext cx="1188720" cy="502920"/>
          </a:xfrm>
          <a:prstGeom prst="roundRect">
            <a:avLst>
              <a:gd name="adj" fmla="val 14545"/>
            </a:avLst>
          </a:prstGeom>
          <a:solidFill>
            <a:srgbClr val="FFFFFF"/>
          </a:solidFill>
          <a:ln w="12700">
            <a:solidFill>
              <a:srgbClr val="CADCFC"/>
            </a:solidFill>
            <a:prstDash val="solid"/>
          </a:ln>
          <a:effectLst>
            <a:outerShdw blurRad="101600" dist="25400" dir="5400000" algn="bl" rotWithShape="0">
              <a:srgbClr val="1E2761">
                <a:alpha val="12000"/>
              </a:srgbClr>
            </a:outerShdw>
          </a:effectLst>
        </p:spPr>
        <p:txBody>
          <a:bodyPr/>
          <a:lstStyle/>
          <a:p>
            <a:endParaRPr lang="en-US"/>
          </a:p>
        </p:txBody>
      </p:sp>
      <p:sp>
        <p:nvSpPr>
          <p:cNvPr id="8" name="Text 6"/>
          <p:cNvSpPr/>
          <p:nvPr/>
        </p:nvSpPr>
        <p:spPr>
          <a:xfrm>
            <a:off x="1938528" y="3429000"/>
            <a:ext cx="1188720" cy="502920"/>
          </a:xfrm>
          <a:prstGeom prst="rect">
            <a:avLst/>
          </a:prstGeom>
          <a:noFill/>
          <a:ln/>
        </p:spPr>
        <p:txBody>
          <a:bodyPr wrap="square" rtlCol="0" anchor="ctr"/>
          <a:lstStyle/>
          <a:p>
            <a:pPr marL="0" indent="0" algn="ctr">
              <a:buNone/>
            </a:pPr>
            <a:r>
              <a:rPr lang="en-US" sz="1100" b="1" dirty="0">
                <a:solidFill>
                  <a:srgbClr val="1E2761"/>
                </a:solidFill>
                <a:latin typeface="Calibri" pitchFamily="34" charset="0"/>
                <a:ea typeface="Calibri" pitchFamily="34" charset="-122"/>
                <a:cs typeface="Calibri" pitchFamily="34" charset="-120"/>
              </a:rPr>
              <a:t>Llama</a:t>
            </a:r>
            <a:endParaRPr lang="en-US" sz="1100" dirty="0"/>
          </a:p>
        </p:txBody>
      </p:sp>
      <p:sp>
        <p:nvSpPr>
          <p:cNvPr id="9" name="Shape 7"/>
          <p:cNvSpPr/>
          <p:nvPr/>
        </p:nvSpPr>
        <p:spPr>
          <a:xfrm>
            <a:off x="3236976" y="3429000"/>
            <a:ext cx="1188720" cy="502920"/>
          </a:xfrm>
          <a:prstGeom prst="roundRect">
            <a:avLst>
              <a:gd name="adj" fmla="val 14545"/>
            </a:avLst>
          </a:prstGeom>
          <a:solidFill>
            <a:srgbClr val="FFFFFF"/>
          </a:solidFill>
          <a:ln w="12700">
            <a:solidFill>
              <a:srgbClr val="CADCFC"/>
            </a:solidFill>
            <a:prstDash val="solid"/>
          </a:ln>
          <a:effectLst>
            <a:outerShdw blurRad="101600" dist="25400" dir="5400000" algn="bl" rotWithShape="0">
              <a:srgbClr val="1E2761">
                <a:alpha val="12000"/>
              </a:srgbClr>
            </a:outerShdw>
          </a:effectLst>
        </p:spPr>
        <p:txBody>
          <a:bodyPr/>
          <a:lstStyle/>
          <a:p>
            <a:endParaRPr lang="en-US"/>
          </a:p>
        </p:txBody>
      </p:sp>
      <p:sp>
        <p:nvSpPr>
          <p:cNvPr id="10" name="Text 8"/>
          <p:cNvSpPr/>
          <p:nvPr/>
        </p:nvSpPr>
        <p:spPr>
          <a:xfrm>
            <a:off x="3236976" y="3429000"/>
            <a:ext cx="1188720" cy="502920"/>
          </a:xfrm>
          <a:prstGeom prst="rect">
            <a:avLst/>
          </a:prstGeom>
          <a:noFill/>
          <a:ln/>
        </p:spPr>
        <p:txBody>
          <a:bodyPr wrap="square" rtlCol="0" anchor="ctr"/>
          <a:lstStyle/>
          <a:p>
            <a:pPr marL="0" indent="0" algn="ctr">
              <a:buNone/>
            </a:pPr>
            <a:r>
              <a:rPr lang="en-US" sz="1100" b="1" dirty="0">
                <a:solidFill>
                  <a:srgbClr val="1E2761"/>
                </a:solidFill>
                <a:latin typeface="Calibri" pitchFamily="34" charset="0"/>
                <a:ea typeface="Calibri" pitchFamily="34" charset="-122"/>
                <a:cs typeface="Calibri" pitchFamily="34" charset="-120"/>
              </a:rPr>
              <a:t>Qwen</a:t>
            </a:r>
            <a:endParaRPr lang="en-US" sz="1100" dirty="0"/>
          </a:p>
        </p:txBody>
      </p:sp>
      <p:sp>
        <p:nvSpPr>
          <p:cNvPr id="11" name="Shape 9"/>
          <p:cNvSpPr/>
          <p:nvPr/>
        </p:nvSpPr>
        <p:spPr>
          <a:xfrm>
            <a:off x="4535424" y="3429000"/>
            <a:ext cx="1188720" cy="502920"/>
          </a:xfrm>
          <a:prstGeom prst="roundRect">
            <a:avLst>
              <a:gd name="adj" fmla="val 14545"/>
            </a:avLst>
          </a:prstGeom>
          <a:solidFill>
            <a:srgbClr val="FFFFFF"/>
          </a:solidFill>
          <a:ln w="12700">
            <a:solidFill>
              <a:srgbClr val="CADCFC"/>
            </a:solidFill>
            <a:prstDash val="solid"/>
          </a:ln>
          <a:effectLst>
            <a:outerShdw blurRad="101600" dist="25400" dir="5400000" algn="bl" rotWithShape="0">
              <a:srgbClr val="1E2761">
                <a:alpha val="12000"/>
              </a:srgbClr>
            </a:outerShdw>
          </a:effectLst>
        </p:spPr>
        <p:txBody>
          <a:bodyPr/>
          <a:lstStyle/>
          <a:p>
            <a:endParaRPr lang="en-US"/>
          </a:p>
        </p:txBody>
      </p:sp>
      <p:sp>
        <p:nvSpPr>
          <p:cNvPr id="12" name="Text 10"/>
          <p:cNvSpPr/>
          <p:nvPr/>
        </p:nvSpPr>
        <p:spPr>
          <a:xfrm>
            <a:off x="4535424" y="3429000"/>
            <a:ext cx="1188720" cy="502920"/>
          </a:xfrm>
          <a:prstGeom prst="rect">
            <a:avLst/>
          </a:prstGeom>
          <a:noFill/>
          <a:ln/>
        </p:spPr>
        <p:txBody>
          <a:bodyPr wrap="square" rtlCol="0" anchor="ctr"/>
          <a:lstStyle/>
          <a:p>
            <a:pPr marL="0" indent="0" algn="ctr">
              <a:buNone/>
            </a:pPr>
            <a:r>
              <a:rPr lang="en-US" sz="1100" b="1" dirty="0">
                <a:solidFill>
                  <a:srgbClr val="1E2761"/>
                </a:solidFill>
                <a:latin typeface="Calibri" pitchFamily="34" charset="0"/>
                <a:ea typeface="Calibri" pitchFamily="34" charset="-122"/>
                <a:cs typeface="Calibri" pitchFamily="34" charset="-120"/>
              </a:rPr>
              <a:t>Gemini</a:t>
            </a:r>
            <a:endParaRPr lang="en-US" sz="1100" dirty="0"/>
          </a:p>
        </p:txBody>
      </p:sp>
      <p:sp>
        <p:nvSpPr>
          <p:cNvPr id="13" name="Shape 11"/>
          <p:cNvSpPr/>
          <p:nvPr/>
        </p:nvSpPr>
        <p:spPr>
          <a:xfrm>
            <a:off x="640080" y="4160520"/>
            <a:ext cx="5212080" cy="1783080"/>
          </a:xfrm>
          <a:prstGeom prst="roundRect">
            <a:avLst>
              <a:gd name="adj" fmla="val 4103"/>
            </a:avLst>
          </a:prstGeom>
          <a:solidFill>
            <a:srgbClr val="1E2761"/>
          </a:solidFill>
          <a:ln/>
        </p:spPr>
        <p:txBody>
          <a:bodyPr/>
          <a:lstStyle/>
          <a:p>
            <a:endParaRPr lang="en-US"/>
          </a:p>
        </p:txBody>
      </p:sp>
      <p:sp>
        <p:nvSpPr>
          <p:cNvPr id="14" name="Shape 12"/>
          <p:cNvSpPr/>
          <p:nvPr/>
        </p:nvSpPr>
        <p:spPr>
          <a:xfrm>
            <a:off x="868680" y="4389120"/>
            <a:ext cx="457200" cy="457200"/>
          </a:xfrm>
          <a:prstGeom prst="ellipse">
            <a:avLst/>
          </a:prstGeom>
          <a:solidFill>
            <a:srgbClr val="C89B3C"/>
          </a:solidFill>
          <a:ln/>
        </p:spPr>
        <p:txBody>
          <a:bodyPr/>
          <a:lstStyle/>
          <a:p>
            <a:endParaRPr lang="en-US"/>
          </a:p>
        </p:txBody>
      </p:sp>
      <p:pic>
        <p:nvPicPr>
          <p:cNvPr id="15" name="Image 0" descr="/home/claude/capstone/icons/warning_navy.png"/>
          <p:cNvPicPr>
            <a:picLocks noChangeAspect="1"/>
          </p:cNvPicPr>
          <p:nvPr/>
        </p:nvPicPr>
        <p:blipFill>
          <a:blip r:embed="rId3"/>
          <a:stretch>
            <a:fillRect/>
          </a:stretch>
        </p:blipFill>
        <p:spPr>
          <a:xfrm>
            <a:off x="971550" y="4491990"/>
            <a:ext cx="251460" cy="251460"/>
          </a:xfrm>
          <a:prstGeom prst="rect">
            <a:avLst/>
          </a:prstGeom>
        </p:spPr>
      </p:pic>
      <p:sp>
        <p:nvSpPr>
          <p:cNvPr id="16" name="Text 13"/>
          <p:cNvSpPr/>
          <p:nvPr/>
        </p:nvSpPr>
        <p:spPr>
          <a:xfrm>
            <a:off x="1463040" y="4389120"/>
            <a:ext cx="4206240" cy="365760"/>
          </a:xfrm>
          <a:prstGeom prst="rect">
            <a:avLst/>
          </a:prstGeom>
          <a:noFill/>
          <a:ln/>
        </p:spPr>
        <p:txBody>
          <a:bodyPr wrap="square" rtlCol="0" anchor="ctr"/>
          <a:lstStyle/>
          <a:p>
            <a:pPr marL="0" indent="0">
              <a:buNone/>
            </a:pPr>
            <a:r>
              <a:rPr lang="en-US" sz="1250" b="1" dirty="0">
                <a:solidFill>
                  <a:srgbClr val="FFFFFF"/>
                </a:solidFill>
                <a:latin typeface="Calibri" pitchFamily="34" charset="0"/>
                <a:ea typeface="Calibri" pitchFamily="34" charset="-122"/>
                <a:cs typeface="Calibri" pitchFamily="34" charset="-120"/>
              </a:rPr>
              <a:t>Despite their fluency, LLMs still generate:</a:t>
            </a:r>
            <a:endParaRPr lang="en-US" sz="1250" dirty="0"/>
          </a:p>
        </p:txBody>
      </p:sp>
      <p:sp>
        <p:nvSpPr>
          <p:cNvPr id="17" name="Text 14"/>
          <p:cNvSpPr/>
          <p:nvPr/>
        </p:nvSpPr>
        <p:spPr>
          <a:xfrm>
            <a:off x="914400" y="4800600"/>
            <a:ext cx="4663440" cy="1097280"/>
          </a:xfrm>
          <a:prstGeom prst="rect">
            <a:avLst/>
          </a:prstGeom>
          <a:noFill/>
          <a:ln/>
        </p:spPr>
        <p:txBody>
          <a:bodyPr wrap="square" rtlCol="0" anchor="t"/>
          <a:lstStyle/>
          <a:p>
            <a:pPr marL="342900" indent="-342900">
              <a:lnSpc>
                <a:spcPts val="1800"/>
              </a:lnSpc>
              <a:spcAft>
                <a:spcPts val="600"/>
              </a:spcAft>
              <a:buSzPct val="100000"/>
              <a:buChar char="•"/>
            </a:pPr>
            <a:r>
              <a:rPr lang="en-US" sz="1150" dirty="0">
                <a:solidFill>
                  <a:srgbClr val="CADCFC"/>
                </a:solidFill>
                <a:latin typeface="Calibri" pitchFamily="34" charset="0"/>
                <a:ea typeface="Calibri" pitchFamily="34" charset="-122"/>
                <a:cs typeface="Calibri" pitchFamily="34" charset="-120"/>
              </a:rPr>
              <a:t>Hallucinations — confident but false statements</a:t>
            </a:r>
            <a:endParaRPr lang="en-US" sz="1150" dirty="0"/>
          </a:p>
          <a:p>
            <a:pPr marL="342900" indent="-342900">
              <a:lnSpc>
                <a:spcPts val="1800"/>
              </a:lnSpc>
              <a:spcAft>
                <a:spcPts val="600"/>
              </a:spcAft>
              <a:buSzPct val="100000"/>
              <a:buChar char="•"/>
            </a:pPr>
            <a:r>
              <a:rPr lang="en-US" sz="1150" dirty="0">
                <a:solidFill>
                  <a:srgbClr val="CADCFC"/>
                </a:solidFill>
                <a:latin typeface="Calibri" pitchFamily="34" charset="0"/>
                <a:ea typeface="Calibri" pitchFamily="34" charset="-122"/>
                <a:cs typeface="Calibri" pitchFamily="34" charset="-120"/>
              </a:rPr>
              <a:t>Outdated information beyond training cut-off</a:t>
            </a:r>
            <a:endParaRPr lang="en-US" sz="1150" dirty="0"/>
          </a:p>
          <a:p>
            <a:pPr marL="342900" indent="-342900">
              <a:lnSpc>
                <a:spcPts val="1800"/>
              </a:lnSpc>
              <a:spcAft>
                <a:spcPts val="600"/>
              </a:spcAft>
              <a:buSzPct val="100000"/>
              <a:buChar char="•"/>
            </a:pPr>
            <a:r>
              <a:rPr lang="en-US" sz="1150" dirty="0">
                <a:solidFill>
                  <a:srgbClr val="CADCFC"/>
                </a:solidFill>
                <a:latin typeface="Calibri" pitchFamily="34" charset="0"/>
                <a:ea typeface="Calibri" pitchFamily="34" charset="-122"/>
                <a:cs typeface="Calibri" pitchFamily="34" charset="-120"/>
              </a:rPr>
              <a:t>Unsupported claims with no traceable evidence</a:t>
            </a:r>
            <a:endParaRPr lang="en-US" sz="1150" dirty="0"/>
          </a:p>
        </p:txBody>
      </p:sp>
      <p:sp>
        <p:nvSpPr>
          <p:cNvPr id="18" name="Text 15"/>
          <p:cNvSpPr/>
          <p:nvPr/>
        </p:nvSpPr>
        <p:spPr>
          <a:xfrm>
            <a:off x="6400800" y="1371600"/>
            <a:ext cx="5120640" cy="274320"/>
          </a:xfrm>
          <a:prstGeom prst="rect">
            <a:avLst/>
          </a:prstGeom>
          <a:noFill/>
          <a:ln/>
        </p:spPr>
        <p:txBody>
          <a:bodyPr wrap="square" rtlCol="0" anchor="ctr"/>
          <a:lstStyle/>
          <a:p>
            <a:pPr marL="0" indent="0">
              <a:buNone/>
            </a:pPr>
            <a:r>
              <a:rPr lang="en-US" sz="1200" b="1" dirty="0">
                <a:solidFill>
                  <a:srgbClr val="5A6B87"/>
                </a:solidFill>
                <a:latin typeface="Calibri" pitchFamily="34" charset="0"/>
                <a:ea typeface="Calibri" pitchFamily="34" charset="-122"/>
                <a:cs typeface="Calibri" pitchFamily="34" charset="-120"/>
              </a:rPr>
              <a:t>A Simple Illustration</a:t>
            </a:r>
            <a:endParaRPr lang="en-US" sz="1200" dirty="0"/>
          </a:p>
        </p:txBody>
      </p:sp>
      <p:sp>
        <p:nvSpPr>
          <p:cNvPr id="19" name="Shape 16"/>
          <p:cNvSpPr/>
          <p:nvPr/>
        </p:nvSpPr>
        <p:spPr>
          <a:xfrm>
            <a:off x="7543800" y="1783080"/>
            <a:ext cx="2834640" cy="566928"/>
          </a:xfrm>
          <a:prstGeom prst="roundRect">
            <a:avLst>
              <a:gd name="adj" fmla="val 11290"/>
            </a:avLst>
          </a:prstGeom>
          <a:solidFill>
            <a:srgbClr val="1E2761"/>
          </a:solidFill>
          <a:ln/>
          <a:effectLst>
            <a:outerShdw blurRad="76200" dist="25400" dir="5400000" algn="bl" rotWithShape="0">
              <a:srgbClr val="1E2761">
                <a:alpha val="15000"/>
              </a:srgbClr>
            </a:outerShdw>
          </a:effectLst>
        </p:spPr>
        <p:txBody>
          <a:bodyPr/>
          <a:lstStyle/>
          <a:p>
            <a:endParaRPr lang="en-US"/>
          </a:p>
        </p:txBody>
      </p:sp>
      <p:sp>
        <p:nvSpPr>
          <p:cNvPr id="20" name="Text 17"/>
          <p:cNvSpPr/>
          <p:nvPr/>
        </p:nvSpPr>
        <p:spPr>
          <a:xfrm>
            <a:off x="7589520" y="1783080"/>
            <a:ext cx="2743200" cy="566928"/>
          </a:xfrm>
          <a:prstGeom prst="rect">
            <a:avLst/>
          </a:prstGeom>
          <a:noFill/>
          <a:ln/>
        </p:spPr>
        <p:txBody>
          <a:bodyPr wrap="square" rtlCol="0" anchor="ctr">
            <a:spAutoFit/>
          </a:bodyPr>
          <a:lstStyle/>
          <a:p>
            <a:pPr marL="0" indent="0" algn="ctr">
              <a:buNone/>
            </a:pPr>
            <a:r>
              <a:rPr lang="en-US" sz="1100" b="1" dirty="0">
                <a:solidFill>
                  <a:srgbClr val="FFFFFF"/>
                </a:solidFill>
                <a:latin typeface="Calibri" pitchFamily="34" charset="0"/>
                <a:ea typeface="Calibri" pitchFamily="34" charset="-122"/>
                <a:cs typeface="Calibri" pitchFamily="34" charset="-120"/>
              </a:rPr>
              <a:t>User Question</a:t>
            </a:r>
            <a:endParaRPr lang="en-US" sz="1100" dirty="0"/>
          </a:p>
        </p:txBody>
      </p:sp>
      <p:sp>
        <p:nvSpPr>
          <p:cNvPr id="21" name="Shape 18"/>
          <p:cNvSpPr/>
          <p:nvPr/>
        </p:nvSpPr>
        <p:spPr>
          <a:xfrm>
            <a:off x="8961120" y="2377440"/>
            <a:ext cx="0" cy="384048"/>
          </a:xfrm>
          <a:prstGeom prst="line">
            <a:avLst/>
          </a:prstGeom>
          <a:noFill/>
          <a:ln w="22225">
            <a:solidFill>
              <a:srgbClr val="5A6B87"/>
            </a:solidFill>
            <a:prstDash val="solid"/>
            <a:headEnd type="none"/>
            <a:tailEnd type="triangle"/>
          </a:ln>
        </p:spPr>
        <p:txBody>
          <a:bodyPr/>
          <a:lstStyle/>
          <a:p>
            <a:endParaRPr lang="en-US"/>
          </a:p>
        </p:txBody>
      </p:sp>
      <p:sp>
        <p:nvSpPr>
          <p:cNvPr id="22" name="Shape 19"/>
          <p:cNvSpPr/>
          <p:nvPr/>
        </p:nvSpPr>
        <p:spPr>
          <a:xfrm>
            <a:off x="7543800" y="2788920"/>
            <a:ext cx="2834640" cy="566928"/>
          </a:xfrm>
          <a:prstGeom prst="roundRect">
            <a:avLst>
              <a:gd name="adj" fmla="val 11290"/>
            </a:avLst>
          </a:prstGeom>
          <a:solidFill>
            <a:srgbClr val="5A6B87"/>
          </a:solidFill>
          <a:ln/>
          <a:effectLst>
            <a:outerShdw blurRad="76200" dist="25400" dir="5400000" algn="bl" rotWithShape="0">
              <a:srgbClr val="1E2761">
                <a:alpha val="15000"/>
              </a:srgbClr>
            </a:outerShdw>
          </a:effectLst>
        </p:spPr>
        <p:txBody>
          <a:bodyPr/>
          <a:lstStyle/>
          <a:p>
            <a:endParaRPr lang="en-US"/>
          </a:p>
        </p:txBody>
      </p:sp>
      <p:sp>
        <p:nvSpPr>
          <p:cNvPr id="23" name="Text 20"/>
          <p:cNvSpPr/>
          <p:nvPr/>
        </p:nvSpPr>
        <p:spPr>
          <a:xfrm>
            <a:off x="7589520" y="2788920"/>
            <a:ext cx="2743200" cy="566928"/>
          </a:xfrm>
          <a:prstGeom prst="rect">
            <a:avLst/>
          </a:prstGeom>
          <a:noFill/>
          <a:ln/>
        </p:spPr>
        <p:txBody>
          <a:bodyPr wrap="square" rtlCol="0" anchor="ctr">
            <a:spAutoFit/>
          </a:bodyPr>
          <a:lstStyle/>
          <a:p>
            <a:pPr marL="0" indent="0" algn="ctr">
              <a:buNone/>
            </a:pPr>
            <a:r>
              <a:rPr lang="en-US" sz="1050" b="1" dirty="0">
                <a:solidFill>
                  <a:srgbClr val="FFFFFF"/>
                </a:solidFill>
                <a:latin typeface="Calibri" pitchFamily="34" charset="0"/>
                <a:ea typeface="Calibri" pitchFamily="34" charset="-122"/>
                <a:cs typeface="Calibri" pitchFamily="34" charset="-120"/>
              </a:rPr>
              <a:t>LLM (No External Evidence)</a:t>
            </a:r>
            <a:endParaRPr lang="en-US" sz="1050" dirty="0"/>
          </a:p>
        </p:txBody>
      </p:sp>
      <p:sp>
        <p:nvSpPr>
          <p:cNvPr id="24" name="Shape 21"/>
          <p:cNvSpPr/>
          <p:nvPr/>
        </p:nvSpPr>
        <p:spPr>
          <a:xfrm>
            <a:off x="8961120" y="3383280"/>
            <a:ext cx="0" cy="384048"/>
          </a:xfrm>
          <a:prstGeom prst="line">
            <a:avLst/>
          </a:prstGeom>
          <a:noFill/>
          <a:ln w="22225">
            <a:solidFill>
              <a:srgbClr val="5A6B87"/>
            </a:solidFill>
            <a:prstDash val="solid"/>
            <a:headEnd type="none"/>
            <a:tailEnd type="triangle"/>
          </a:ln>
        </p:spPr>
        <p:txBody>
          <a:bodyPr/>
          <a:lstStyle/>
          <a:p>
            <a:endParaRPr lang="en-US"/>
          </a:p>
        </p:txBody>
      </p:sp>
      <p:sp>
        <p:nvSpPr>
          <p:cNvPr id="25" name="Shape 22"/>
          <p:cNvSpPr/>
          <p:nvPr/>
        </p:nvSpPr>
        <p:spPr>
          <a:xfrm>
            <a:off x="7543800" y="3794760"/>
            <a:ext cx="2834640" cy="566928"/>
          </a:xfrm>
          <a:prstGeom prst="roundRect">
            <a:avLst>
              <a:gd name="adj" fmla="val 11290"/>
            </a:avLst>
          </a:prstGeom>
          <a:solidFill>
            <a:srgbClr val="1E2761"/>
          </a:solidFill>
          <a:ln/>
          <a:effectLst>
            <a:outerShdw blurRad="76200" dist="25400" dir="5400000" algn="bl" rotWithShape="0">
              <a:srgbClr val="1E2761">
                <a:alpha val="15000"/>
              </a:srgbClr>
            </a:outerShdw>
          </a:effectLst>
        </p:spPr>
        <p:txBody>
          <a:bodyPr/>
          <a:lstStyle/>
          <a:p>
            <a:endParaRPr lang="en-US"/>
          </a:p>
        </p:txBody>
      </p:sp>
      <p:sp>
        <p:nvSpPr>
          <p:cNvPr id="26" name="Text 23"/>
          <p:cNvSpPr/>
          <p:nvPr/>
        </p:nvSpPr>
        <p:spPr>
          <a:xfrm>
            <a:off x="7589520" y="3794760"/>
            <a:ext cx="2743200" cy="566928"/>
          </a:xfrm>
          <a:prstGeom prst="rect">
            <a:avLst/>
          </a:prstGeom>
          <a:noFill/>
          <a:ln/>
        </p:spPr>
        <p:txBody>
          <a:bodyPr wrap="square" rtlCol="0" anchor="ctr">
            <a:spAutoFit/>
          </a:bodyPr>
          <a:lstStyle/>
          <a:p>
            <a:pPr marL="0" indent="0" algn="ctr">
              <a:buNone/>
            </a:pPr>
            <a:r>
              <a:rPr lang="en-US" sz="1100" b="1" dirty="0">
                <a:solidFill>
                  <a:srgbClr val="FFFFFF"/>
                </a:solidFill>
                <a:latin typeface="Calibri" pitchFamily="34" charset="0"/>
                <a:ea typeface="Calibri" pitchFamily="34" charset="-122"/>
                <a:cs typeface="Calibri" pitchFamily="34" charset="-120"/>
              </a:rPr>
              <a:t>Generated Answer</a:t>
            </a:r>
            <a:endParaRPr lang="en-US" sz="1100" dirty="0"/>
          </a:p>
        </p:txBody>
      </p:sp>
      <p:sp>
        <p:nvSpPr>
          <p:cNvPr id="27" name="Shape 24"/>
          <p:cNvSpPr/>
          <p:nvPr/>
        </p:nvSpPr>
        <p:spPr>
          <a:xfrm>
            <a:off x="8961120" y="4389120"/>
            <a:ext cx="0" cy="384048"/>
          </a:xfrm>
          <a:prstGeom prst="line">
            <a:avLst/>
          </a:prstGeom>
          <a:noFill/>
          <a:ln w="22225">
            <a:solidFill>
              <a:srgbClr val="B23A3A"/>
            </a:solidFill>
            <a:prstDash val="dash"/>
            <a:headEnd type="none"/>
            <a:tailEnd type="triangle"/>
          </a:ln>
        </p:spPr>
        <p:txBody>
          <a:bodyPr/>
          <a:lstStyle/>
          <a:p>
            <a:endParaRPr lang="en-US"/>
          </a:p>
        </p:txBody>
      </p:sp>
      <p:sp>
        <p:nvSpPr>
          <p:cNvPr id="28" name="Shape 25"/>
          <p:cNvSpPr/>
          <p:nvPr/>
        </p:nvSpPr>
        <p:spPr>
          <a:xfrm>
            <a:off x="7406640" y="4828032"/>
            <a:ext cx="3108960" cy="777240"/>
          </a:xfrm>
          <a:prstGeom prst="roundRect">
            <a:avLst>
              <a:gd name="adj" fmla="val 9412"/>
            </a:avLst>
          </a:prstGeom>
          <a:solidFill>
            <a:srgbClr val="E8EFFC"/>
          </a:solidFill>
          <a:ln/>
        </p:spPr>
        <p:txBody>
          <a:bodyPr/>
          <a:lstStyle/>
          <a:p>
            <a:endParaRPr lang="en-US"/>
          </a:p>
        </p:txBody>
      </p:sp>
      <p:sp>
        <p:nvSpPr>
          <p:cNvPr id="29" name="Shape 26"/>
          <p:cNvSpPr/>
          <p:nvPr/>
        </p:nvSpPr>
        <p:spPr>
          <a:xfrm>
            <a:off x="7525512" y="4956048"/>
            <a:ext cx="384048" cy="384048"/>
          </a:xfrm>
          <a:prstGeom prst="ellipse">
            <a:avLst/>
          </a:prstGeom>
          <a:solidFill>
            <a:srgbClr val="B23A3A"/>
          </a:solidFill>
          <a:ln/>
        </p:spPr>
        <p:txBody>
          <a:bodyPr/>
          <a:lstStyle/>
          <a:p>
            <a:endParaRPr lang="en-US"/>
          </a:p>
        </p:txBody>
      </p:sp>
      <p:pic>
        <p:nvPicPr>
          <p:cNvPr id="30" name="Image 1" descr="/home/claude/capstone/icons/warning_white.png"/>
          <p:cNvPicPr>
            <a:picLocks noChangeAspect="1"/>
          </p:cNvPicPr>
          <p:nvPr/>
        </p:nvPicPr>
        <p:blipFill>
          <a:blip r:embed="rId4"/>
          <a:stretch>
            <a:fillRect/>
          </a:stretch>
        </p:blipFill>
        <p:spPr>
          <a:xfrm>
            <a:off x="7611923" y="5042459"/>
            <a:ext cx="211226" cy="211226"/>
          </a:xfrm>
          <a:prstGeom prst="rect">
            <a:avLst/>
          </a:prstGeom>
        </p:spPr>
      </p:pic>
      <p:sp>
        <p:nvSpPr>
          <p:cNvPr id="31" name="Text 27"/>
          <p:cNvSpPr/>
          <p:nvPr/>
        </p:nvSpPr>
        <p:spPr>
          <a:xfrm>
            <a:off x="8001000" y="4828032"/>
            <a:ext cx="2423160" cy="777240"/>
          </a:xfrm>
          <a:prstGeom prst="rect">
            <a:avLst/>
          </a:prstGeom>
          <a:noFill/>
          <a:ln/>
        </p:spPr>
        <p:txBody>
          <a:bodyPr wrap="square" rtlCol="0" anchor="ctr"/>
          <a:lstStyle/>
          <a:p>
            <a:pPr marL="0" indent="0">
              <a:buNone/>
            </a:pPr>
            <a:r>
              <a:rPr lang="en-US" sz="1100" b="1" dirty="0">
                <a:solidFill>
                  <a:srgbClr val="B23A3A"/>
                </a:solidFill>
                <a:latin typeface="Calibri" pitchFamily="34" charset="0"/>
                <a:ea typeface="Calibri" pitchFamily="34" charset="-122"/>
                <a:cs typeface="Calibri" pitchFamily="34" charset="-120"/>
              </a:rPr>
              <a:t>No evidence trail — risk of hallucination</a:t>
            </a:r>
            <a:endParaRPr lang="en-US" sz="1100" dirty="0"/>
          </a:p>
        </p:txBody>
      </p:sp>
      <p:sp>
        <p:nvSpPr>
          <p:cNvPr id="32" name="Text 28"/>
          <p:cNvSpPr/>
          <p:nvPr/>
        </p:nvSpPr>
        <p:spPr>
          <a:xfrm>
            <a:off x="11475720" y="6473952"/>
            <a:ext cx="548640" cy="274320"/>
          </a:xfrm>
          <a:prstGeom prst="rect">
            <a:avLst/>
          </a:prstGeom>
          <a:noFill/>
          <a:ln/>
        </p:spPr>
        <p:txBody>
          <a:bodyPr wrap="square" rtlCol="0" anchor="ctr"/>
          <a:lstStyle/>
          <a:p>
            <a:pPr marL="0" indent="0" algn="r">
              <a:buNone/>
            </a:pPr>
            <a:endParaRPr lang="en-US" sz="1000" dirty="0"/>
          </a:p>
        </p:txBody>
      </p:sp>
      <p:sp>
        <p:nvSpPr>
          <p:cNvPr id="33" name="Text 29"/>
          <p:cNvSpPr/>
          <p:nvPr/>
        </p:nvSpPr>
        <p:spPr>
          <a:xfrm>
            <a:off x="457200" y="6473952"/>
            <a:ext cx="7315200" cy="274320"/>
          </a:xfrm>
          <a:prstGeom prst="rect">
            <a:avLst/>
          </a:prstGeom>
          <a:noFill/>
          <a:ln/>
        </p:spPr>
        <p:txBody>
          <a:bodyPr wrap="square" rtlCol="0" anchor="ctr"/>
          <a:lstStyle/>
          <a:p>
            <a:pPr marL="0" indent="0" algn="l">
              <a:buNone/>
            </a:pPr>
            <a:r>
              <a:rPr lang="en-US" sz="850" kern="0" spc="100" dirty="0">
                <a:solidFill>
                  <a:srgbClr val="A8B3C7"/>
                </a:solidFill>
                <a:latin typeface="Calibri" pitchFamily="34" charset="0"/>
                <a:ea typeface="Calibri" pitchFamily="34" charset="-122"/>
                <a:cs typeface="Calibri" pitchFamily="34" charset="-120"/>
              </a:rPr>
              <a:t>EVIDENCE-BASED FACT VERIFICATION · </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48640" y="384048"/>
            <a:ext cx="11064240" cy="685800"/>
          </a:xfrm>
          <a:prstGeom prst="rect">
            <a:avLst/>
          </a:prstGeom>
          <a:noFill/>
          <a:ln/>
        </p:spPr>
        <p:txBody>
          <a:bodyPr wrap="square" rtlCol="0" anchor="ctr"/>
          <a:lstStyle/>
          <a:p>
            <a:pPr marL="0" indent="0" algn="l">
              <a:buNone/>
            </a:pPr>
            <a:r>
              <a:rPr lang="en-US" sz="2700" b="1" dirty="0">
                <a:solidFill>
                  <a:srgbClr val="1E2761"/>
                </a:solidFill>
                <a:latin typeface="Cambria" pitchFamily="34" charset="0"/>
                <a:ea typeface="Cambria" pitchFamily="34" charset="-122"/>
                <a:cs typeface="Cambria" pitchFamily="34" charset="-120"/>
              </a:rPr>
              <a:t>What is Retrieval-Augmented Generation (RAG)?</a:t>
            </a:r>
            <a:endParaRPr lang="en-US" sz="2700" dirty="0"/>
          </a:p>
        </p:txBody>
      </p:sp>
      <p:sp>
        <p:nvSpPr>
          <p:cNvPr id="3" name="Text 1"/>
          <p:cNvSpPr/>
          <p:nvPr/>
        </p:nvSpPr>
        <p:spPr>
          <a:xfrm>
            <a:off x="548640" y="91440"/>
            <a:ext cx="9144000" cy="274320"/>
          </a:xfrm>
          <a:prstGeom prst="rect">
            <a:avLst/>
          </a:prstGeom>
          <a:noFill/>
          <a:ln/>
        </p:spPr>
        <p:txBody>
          <a:bodyPr wrap="square" rtlCol="0" anchor="ctr"/>
          <a:lstStyle/>
          <a:p>
            <a:pPr marL="0" indent="0" algn="l">
              <a:buNone/>
            </a:pPr>
            <a:r>
              <a:rPr lang="en-US" sz="1100" b="1" kern="0" spc="200" dirty="0">
                <a:solidFill>
                  <a:srgbClr val="C89B3C"/>
                </a:solidFill>
                <a:latin typeface="Calibri" pitchFamily="34" charset="0"/>
                <a:ea typeface="Calibri" pitchFamily="34" charset="-122"/>
                <a:cs typeface="Calibri" pitchFamily="34" charset="-120"/>
              </a:rPr>
              <a:t>GROUNDING LLMS IN EXTERNAL KNOWLEDGE</a:t>
            </a:r>
            <a:endParaRPr lang="en-US" sz="1100" dirty="0"/>
          </a:p>
        </p:txBody>
      </p:sp>
      <p:sp>
        <p:nvSpPr>
          <p:cNvPr id="4" name="Shape 2"/>
          <p:cNvSpPr/>
          <p:nvPr/>
        </p:nvSpPr>
        <p:spPr>
          <a:xfrm>
            <a:off x="845820" y="2331720"/>
            <a:ext cx="1627632" cy="914400"/>
          </a:xfrm>
          <a:prstGeom prst="roundRect">
            <a:avLst>
              <a:gd name="adj" fmla="val 8000"/>
            </a:avLst>
          </a:prstGeom>
          <a:solidFill>
            <a:srgbClr val="FFFFFF"/>
          </a:solidFill>
          <a:ln w="12700">
            <a:solidFill>
              <a:srgbClr val="CADCFC"/>
            </a:solidFill>
            <a:prstDash val="solid"/>
          </a:ln>
          <a:effectLst>
            <a:outerShdw blurRad="101600" dist="25400" dir="5400000" algn="bl" rotWithShape="0">
              <a:srgbClr val="1E2761">
                <a:alpha val="12000"/>
              </a:srgbClr>
            </a:outerShdw>
          </a:effectLst>
        </p:spPr>
        <p:txBody>
          <a:bodyPr/>
          <a:lstStyle/>
          <a:p>
            <a:endParaRPr lang="en-US"/>
          </a:p>
        </p:txBody>
      </p:sp>
      <p:sp>
        <p:nvSpPr>
          <p:cNvPr id="5" name="Shape 3"/>
          <p:cNvSpPr/>
          <p:nvPr/>
        </p:nvSpPr>
        <p:spPr>
          <a:xfrm>
            <a:off x="1421892" y="2423160"/>
            <a:ext cx="475488" cy="475488"/>
          </a:xfrm>
          <a:prstGeom prst="ellipse">
            <a:avLst/>
          </a:prstGeom>
          <a:solidFill>
            <a:srgbClr val="E8EFFC"/>
          </a:solidFill>
          <a:ln/>
        </p:spPr>
        <p:txBody>
          <a:bodyPr/>
          <a:lstStyle/>
          <a:p>
            <a:endParaRPr lang="en-US"/>
          </a:p>
        </p:txBody>
      </p:sp>
      <p:pic>
        <p:nvPicPr>
          <p:cNvPr id="6" name="Image 0" descr="/home/claude/capstone/icons/questionCircle_navy.png"/>
          <p:cNvPicPr>
            <a:picLocks noChangeAspect="1"/>
          </p:cNvPicPr>
          <p:nvPr/>
        </p:nvPicPr>
        <p:blipFill>
          <a:blip r:embed="rId3"/>
          <a:stretch>
            <a:fillRect/>
          </a:stretch>
        </p:blipFill>
        <p:spPr>
          <a:xfrm>
            <a:off x="1528877" y="2530145"/>
            <a:ext cx="261518" cy="261518"/>
          </a:xfrm>
          <a:prstGeom prst="rect">
            <a:avLst/>
          </a:prstGeom>
        </p:spPr>
      </p:pic>
      <p:sp>
        <p:nvSpPr>
          <p:cNvPr id="7" name="Text 4"/>
          <p:cNvSpPr/>
          <p:nvPr/>
        </p:nvSpPr>
        <p:spPr>
          <a:xfrm>
            <a:off x="891540" y="2935224"/>
            <a:ext cx="1536192" cy="292608"/>
          </a:xfrm>
          <a:prstGeom prst="rect">
            <a:avLst/>
          </a:prstGeom>
          <a:noFill/>
          <a:ln/>
        </p:spPr>
        <p:txBody>
          <a:bodyPr wrap="square" rtlCol="0" anchor="ctr"/>
          <a:lstStyle/>
          <a:p>
            <a:pPr marL="0" indent="0" algn="ctr">
              <a:buNone/>
            </a:pPr>
            <a:r>
              <a:rPr lang="en-US" sz="950" b="1" dirty="0">
                <a:solidFill>
                  <a:srgbClr val="1E2761"/>
                </a:solidFill>
                <a:latin typeface="Calibri" pitchFamily="34" charset="0"/>
                <a:ea typeface="Calibri" pitchFamily="34" charset="-122"/>
                <a:cs typeface="Calibri" pitchFamily="34" charset="-120"/>
              </a:rPr>
              <a:t>User Question</a:t>
            </a:r>
            <a:endParaRPr lang="en-US" sz="950" dirty="0"/>
          </a:p>
        </p:txBody>
      </p:sp>
      <p:sp>
        <p:nvSpPr>
          <p:cNvPr id="8" name="Shape 5"/>
          <p:cNvSpPr/>
          <p:nvPr/>
        </p:nvSpPr>
        <p:spPr>
          <a:xfrm>
            <a:off x="2491740" y="2788920"/>
            <a:ext cx="109728" cy="0"/>
          </a:xfrm>
          <a:prstGeom prst="line">
            <a:avLst/>
          </a:prstGeom>
          <a:noFill/>
          <a:ln w="19050">
            <a:solidFill>
              <a:srgbClr val="5A6B87"/>
            </a:solidFill>
            <a:prstDash val="solid"/>
            <a:headEnd type="none"/>
            <a:tailEnd type="triangle"/>
          </a:ln>
        </p:spPr>
        <p:txBody>
          <a:bodyPr/>
          <a:lstStyle/>
          <a:p>
            <a:endParaRPr lang="en-US"/>
          </a:p>
        </p:txBody>
      </p:sp>
      <p:sp>
        <p:nvSpPr>
          <p:cNvPr id="9" name="Shape 6"/>
          <p:cNvSpPr/>
          <p:nvPr/>
        </p:nvSpPr>
        <p:spPr>
          <a:xfrm>
            <a:off x="2619756" y="2331720"/>
            <a:ext cx="1627632" cy="914400"/>
          </a:xfrm>
          <a:prstGeom prst="roundRect">
            <a:avLst>
              <a:gd name="adj" fmla="val 8000"/>
            </a:avLst>
          </a:prstGeom>
          <a:solidFill>
            <a:srgbClr val="FFFFFF"/>
          </a:solidFill>
          <a:ln w="12700">
            <a:solidFill>
              <a:srgbClr val="CADCFC"/>
            </a:solidFill>
            <a:prstDash val="solid"/>
          </a:ln>
          <a:effectLst>
            <a:outerShdw blurRad="101600" dist="25400" dir="5400000" algn="bl" rotWithShape="0">
              <a:srgbClr val="1E2761">
                <a:alpha val="12000"/>
              </a:srgbClr>
            </a:outerShdw>
          </a:effectLst>
        </p:spPr>
        <p:txBody>
          <a:bodyPr/>
          <a:lstStyle/>
          <a:p>
            <a:endParaRPr lang="en-US"/>
          </a:p>
        </p:txBody>
      </p:sp>
      <p:sp>
        <p:nvSpPr>
          <p:cNvPr id="10" name="Shape 7"/>
          <p:cNvSpPr/>
          <p:nvPr/>
        </p:nvSpPr>
        <p:spPr>
          <a:xfrm>
            <a:off x="3195828" y="2423160"/>
            <a:ext cx="475488" cy="475488"/>
          </a:xfrm>
          <a:prstGeom prst="ellipse">
            <a:avLst/>
          </a:prstGeom>
          <a:solidFill>
            <a:srgbClr val="E8EFFC"/>
          </a:solidFill>
          <a:ln/>
        </p:spPr>
        <p:txBody>
          <a:bodyPr/>
          <a:lstStyle/>
          <a:p>
            <a:endParaRPr lang="en-US"/>
          </a:p>
        </p:txBody>
      </p:sp>
      <p:pic>
        <p:nvPicPr>
          <p:cNvPr id="11" name="Image 1" descr="/home/claude/capstone/icons/search_navy.png"/>
          <p:cNvPicPr>
            <a:picLocks noChangeAspect="1"/>
          </p:cNvPicPr>
          <p:nvPr/>
        </p:nvPicPr>
        <p:blipFill>
          <a:blip r:embed="rId4"/>
          <a:stretch>
            <a:fillRect/>
          </a:stretch>
        </p:blipFill>
        <p:spPr>
          <a:xfrm>
            <a:off x="3302813" y="2530145"/>
            <a:ext cx="261518" cy="261518"/>
          </a:xfrm>
          <a:prstGeom prst="rect">
            <a:avLst/>
          </a:prstGeom>
        </p:spPr>
      </p:pic>
      <p:sp>
        <p:nvSpPr>
          <p:cNvPr id="12" name="Text 8"/>
          <p:cNvSpPr/>
          <p:nvPr/>
        </p:nvSpPr>
        <p:spPr>
          <a:xfrm>
            <a:off x="2665476" y="2935224"/>
            <a:ext cx="1536192" cy="292608"/>
          </a:xfrm>
          <a:prstGeom prst="rect">
            <a:avLst/>
          </a:prstGeom>
          <a:noFill/>
          <a:ln/>
        </p:spPr>
        <p:txBody>
          <a:bodyPr wrap="square" rtlCol="0" anchor="ctr"/>
          <a:lstStyle/>
          <a:p>
            <a:pPr marL="0" indent="0" algn="ctr">
              <a:buNone/>
            </a:pPr>
            <a:r>
              <a:rPr lang="en-US" sz="950" b="1" dirty="0">
                <a:solidFill>
                  <a:srgbClr val="1E2761"/>
                </a:solidFill>
                <a:latin typeface="Calibri" pitchFamily="34" charset="0"/>
                <a:ea typeface="Calibri" pitchFamily="34" charset="-122"/>
                <a:cs typeface="Calibri" pitchFamily="34" charset="-120"/>
              </a:rPr>
              <a:t>Retriever</a:t>
            </a:r>
            <a:endParaRPr lang="en-US" sz="950" dirty="0"/>
          </a:p>
        </p:txBody>
      </p:sp>
      <p:sp>
        <p:nvSpPr>
          <p:cNvPr id="13" name="Shape 9"/>
          <p:cNvSpPr/>
          <p:nvPr/>
        </p:nvSpPr>
        <p:spPr>
          <a:xfrm>
            <a:off x="4265676" y="2788920"/>
            <a:ext cx="109728" cy="0"/>
          </a:xfrm>
          <a:prstGeom prst="line">
            <a:avLst/>
          </a:prstGeom>
          <a:noFill/>
          <a:ln w="19050">
            <a:solidFill>
              <a:srgbClr val="5A6B87"/>
            </a:solidFill>
            <a:prstDash val="solid"/>
            <a:headEnd type="none"/>
            <a:tailEnd type="triangle"/>
          </a:ln>
        </p:spPr>
        <p:txBody>
          <a:bodyPr/>
          <a:lstStyle/>
          <a:p>
            <a:endParaRPr lang="en-US"/>
          </a:p>
        </p:txBody>
      </p:sp>
      <p:sp>
        <p:nvSpPr>
          <p:cNvPr id="14" name="Shape 10"/>
          <p:cNvSpPr/>
          <p:nvPr/>
        </p:nvSpPr>
        <p:spPr>
          <a:xfrm>
            <a:off x="4393692" y="2331720"/>
            <a:ext cx="1627632" cy="914400"/>
          </a:xfrm>
          <a:prstGeom prst="roundRect">
            <a:avLst>
              <a:gd name="adj" fmla="val 8000"/>
            </a:avLst>
          </a:prstGeom>
          <a:solidFill>
            <a:srgbClr val="FFFFFF"/>
          </a:solidFill>
          <a:ln w="12700">
            <a:solidFill>
              <a:srgbClr val="CADCFC"/>
            </a:solidFill>
            <a:prstDash val="solid"/>
          </a:ln>
          <a:effectLst>
            <a:outerShdw blurRad="101600" dist="25400" dir="5400000" algn="bl" rotWithShape="0">
              <a:srgbClr val="1E2761">
                <a:alpha val="12000"/>
              </a:srgbClr>
            </a:outerShdw>
          </a:effectLst>
        </p:spPr>
        <p:txBody>
          <a:bodyPr/>
          <a:lstStyle/>
          <a:p>
            <a:endParaRPr lang="en-US"/>
          </a:p>
        </p:txBody>
      </p:sp>
      <p:sp>
        <p:nvSpPr>
          <p:cNvPr id="15" name="Shape 11"/>
          <p:cNvSpPr/>
          <p:nvPr/>
        </p:nvSpPr>
        <p:spPr>
          <a:xfrm>
            <a:off x="4969764" y="2423160"/>
            <a:ext cx="475488" cy="475488"/>
          </a:xfrm>
          <a:prstGeom prst="ellipse">
            <a:avLst/>
          </a:prstGeom>
          <a:solidFill>
            <a:srgbClr val="E8EFFC"/>
          </a:solidFill>
          <a:ln/>
        </p:spPr>
        <p:txBody>
          <a:bodyPr/>
          <a:lstStyle/>
          <a:p>
            <a:endParaRPr lang="en-US"/>
          </a:p>
        </p:txBody>
      </p:sp>
      <p:pic>
        <p:nvPicPr>
          <p:cNvPr id="16" name="Image 2" descr="/home/claude/capstone/icons/database_navy.png"/>
          <p:cNvPicPr>
            <a:picLocks noChangeAspect="1"/>
          </p:cNvPicPr>
          <p:nvPr/>
        </p:nvPicPr>
        <p:blipFill>
          <a:blip r:embed="rId5"/>
          <a:stretch>
            <a:fillRect/>
          </a:stretch>
        </p:blipFill>
        <p:spPr>
          <a:xfrm>
            <a:off x="5076749" y="2530145"/>
            <a:ext cx="261518" cy="261518"/>
          </a:xfrm>
          <a:prstGeom prst="rect">
            <a:avLst/>
          </a:prstGeom>
        </p:spPr>
      </p:pic>
      <p:sp>
        <p:nvSpPr>
          <p:cNvPr id="17" name="Text 12"/>
          <p:cNvSpPr/>
          <p:nvPr/>
        </p:nvSpPr>
        <p:spPr>
          <a:xfrm>
            <a:off x="4439412" y="2935224"/>
            <a:ext cx="1536192" cy="292608"/>
          </a:xfrm>
          <a:prstGeom prst="rect">
            <a:avLst/>
          </a:prstGeom>
          <a:noFill/>
          <a:ln/>
        </p:spPr>
        <p:txBody>
          <a:bodyPr wrap="square" rtlCol="0" anchor="ctr"/>
          <a:lstStyle/>
          <a:p>
            <a:pPr marL="0" indent="0" algn="ctr">
              <a:buNone/>
            </a:pPr>
            <a:r>
              <a:rPr lang="en-US" sz="950" b="1" dirty="0">
                <a:solidFill>
                  <a:srgbClr val="1E2761"/>
                </a:solidFill>
                <a:latin typeface="Calibri" pitchFamily="34" charset="0"/>
                <a:ea typeface="Calibri" pitchFamily="34" charset="-122"/>
                <a:cs typeface="Calibri" pitchFamily="34" charset="-120"/>
              </a:rPr>
              <a:t>Knowledge Base</a:t>
            </a:r>
            <a:endParaRPr lang="en-US" sz="950" dirty="0"/>
          </a:p>
        </p:txBody>
      </p:sp>
      <p:sp>
        <p:nvSpPr>
          <p:cNvPr id="18" name="Shape 13"/>
          <p:cNvSpPr/>
          <p:nvPr/>
        </p:nvSpPr>
        <p:spPr>
          <a:xfrm>
            <a:off x="6039612" y="2788920"/>
            <a:ext cx="109728" cy="0"/>
          </a:xfrm>
          <a:prstGeom prst="line">
            <a:avLst/>
          </a:prstGeom>
          <a:noFill/>
          <a:ln w="19050">
            <a:solidFill>
              <a:srgbClr val="5A6B87"/>
            </a:solidFill>
            <a:prstDash val="solid"/>
            <a:headEnd type="none"/>
            <a:tailEnd type="triangle"/>
          </a:ln>
        </p:spPr>
        <p:txBody>
          <a:bodyPr/>
          <a:lstStyle/>
          <a:p>
            <a:endParaRPr lang="en-US"/>
          </a:p>
        </p:txBody>
      </p:sp>
      <p:sp>
        <p:nvSpPr>
          <p:cNvPr id="19" name="Shape 14"/>
          <p:cNvSpPr/>
          <p:nvPr/>
        </p:nvSpPr>
        <p:spPr>
          <a:xfrm>
            <a:off x="6167628" y="2331720"/>
            <a:ext cx="1627632" cy="914400"/>
          </a:xfrm>
          <a:prstGeom prst="roundRect">
            <a:avLst>
              <a:gd name="adj" fmla="val 8000"/>
            </a:avLst>
          </a:prstGeom>
          <a:solidFill>
            <a:srgbClr val="FFFFFF"/>
          </a:solidFill>
          <a:ln w="12700">
            <a:solidFill>
              <a:srgbClr val="CADCFC"/>
            </a:solidFill>
            <a:prstDash val="solid"/>
          </a:ln>
          <a:effectLst>
            <a:outerShdw blurRad="101600" dist="25400" dir="5400000" algn="bl" rotWithShape="0">
              <a:srgbClr val="1E2761">
                <a:alpha val="12000"/>
              </a:srgbClr>
            </a:outerShdw>
          </a:effectLst>
        </p:spPr>
        <p:txBody>
          <a:bodyPr/>
          <a:lstStyle/>
          <a:p>
            <a:endParaRPr lang="en-US"/>
          </a:p>
        </p:txBody>
      </p:sp>
      <p:sp>
        <p:nvSpPr>
          <p:cNvPr id="20" name="Shape 15"/>
          <p:cNvSpPr/>
          <p:nvPr/>
        </p:nvSpPr>
        <p:spPr>
          <a:xfrm>
            <a:off x="6743700" y="2423160"/>
            <a:ext cx="475488" cy="475488"/>
          </a:xfrm>
          <a:prstGeom prst="ellipse">
            <a:avLst/>
          </a:prstGeom>
          <a:solidFill>
            <a:srgbClr val="E8EFFC"/>
          </a:solidFill>
          <a:ln/>
        </p:spPr>
        <p:txBody>
          <a:bodyPr/>
          <a:lstStyle/>
          <a:p>
            <a:endParaRPr lang="en-US"/>
          </a:p>
        </p:txBody>
      </p:sp>
      <p:pic>
        <p:nvPicPr>
          <p:cNvPr id="21" name="Image 3" descr="/home/claude/capstone/icons/fileAlt_navy.png"/>
          <p:cNvPicPr>
            <a:picLocks noChangeAspect="1"/>
          </p:cNvPicPr>
          <p:nvPr/>
        </p:nvPicPr>
        <p:blipFill>
          <a:blip r:embed="rId6"/>
          <a:stretch>
            <a:fillRect/>
          </a:stretch>
        </p:blipFill>
        <p:spPr>
          <a:xfrm>
            <a:off x="6850685" y="2530145"/>
            <a:ext cx="261518" cy="261518"/>
          </a:xfrm>
          <a:prstGeom prst="rect">
            <a:avLst/>
          </a:prstGeom>
        </p:spPr>
      </p:pic>
      <p:sp>
        <p:nvSpPr>
          <p:cNvPr id="22" name="Text 16"/>
          <p:cNvSpPr/>
          <p:nvPr/>
        </p:nvSpPr>
        <p:spPr>
          <a:xfrm>
            <a:off x="6213348" y="2935224"/>
            <a:ext cx="1536192" cy="292608"/>
          </a:xfrm>
          <a:prstGeom prst="rect">
            <a:avLst/>
          </a:prstGeom>
          <a:noFill/>
          <a:ln/>
        </p:spPr>
        <p:txBody>
          <a:bodyPr wrap="square" rtlCol="0" anchor="ctr"/>
          <a:lstStyle/>
          <a:p>
            <a:pPr marL="0" indent="0" algn="ctr">
              <a:buNone/>
            </a:pPr>
            <a:r>
              <a:rPr lang="en-US" sz="950" b="1" dirty="0">
                <a:solidFill>
                  <a:srgbClr val="1E2761"/>
                </a:solidFill>
                <a:latin typeface="Calibri" pitchFamily="34" charset="0"/>
                <a:ea typeface="Calibri" pitchFamily="34" charset="-122"/>
                <a:cs typeface="Calibri" pitchFamily="34" charset="-120"/>
              </a:rPr>
              <a:t>Relevant Documents</a:t>
            </a:r>
            <a:endParaRPr lang="en-US" sz="950" dirty="0"/>
          </a:p>
        </p:txBody>
      </p:sp>
      <p:sp>
        <p:nvSpPr>
          <p:cNvPr id="23" name="Shape 17"/>
          <p:cNvSpPr/>
          <p:nvPr/>
        </p:nvSpPr>
        <p:spPr>
          <a:xfrm>
            <a:off x="7813548" y="2788920"/>
            <a:ext cx="109728" cy="0"/>
          </a:xfrm>
          <a:prstGeom prst="line">
            <a:avLst/>
          </a:prstGeom>
          <a:noFill/>
          <a:ln w="19050">
            <a:solidFill>
              <a:srgbClr val="5A6B87"/>
            </a:solidFill>
            <a:prstDash val="solid"/>
            <a:headEnd type="none"/>
            <a:tailEnd type="triangle"/>
          </a:ln>
        </p:spPr>
        <p:txBody>
          <a:bodyPr/>
          <a:lstStyle/>
          <a:p>
            <a:endParaRPr lang="en-US"/>
          </a:p>
        </p:txBody>
      </p:sp>
      <p:sp>
        <p:nvSpPr>
          <p:cNvPr id="24" name="Shape 18"/>
          <p:cNvSpPr/>
          <p:nvPr/>
        </p:nvSpPr>
        <p:spPr>
          <a:xfrm>
            <a:off x="7941564" y="2331720"/>
            <a:ext cx="1627632" cy="914400"/>
          </a:xfrm>
          <a:prstGeom prst="roundRect">
            <a:avLst>
              <a:gd name="adj" fmla="val 8000"/>
            </a:avLst>
          </a:prstGeom>
          <a:solidFill>
            <a:srgbClr val="FFFFFF"/>
          </a:solidFill>
          <a:ln w="12700">
            <a:solidFill>
              <a:srgbClr val="CADCFC"/>
            </a:solidFill>
            <a:prstDash val="solid"/>
          </a:ln>
          <a:effectLst>
            <a:outerShdw blurRad="101600" dist="25400" dir="5400000" algn="bl" rotWithShape="0">
              <a:srgbClr val="1E2761">
                <a:alpha val="12000"/>
              </a:srgbClr>
            </a:outerShdw>
          </a:effectLst>
        </p:spPr>
        <p:txBody>
          <a:bodyPr/>
          <a:lstStyle/>
          <a:p>
            <a:endParaRPr lang="en-US"/>
          </a:p>
        </p:txBody>
      </p:sp>
      <p:sp>
        <p:nvSpPr>
          <p:cNvPr id="25" name="Shape 19"/>
          <p:cNvSpPr/>
          <p:nvPr/>
        </p:nvSpPr>
        <p:spPr>
          <a:xfrm>
            <a:off x="8517636" y="2423160"/>
            <a:ext cx="475488" cy="475488"/>
          </a:xfrm>
          <a:prstGeom prst="ellipse">
            <a:avLst/>
          </a:prstGeom>
          <a:solidFill>
            <a:srgbClr val="E8EFFC"/>
          </a:solidFill>
          <a:ln/>
        </p:spPr>
        <p:txBody>
          <a:bodyPr/>
          <a:lstStyle/>
          <a:p>
            <a:endParaRPr lang="en-US"/>
          </a:p>
        </p:txBody>
      </p:sp>
      <p:pic>
        <p:nvPicPr>
          <p:cNvPr id="26" name="Image 4" descr="/home/claude/capstone/icons/brain_navy.png"/>
          <p:cNvPicPr>
            <a:picLocks noChangeAspect="1"/>
          </p:cNvPicPr>
          <p:nvPr/>
        </p:nvPicPr>
        <p:blipFill>
          <a:blip r:embed="rId7"/>
          <a:stretch>
            <a:fillRect/>
          </a:stretch>
        </p:blipFill>
        <p:spPr>
          <a:xfrm>
            <a:off x="8624621" y="2530145"/>
            <a:ext cx="261518" cy="261518"/>
          </a:xfrm>
          <a:prstGeom prst="rect">
            <a:avLst/>
          </a:prstGeom>
        </p:spPr>
      </p:pic>
      <p:sp>
        <p:nvSpPr>
          <p:cNvPr id="27" name="Text 20"/>
          <p:cNvSpPr/>
          <p:nvPr/>
        </p:nvSpPr>
        <p:spPr>
          <a:xfrm>
            <a:off x="7987284" y="2935224"/>
            <a:ext cx="1536192" cy="292608"/>
          </a:xfrm>
          <a:prstGeom prst="rect">
            <a:avLst/>
          </a:prstGeom>
          <a:noFill/>
          <a:ln/>
        </p:spPr>
        <p:txBody>
          <a:bodyPr wrap="square" rtlCol="0" anchor="ctr"/>
          <a:lstStyle/>
          <a:p>
            <a:pPr marL="0" indent="0" algn="ctr">
              <a:buNone/>
            </a:pPr>
            <a:r>
              <a:rPr lang="en-US" sz="950" b="1" dirty="0">
                <a:solidFill>
                  <a:srgbClr val="1E2761"/>
                </a:solidFill>
                <a:latin typeface="Calibri" pitchFamily="34" charset="0"/>
                <a:ea typeface="Calibri" pitchFamily="34" charset="-122"/>
                <a:cs typeface="Calibri" pitchFamily="34" charset="-120"/>
              </a:rPr>
              <a:t>LLM</a:t>
            </a:r>
            <a:endParaRPr lang="en-US" sz="950" dirty="0"/>
          </a:p>
        </p:txBody>
      </p:sp>
      <p:sp>
        <p:nvSpPr>
          <p:cNvPr id="28" name="Shape 21"/>
          <p:cNvSpPr/>
          <p:nvPr/>
        </p:nvSpPr>
        <p:spPr>
          <a:xfrm>
            <a:off x="9587484" y="2788920"/>
            <a:ext cx="109728" cy="0"/>
          </a:xfrm>
          <a:prstGeom prst="line">
            <a:avLst/>
          </a:prstGeom>
          <a:noFill/>
          <a:ln w="19050">
            <a:solidFill>
              <a:srgbClr val="5A6B87"/>
            </a:solidFill>
            <a:prstDash val="solid"/>
            <a:headEnd type="none"/>
            <a:tailEnd type="triangle"/>
          </a:ln>
        </p:spPr>
        <p:txBody>
          <a:bodyPr/>
          <a:lstStyle/>
          <a:p>
            <a:endParaRPr lang="en-US"/>
          </a:p>
        </p:txBody>
      </p:sp>
      <p:sp>
        <p:nvSpPr>
          <p:cNvPr id="29" name="Shape 22"/>
          <p:cNvSpPr/>
          <p:nvPr/>
        </p:nvSpPr>
        <p:spPr>
          <a:xfrm>
            <a:off x="9715500" y="2331720"/>
            <a:ext cx="1627632" cy="914400"/>
          </a:xfrm>
          <a:prstGeom prst="roundRect">
            <a:avLst>
              <a:gd name="adj" fmla="val 8000"/>
            </a:avLst>
          </a:prstGeom>
          <a:solidFill>
            <a:srgbClr val="1E2761"/>
          </a:solidFill>
          <a:ln w="12700">
            <a:solidFill>
              <a:srgbClr val="CADCFC"/>
            </a:solidFill>
            <a:prstDash val="solid"/>
          </a:ln>
          <a:effectLst>
            <a:outerShdw blurRad="101600" dist="25400" dir="5400000" algn="bl" rotWithShape="0">
              <a:srgbClr val="1E2761">
                <a:alpha val="12000"/>
              </a:srgbClr>
            </a:outerShdw>
          </a:effectLst>
        </p:spPr>
        <p:txBody>
          <a:bodyPr/>
          <a:lstStyle/>
          <a:p>
            <a:endParaRPr lang="en-US"/>
          </a:p>
        </p:txBody>
      </p:sp>
      <p:sp>
        <p:nvSpPr>
          <p:cNvPr id="30" name="Shape 23"/>
          <p:cNvSpPr/>
          <p:nvPr/>
        </p:nvSpPr>
        <p:spPr>
          <a:xfrm>
            <a:off x="10291572" y="2423160"/>
            <a:ext cx="475488" cy="475488"/>
          </a:xfrm>
          <a:prstGeom prst="ellipse">
            <a:avLst/>
          </a:prstGeom>
          <a:solidFill>
            <a:srgbClr val="C89B3C"/>
          </a:solidFill>
          <a:ln/>
        </p:spPr>
        <p:txBody>
          <a:bodyPr/>
          <a:lstStyle/>
          <a:p>
            <a:endParaRPr lang="en-US"/>
          </a:p>
        </p:txBody>
      </p:sp>
      <p:pic>
        <p:nvPicPr>
          <p:cNvPr id="31" name="Image 5" descr="/home/claude/capstone/icons/checkCircle_navy.png"/>
          <p:cNvPicPr>
            <a:picLocks noChangeAspect="1"/>
          </p:cNvPicPr>
          <p:nvPr/>
        </p:nvPicPr>
        <p:blipFill>
          <a:blip r:embed="rId8"/>
          <a:stretch>
            <a:fillRect/>
          </a:stretch>
        </p:blipFill>
        <p:spPr>
          <a:xfrm>
            <a:off x="10398557" y="2530145"/>
            <a:ext cx="261518" cy="261518"/>
          </a:xfrm>
          <a:prstGeom prst="rect">
            <a:avLst/>
          </a:prstGeom>
        </p:spPr>
      </p:pic>
      <p:sp>
        <p:nvSpPr>
          <p:cNvPr id="32" name="Text 24"/>
          <p:cNvSpPr/>
          <p:nvPr/>
        </p:nvSpPr>
        <p:spPr>
          <a:xfrm>
            <a:off x="9761220" y="2935224"/>
            <a:ext cx="1536192" cy="292608"/>
          </a:xfrm>
          <a:prstGeom prst="rect">
            <a:avLst/>
          </a:prstGeom>
          <a:noFill/>
          <a:ln/>
        </p:spPr>
        <p:txBody>
          <a:bodyPr wrap="square"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Answer</a:t>
            </a:r>
            <a:endParaRPr lang="en-US" sz="950" dirty="0"/>
          </a:p>
        </p:txBody>
      </p:sp>
      <p:sp>
        <p:nvSpPr>
          <p:cNvPr id="33" name="Text 25"/>
          <p:cNvSpPr/>
          <p:nvPr/>
        </p:nvSpPr>
        <p:spPr>
          <a:xfrm>
            <a:off x="800100" y="3383280"/>
            <a:ext cx="1719072" cy="822960"/>
          </a:xfrm>
          <a:prstGeom prst="rect">
            <a:avLst/>
          </a:prstGeom>
          <a:noFill/>
          <a:ln/>
        </p:spPr>
        <p:txBody>
          <a:bodyPr wrap="square" rtlCol="0" anchor="ctr"/>
          <a:lstStyle/>
          <a:p>
            <a:pPr marL="0" indent="0" algn="ctr">
              <a:buNone/>
            </a:pPr>
            <a:r>
              <a:rPr lang="en-US" sz="950" dirty="0">
                <a:solidFill>
                  <a:srgbClr val="5A6B87"/>
                </a:solidFill>
                <a:latin typeface="Calibri" pitchFamily="34" charset="0"/>
                <a:ea typeface="Calibri" pitchFamily="34" charset="-122"/>
                <a:cs typeface="Calibri" pitchFamily="34" charset="-120"/>
              </a:rPr>
              <a:t>The query submitted by the user.</a:t>
            </a:r>
            <a:endParaRPr lang="en-US" sz="950" dirty="0"/>
          </a:p>
        </p:txBody>
      </p:sp>
      <p:sp>
        <p:nvSpPr>
          <p:cNvPr id="34" name="Text 26"/>
          <p:cNvSpPr/>
          <p:nvPr/>
        </p:nvSpPr>
        <p:spPr>
          <a:xfrm>
            <a:off x="2574036" y="3383280"/>
            <a:ext cx="1719072" cy="822960"/>
          </a:xfrm>
          <a:prstGeom prst="rect">
            <a:avLst/>
          </a:prstGeom>
          <a:noFill/>
          <a:ln/>
        </p:spPr>
        <p:txBody>
          <a:bodyPr wrap="square" rtlCol="0" anchor="ctr"/>
          <a:lstStyle/>
          <a:p>
            <a:pPr marL="0" indent="0" algn="ctr">
              <a:buNone/>
            </a:pPr>
            <a:r>
              <a:rPr lang="en-US" sz="950" dirty="0">
                <a:solidFill>
                  <a:srgbClr val="5A6B87"/>
                </a:solidFill>
                <a:latin typeface="Calibri" pitchFamily="34" charset="0"/>
                <a:ea typeface="Calibri" pitchFamily="34" charset="-122"/>
                <a:cs typeface="Calibri" pitchFamily="34" charset="-120"/>
              </a:rPr>
              <a:t>Finds candidate content for the query.</a:t>
            </a:r>
            <a:endParaRPr lang="en-US" sz="950" dirty="0"/>
          </a:p>
        </p:txBody>
      </p:sp>
      <p:sp>
        <p:nvSpPr>
          <p:cNvPr id="35" name="Text 27"/>
          <p:cNvSpPr/>
          <p:nvPr/>
        </p:nvSpPr>
        <p:spPr>
          <a:xfrm>
            <a:off x="4347972" y="3383280"/>
            <a:ext cx="1719072" cy="822960"/>
          </a:xfrm>
          <a:prstGeom prst="rect">
            <a:avLst/>
          </a:prstGeom>
          <a:noFill/>
          <a:ln/>
        </p:spPr>
        <p:txBody>
          <a:bodyPr wrap="square" rtlCol="0" anchor="ctr"/>
          <a:lstStyle/>
          <a:p>
            <a:pPr marL="0" indent="0" algn="ctr">
              <a:buNone/>
            </a:pPr>
            <a:r>
              <a:rPr lang="en-US" sz="950" dirty="0">
                <a:solidFill>
                  <a:srgbClr val="5A6B87"/>
                </a:solidFill>
                <a:latin typeface="Calibri" pitchFamily="34" charset="0"/>
                <a:ea typeface="Calibri" pitchFamily="34" charset="-122"/>
                <a:cs typeface="Calibri" pitchFamily="34" charset="-120"/>
              </a:rPr>
              <a:t>External corpus of documents.</a:t>
            </a:r>
            <a:endParaRPr lang="en-US" sz="950" dirty="0"/>
          </a:p>
        </p:txBody>
      </p:sp>
      <p:sp>
        <p:nvSpPr>
          <p:cNvPr id="36" name="Text 28"/>
          <p:cNvSpPr/>
          <p:nvPr/>
        </p:nvSpPr>
        <p:spPr>
          <a:xfrm>
            <a:off x="6121908" y="3383280"/>
            <a:ext cx="1719072" cy="822960"/>
          </a:xfrm>
          <a:prstGeom prst="rect">
            <a:avLst/>
          </a:prstGeom>
          <a:noFill/>
          <a:ln/>
        </p:spPr>
        <p:txBody>
          <a:bodyPr wrap="square" rtlCol="0" anchor="ctr"/>
          <a:lstStyle/>
          <a:p>
            <a:pPr marL="0" indent="0" algn="ctr">
              <a:buNone/>
            </a:pPr>
            <a:r>
              <a:rPr lang="en-US" sz="950" dirty="0">
                <a:solidFill>
                  <a:srgbClr val="5A6B87"/>
                </a:solidFill>
                <a:latin typeface="Calibri" pitchFamily="34" charset="0"/>
                <a:ea typeface="Calibri" pitchFamily="34" charset="-122"/>
                <a:cs typeface="Calibri" pitchFamily="34" charset="-120"/>
              </a:rPr>
              <a:t>Top-ranked evidence passages.</a:t>
            </a:r>
            <a:endParaRPr lang="en-US" sz="950" dirty="0"/>
          </a:p>
        </p:txBody>
      </p:sp>
      <p:sp>
        <p:nvSpPr>
          <p:cNvPr id="37" name="Text 29"/>
          <p:cNvSpPr/>
          <p:nvPr/>
        </p:nvSpPr>
        <p:spPr>
          <a:xfrm>
            <a:off x="7895844" y="3383280"/>
            <a:ext cx="1719072" cy="822960"/>
          </a:xfrm>
          <a:prstGeom prst="rect">
            <a:avLst/>
          </a:prstGeom>
          <a:noFill/>
          <a:ln/>
        </p:spPr>
        <p:txBody>
          <a:bodyPr wrap="square" rtlCol="0" anchor="ctr"/>
          <a:lstStyle/>
          <a:p>
            <a:pPr marL="0" indent="0" algn="ctr">
              <a:buNone/>
            </a:pPr>
            <a:r>
              <a:rPr lang="en-US" sz="950" dirty="0">
                <a:solidFill>
                  <a:srgbClr val="5A6B87"/>
                </a:solidFill>
                <a:latin typeface="Calibri" pitchFamily="34" charset="0"/>
                <a:ea typeface="Calibri" pitchFamily="34" charset="-122"/>
                <a:cs typeface="Calibri" pitchFamily="34" charset="-120"/>
              </a:rPr>
              <a:t>Reasons over retrieved evidence.</a:t>
            </a:r>
            <a:endParaRPr lang="en-US" sz="950" dirty="0"/>
          </a:p>
        </p:txBody>
      </p:sp>
      <p:sp>
        <p:nvSpPr>
          <p:cNvPr id="38" name="Text 30"/>
          <p:cNvSpPr/>
          <p:nvPr/>
        </p:nvSpPr>
        <p:spPr>
          <a:xfrm>
            <a:off x="9669780" y="3383280"/>
            <a:ext cx="1719072" cy="822960"/>
          </a:xfrm>
          <a:prstGeom prst="rect">
            <a:avLst/>
          </a:prstGeom>
          <a:noFill/>
          <a:ln/>
        </p:spPr>
        <p:txBody>
          <a:bodyPr wrap="square" rtlCol="0" anchor="ctr"/>
          <a:lstStyle/>
          <a:p>
            <a:pPr marL="0" indent="0" algn="ctr">
              <a:buNone/>
            </a:pPr>
            <a:r>
              <a:rPr lang="en-US" sz="950" dirty="0">
                <a:solidFill>
                  <a:srgbClr val="5A6B87"/>
                </a:solidFill>
                <a:latin typeface="Calibri" pitchFamily="34" charset="0"/>
                <a:ea typeface="Calibri" pitchFamily="34" charset="-122"/>
                <a:cs typeface="Calibri" pitchFamily="34" charset="-120"/>
              </a:rPr>
              <a:t>Grounded, evidence-based response.</a:t>
            </a:r>
            <a:endParaRPr lang="en-US" sz="950" dirty="0"/>
          </a:p>
        </p:txBody>
      </p:sp>
      <p:sp>
        <p:nvSpPr>
          <p:cNvPr id="39" name="Shape 31"/>
          <p:cNvSpPr/>
          <p:nvPr/>
        </p:nvSpPr>
        <p:spPr>
          <a:xfrm>
            <a:off x="649411" y="4663440"/>
            <a:ext cx="10908792" cy="1508760"/>
          </a:xfrm>
          <a:prstGeom prst="roundRect">
            <a:avLst>
              <a:gd name="adj" fmla="val 4848"/>
            </a:avLst>
          </a:prstGeom>
          <a:solidFill>
            <a:srgbClr val="E8EFFC"/>
          </a:solidFill>
          <a:ln/>
        </p:spPr>
        <p:txBody>
          <a:bodyPr/>
          <a:lstStyle/>
          <a:p>
            <a:endParaRPr lang="en-US"/>
          </a:p>
        </p:txBody>
      </p:sp>
      <p:sp>
        <p:nvSpPr>
          <p:cNvPr id="40" name="Text 32"/>
          <p:cNvSpPr/>
          <p:nvPr/>
        </p:nvSpPr>
        <p:spPr>
          <a:xfrm>
            <a:off x="914400" y="4846320"/>
            <a:ext cx="10360152" cy="1188720"/>
          </a:xfrm>
          <a:prstGeom prst="rect">
            <a:avLst/>
          </a:prstGeom>
          <a:noFill/>
          <a:ln/>
        </p:spPr>
        <p:txBody>
          <a:bodyPr wrap="square" rtlCol="0" anchor="t"/>
          <a:lstStyle/>
          <a:p>
            <a:pPr marL="0" indent="0">
              <a:lnSpc>
                <a:spcPts val="1700"/>
              </a:lnSpc>
              <a:buNone/>
            </a:pPr>
            <a:r>
              <a:rPr lang="en-US" sz="1250" b="1" dirty="0">
                <a:solidFill>
                  <a:srgbClr val="1E2761"/>
                </a:solidFill>
                <a:latin typeface="Calibri" pitchFamily="34" charset="0"/>
                <a:ea typeface="Calibri" pitchFamily="34" charset="-122"/>
                <a:cs typeface="Calibri" pitchFamily="34" charset="-120"/>
              </a:rPr>
              <a:t>How it works:  </a:t>
            </a:r>
            <a:r>
              <a:rPr lang="en-US" sz="1250" dirty="0">
                <a:solidFill>
                  <a:srgbClr val="2A2E3A"/>
                </a:solidFill>
                <a:latin typeface="Calibri" pitchFamily="34" charset="0"/>
                <a:ea typeface="Calibri" pitchFamily="34" charset="-122"/>
                <a:cs typeface="Calibri" pitchFamily="34" charset="-120"/>
              </a:rPr>
              <a:t>RAG grounds a language model in an external knowledge base. The retriever searches the knowledge base for documents relevant to the user’s question; the most relevant passages are passed to the LLM as context, which then generates an answer supported by that retrieved evidence rather than by memory alone.</a:t>
            </a:r>
            <a:endParaRPr lang="en-US" sz="1250" dirty="0"/>
          </a:p>
        </p:txBody>
      </p:sp>
      <p:sp>
        <p:nvSpPr>
          <p:cNvPr id="41" name="Text 33"/>
          <p:cNvSpPr/>
          <p:nvPr/>
        </p:nvSpPr>
        <p:spPr>
          <a:xfrm>
            <a:off x="11475720" y="6473952"/>
            <a:ext cx="548640" cy="274320"/>
          </a:xfrm>
          <a:prstGeom prst="rect">
            <a:avLst/>
          </a:prstGeom>
          <a:noFill/>
          <a:ln/>
        </p:spPr>
        <p:txBody>
          <a:bodyPr wrap="square" rtlCol="0" anchor="ctr"/>
          <a:lstStyle/>
          <a:p>
            <a:pPr marL="0" indent="0" algn="r">
              <a:buNone/>
            </a:pPr>
            <a:endParaRPr lang="en-US" sz="1000" dirty="0"/>
          </a:p>
        </p:txBody>
      </p:sp>
      <p:sp>
        <p:nvSpPr>
          <p:cNvPr id="42" name="Text 34"/>
          <p:cNvSpPr/>
          <p:nvPr/>
        </p:nvSpPr>
        <p:spPr>
          <a:xfrm>
            <a:off x="457200" y="6473952"/>
            <a:ext cx="7315200" cy="274320"/>
          </a:xfrm>
          <a:prstGeom prst="rect">
            <a:avLst/>
          </a:prstGeom>
          <a:noFill/>
          <a:ln/>
        </p:spPr>
        <p:txBody>
          <a:bodyPr wrap="square" rtlCol="0" anchor="ctr"/>
          <a:lstStyle/>
          <a:p>
            <a:pPr marL="0" indent="0" algn="l">
              <a:buNone/>
            </a:pPr>
            <a:r>
              <a:rPr lang="en-US" sz="850" kern="0" spc="100" dirty="0">
                <a:solidFill>
                  <a:srgbClr val="A8B3C7"/>
                </a:solidFill>
                <a:latin typeface="Calibri" pitchFamily="34" charset="0"/>
                <a:ea typeface="Calibri" pitchFamily="34" charset="-122"/>
                <a:cs typeface="Calibri" pitchFamily="34" charset="-120"/>
              </a:rPr>
              <a:t>EVIDENCE-BASED FACT VERIFICATION · </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14">
    <p:bg>
      <p:bgPr>
        <a:solidFill>
          <a:srgbClr val="F7F9FC"/>
        </a:solidFill>
        <a:effectLst/>
      </p:bgPr>
    </p:bg>
    <p:spTree>
      <p:nvGrpSpPr>
        <p:cNvPr id="1" name=""/>
        <p:cNvGrpSpPr/>
        <p:nvPr/>
      </p:nvGrpSpPr>
      <p:grpSpPr>
        <a:xfrm>
          <a:off x="0" y="0"/>
          <a:ext cx="0" cy="0"/>
          <a:chOff x="0" y="0"/>
          <a:chExt cx="0" cy="0"/>
        </a:xfrm>
      </p:grpSpPr>
      <p:sp>
        <p:nvSpPr>
          <p:cNvPr id="2" name="Text 0"/>
          <p:cNvSpPr/>
          <p:nvPr/>
        </p:nvSpPr>
        <p:spPr>
          <a:xfrm>
            <a:off x="548640" y="384048"/>
            <a:ext cx="11064240" cy="685800"/>
          </a:xfrm>
          <a:prstGeom prst="rect">
            <a:avLst/>
          </a:prstGeom>
          <a:noFill/>
          <a:ln/>
        </p:spPr>
        <p:txBody>
          <a:bodyPr wrap="square" rtlCol="0" anchor="ctr"/>
          <a:lstStyle/>
          <a:p>
            <a:pPr marL="0" indent="0" algn="l">
              <a:buNone/>
            </a:pPr>
            <a:r>
              <a:rPr sz="3400" b="1">
                <a:solidFill>
                  <a:srgbClr val="1E2761"/>
                </a:solidFill>
                <a:latin typeface="Cambria"/>
              </a:rPr>
              <a:t>Basic RAG vs. Our CRAG</a:t>
            </a:r>
            <a:endParaRPr lang="en-US" sz="3200" dirty="0"/>
          </a:p>
        </p:txBody>
      </p:sp>
      <p:sp>
        <p:nvSpPr>
          <p:cNvPr id="3" name="Text 1"/>
          <p:cNvSpPr/>
          <p:nvPr/>
        </p:nvSpPr>
        <p:spPr>
          <a:xfrm>
            <a:off x="548640" y="91440"/>
            <a:ext cx="9144000" cy="274320"/>
          </a:xfrm>
          <a:prstGeom prst="rect">
            <a:avLst/>
          </a:prstGeom>
          <a:noFill/>
          <a:ln/>
        </p:spPr>
        <p:txBody>
          <a:bodyPr wrap="square" rtlCol="0" anchor="ctr"/>
          <a:lstStyle/>
          <a:p>
            <a:pPr marL="0" indent="0" algn="l">
              <a:buNone/>
            </a:pPr>
            <a:r>
              <a:rPr sz="1200" b="1">
                <a:solidFill>
                  <a:srgbClr val="C89B3C"/>
                </a:solidFill>
              </a:rPr>
              <a:t>KEY DIFFERENCES</a:t>
            </a:r>
            <a:endParaRPr lang="en-US" sz="1100" dirty="0"/>
          </a:p>
        </p:txBody>
      </p:sp>
      <p:sp>
        <p:nvSpPr>
          <p:cNvPr id="4" name="Text 2"/>
          <p:cNvSpPr/>
          <p:nvPr/>
        </p:nvSpPr>
        <p:spPr>
          <a:xfrm>
            <a:off x="0" y="0"/>
            <a:ext cx="0" cy="0"/>
          </a:xfrm>
          <a:prstGeom prst="rect">
            <a:avLst/>
          </a:prstGeom>
          <a:noFill/>
          <a:ln/>
        </p:spPr>
        <p:txBody>
          <a:bodyPr wrap="square" rtlCol="0" anchor="ctr"/>
          <a:lstStyle/>
          <a:p>
            <a:pPr marL="0" indent="0" algn="l">
              <a:buNone/>
            </a:pPr>
            <a:endParaRPr lang="en-US" sz="1300" dirty="0"/>
          </a:p>
        </p:txBody>
      </p:sp>
      <p:sp>
        <p:nvSpPr>
          <p:cNvPr id="5" name="Shape 3"/>
          <p:cNvSpPr/>
          <p:nvPr/>
        </p:nvSpPr>
        <p:spPr>
          <a:xfrm>
            <a:off x="0" y="0"/>
            <a:ext cx="0" cy="0"/>
          </a:xfrm>
          <a:prstGeom prst="roundRect">
            <a:avLst>
              <a:gd name="adj" fmla="val 14545"/>
            </a:avLst>
          </a:prstGeom>
          <a:solidFill>
            <a:srgbClr val="FFFFFF"/>
          </a:solidFill>
          <a:ln w="12700">
            <a:solidFill>
              <a:srgbClr val="CADCFC"/>
            </a:solidFill>
            <a:prstDash val="solid"/>
          </a:ln>
          <a:effectLst>
            <a:outerShdw blurRad="101600" dist="25400" dir="5400000" algn="bl" rotWithShape="0">
              <a:srgbClr val="1E2761">
                <a:alpha val="12000"/>
              </a:srgbClr>
            </a:outerShdw>
          </a:effectLst>
        </p:spPr>
        <p:txBody>
          <a:bodyPr/>
          <a:lstStyle/>
          <a:p>
            <a:endParaRPr lang="en-US"/>
          </a:p>
        </p:txBody>
      </p:sp>
      <p:sp>
        <p:nvSpPr>
          <p:cNvPr id="6" name="Shape 4"/>
          <p:cNvSpPr/>
          <p:nvPr/>
        </p:nvSpPr>
        <p:spPr>
          <a:xfrm>
            <a:off x="0" y="0"/>
            <a:ext cx="0" cy="0"/>
          </a:xfrm>
          <a:prstGeom prst="ellipse">
            <a:avLst/>
          </a:prstGeom>
          <a:solidFill>
            <a:srgbClr val="E8EFFC"/>
          </a:solidFill>
          <a:ln/>
        </p:spPr>
        <p:txBody>
          <a:bodyPr/>
          <a:lstStyle/>
          <a:p>
            <a:endParaRPr lang="en-US"/>
          </a:p>
        </p:txBody>
      </p:sp>
      <p:sp>
        <p:nvSpPr>
          <p:cNvPr id="8" name="Text 5"/>
          <p:cNvSpPr/>
          <p:nvPr/>
        </p:nvSpPr>
        <p:spPr>
          <a:xfrm>
            <a:off x="0" y="0"/>
            <a:ext cx="0" cy="0"/>
          </a:xfrm>
          <a:prstGeom prst="rect">
            <a:avLst/>
          </a:prstGeom>
          <a:noFill/>
          <a:ln/>
        </p:spPr>
        <p:txBody>
          <a:bodyPr wrap="square" rtlCol="0" anchor="ctr"/>
          <a:lstStyle/>
          <a:p>
            <a:pPr marL="0" indent="0" algn="l">
              <a:buNone/>
            </a:pPr>
            <a:endParaRPr lang="en-US" sz="1200" dirty="0"/>
          </a:p>
        </p:txBody>
      </p:sp>
      <p:sp>
        <p:nvSpPr>
          <p:cNvPr id="9" name="Shape 6"/>
          <p:cNvSpPr/>
          <p:nvPr/>
        </p:nvSpPr>
        <p:spPr>
          <a:xfrm>
            <a:off x="0" y="0"/>
            <a:ext cx="0" cy="0"/>
          </a:xfrm>
          <a:prstGeom prst="roundRect">
            <a:avLst>
              <a:gd name="adj" fmla="val 14545"/>
            </a:avLst>
          </a:prstGeom>
          <a:solidFill>
            <a:srgbClr val="FFFFFF"/>
          </a:solidFill>
          <a:ln w="12700">
            <a:solidFill>
              <a:srgbClr val="CADCFC"/>
            </a:solidFill>
            <a:prstDash val="solid"/>
          </a:ln>
          <a:effectLst>
            <a:outerShdw blurRad="101600" dist="25400" dir="5400000" algn="bl" rotWithShape="0">
              <a:srgbClr val="1E2761">
                <a:alpha val="12000"/>
              </a:srgbClr>
            </a:outerShdw>
          </a:effectLst>
        </p:spPr>
        <p:txBody>
          <a:bodyPr/>
          <a:lstStyle/>
          <a:p>
            <a:endParaRPr lang="en-US"/>
          </a:p>
        </p:txBody>
      </p:sp>
      <p:sp>
        <p:nvSpPr>
          <p:cNvPr id="10" name="Shape 7"/>
          <p:cNvSpPr/>
          <p:nvPr/>
        </p:nvSpPr>
        <p:spPr>
          <a:xfrm>
            <a:off x="0" y="0"/>
            <a:ext cx="0" cy="0"/>
          </a:xfrm>
          <a:prstGeom prst="ellipse">
            <a:avLst/>
          </a:prstGeom>
          <a:solidFill>
            <a:srgbClr val="E8EFFC"/>
          </a:solidFill>
          <a:ln/>
        </p:spPr>
        <p:txBody>
          <a:bodyPr/>
          <a:lstStyle/>
          <a:p>
            <a:endParaRPr lang="en-US"/>
          </a:p>
        </p:txBody>
      </p:sp>
      <p:sp>
        <p:nvSpPr>
          <p:cNvPr id="12" name="Text 8"/>
          <p:cNvSpPr/>
          <p:nvPr/>
        </p:nvSpPr>
        <p:spPr>
          <a:xfrm>
            <a:off x="0" y="0"/>
            <a:ext cx="0" cy="0"/>
          </a:xfrm>
          <a:prstGeom prst="rect">
            <a:avLst/>
          </a:prstGeom>
          <a:noFill/>
          <a:ln/>
        </p:spPr>
        <p:txBody>
          <a:bodyPr wrap="square" rtlCol="0" anchor="ctr"/>
          <a:lstStyle/>
          <a:p>
            <a:pPr marL="0" indent="0" algn="l">
              <a:buNone/>
            </a:pPr>
            <a:endParaRPr lang="en-US" sz="1200" dirty="0"/>
          </a:p>
        </p:txBody>
      </p:sp>
      <p:sp>
        <p:nvSpPr>
          <p:cNvPr id="13" name="Shape 9"/>
          <p:cNvSpPr/>
          <p:nvPr/>
        </p:nvSpPr>
        <p:spPr>
          <a:xfrm>
            <a:off x="0" y="0"/>
            <a:ext cx="0" cy="0"/>
          </a:xfrm>
          <a:prstGeom prst="roundRect">
            <a:avLst>
              <a:gd name="adj" fmla="val 14545"/>
            </a:avLst>
          </a:prstGeom>
          <a:solidFill>
            <a:srgbClr val="FFFFFF"/>
          </a:solidFill>
          <a:ln w="12700">
            <a:solidFill>
              <a:srgbClr val="CADCFC"/>
            </a:solidFill>
            <a:prstDash val="solid"/>
          </a:ln>
          <a:effectLst>
            <a:outerShdw blurRad="101600" dist="25400" dir="5400000" algn="bl" rotWithShape="0">
              <a:srgbClr val="1E2761">
                <a:alpha val="12000"/>
              </a:srgbClr>
            </a:outerShdw>
          </a:effectLst>
        </p:spPr>
        <p:txBody>
          <a:bodyPr/>
          <a:lstStyle/>
          <a:p>
            <a:endParaRPr lang="en-US"/>
          </a:p>
        </p:txBody>
      </p:sp>
      <p:sp>
        <p:nvSpPr>
          <p:cNvPr id="14" name="Shape 10"/>
          <p:cNvSpPr/>
          <p:nvPr/>
        </p:nvSpPr>
        <p:spPr>
          <a:xfrm>
            <a:off x="0" y="0"/>
            <a:ext cx="0" cy="0"/>
          </a:xfrm>
          <a:prstGeom prst="ellipse">
            <a:avLst/>
          </a:prstGeom>
          <a:solidFill>
            <a:srgbClr val="E8EFFC"/>
          </a:solidFill>
          <a:ln/>
        </p:spPr>
        <p:txBody>
          <a:bodyPr/>
          <a:lstStyle/>
          <a:p>
            <a:endParaRPr lang="en-US"/>
          </a:p>
        </p:txBody>
      </p:sp>
      <p:sp>
        <p:nvSpPr>
          <p:cNvPr id="16" name="Text 11"/>
          <p:cNvSpPr/>
          <p:nvPr/>
        </p:nvSpPr>
        <p:spPr>
          <a:xfrm>
            <a:off x="0" y="0"/>
            <a:ext cx="0" cy="0"/>
          </a:xfrm>
          <a:prstGeom prst="rect">
            <a:avLst/>
          </a:prstGeom>
          <a:noFill/>
          <a:ln/>
        </p:spPr>
        <p:txBody>
          <a:bodyPr wrap="square" rtlCol="0" anchor="ctr"/>
          <a:lstStyle/>
          <a:p>
            <a:pPr marL="0" indent="0" algn="l">
              <a:buNone/>
            </a:pPr>
            <a:endParaRPr lang="en-US" sz="1200" dirty="0"/>
          </a:p>
        </p:txBody>
      </p:sp>
      <p:sp>
        <p:nvSpPr>
          <p:cNvPr id="17" name="Shape 12"/>
          <p:cNvSpPr/>
          <p:nvPr/>
        </p:nvSpPr>
        <p:spPr>
          <a:xfrm>
            <a:off x="0" y="0"/>
            <a:ext cx="0" cy="0"/>
          </a:xfrm>
          <a:prstGeom prst="roundRect">
            <a:avLst>
              <a:gd name="adj" fmla="val 14545"/>
            </a:avLst>
          </a:prstGeom>
          <a:solidFill>
            <a:srgbClr val="FFFFFF"/>
          </a:solidFill>
          <a:ln w="12700">
            <a:solidFill>
              <a:srgbClr val="CADCFC"/>
            </a:solidFill>
            <a:prstDash val="solid"/>
          </a:ln>
          <a:effectLst>
            <a:outerShdw blurRad="101600" dist="25400" dir="5400000" algn="bl" rotWithShape="0">
              <a:srgbClr val="1E2761">
                <a:alpha val="12000"/>
              </a:srgbClr>
            </a:outerShdw>
          </a:effectLst>
        </p:spPr>
        <p:txBody>
          <a:bodyPr/>
          <a:lstStyle/>
          <a:p>
            <a:endParaRPr lang="en-US"/>
          </a:p>
        </p:txBody>
      </p:sp>
      <p:sp>
        <p:nvSpPr>
          <p:cNvPr id="18" name="Shape 13"/>
          <p:cNvSpPr/>
          <p:nvPr/>
        </p:nvSpPr>
        <p:spPr>
          <a:xfrm>
            <a:off x="0" y="0"/>
            <a:ext cx="0" cy="0"/>
          </a:xfrm>
          <a:prstGeom prst="ellipse">
            <a:avLst/>
          </a:prstGeom>
          <a:solidFill>
            <a:srgbClr val="E8EFFC"/>
          </a:solidFill>
          <a:ln/>
        </p:spPr>
        <p:txBody>
          <a:bodyPr/>
          <a:lstStyle/>
          <a:p>
            <a:endParaRPr lang="en-US"/>
          </a:p>
        </p:txBody>
      </p:sp>
      <p:sp>
        <p:nvSpPr>
          <p:cNvPr id="20" name="Text 14"/>
          <p:cNvSpPr/>
          <p:nvPr/>
        </p:nvSpPr>
        <p:spPr>
          <a:xfrm>
            <a:off x="0" y="0"/>
            <a:ext cx="0" cy="0"/>
          </a:xfrm>
          <a:prstGeom prst="rect">
            <a:avLst/>
          </a:prstGeom>
          <a:noFill/>
          <a:ln/>
        </p:spPr>
        <p:txBody>
          <a:bodyPr wrap="square" rtlCol="0" anchor="ctr"/>
          <a:lstStyle/>
          <a:p>
            <a:pPr marL="0" indent="0" algn="l">
              <a:buNone/>
            </a:pPr>
            <a:endParaRPr lang="en-US" sz="1200" dirty="0"/>
          </a:p>
        </p:txBody>
      </p:sp>
      <p:sp>
        <p:nvSpPr>
          <p:cNvPr id="21" name="Shape 15"/>
          <p:cNvSpPr/>
          <p:nvPr/>
        </p:nvSpPr>
        <p:spPr>
          <a:xfrm>
            <a:off x="0" y="0"/>
            <a:ext cx="0" cy="0"/>
          </a:xfrm>
          <a:prstGeom prst="roundRect">
            <a:avLst>
              <a:gd name="adj" fmla="val 14545"/>
            </a:avLst>
          </a:prstGeom>
          <a:solidFill>
            <a:srgbClr val="FFFFFF"/>
          </a:solidFill>
          <a:ln w="12700">
            <a:solidFill>
              <a:srgbClr val="CADCFC"/>
            </a:solidFill>
            <a:prstDash val="solid"/>
          </a:ln>
          <a:effectLst>
            <a:outerShdw blurRad="101600" dist="25400" dir="5400000" algn="bl" rotWithShape="0">
              <a:srgbClr val="1E2761">
                <a:alpha val="12000"/>
              </a:srgbClr>
            </a:outerShdw>
          </a:effectLst>
        </p:spPr>
        <p:txBody>
          <a:bodyPr/>
          <a:lstStyle/>
          <a:p>
            <a:endParaRPr lang="en-US"/>
          </a:p>
        </p:txBody>
      </p:sp>
      <p:sp>
        <p:nvSpPr>
          <p:cNvPr id="22" name="Shape 16"/>
          <p:cNvSpPr/>
          <p:nvPr/>
        </p:nvSpPr>
        <p:spPr>
          <a:xfrm>
            <a:off x="0" y="0"/>
            <a:ext cx="0" cy="0"/>
          </a:xfrm>
          <a:prstGeom prst="ellipse">
            <a:avLst/>
          </a:prstGeom>
          <a:solidFill>
            <a:srgbClr val="E8EFFC"/>
          </a:solidFill>
          <a:ln/>
        </p:spPr>
        <p:txBody>
          <a:bodyPr/>
          <a:lstStyle/>
          <a:p>
            <a:endParaRPr lang="en-US"/>
          </a:p>
        </p:txBody>
      </p:sp>
      <p:sp>
        <p:nvSpPr>
          <p:cNvPr id="24" name="Text 17"/>
          <p:cNvSpPr/>
          <p:nvPr/>
        </p:nvSpPr>
        <p:spPr>
          <a:xfrm>
            <a:off x="0" y="0"/>
            <a:ext cx="0" cy="0"/>
          </a:xfrm>
          <a:prstGeom prst="rect">
            <a:avLst/>
          </a:prstGeom>
          <a:noFill/>
          <a:ln/>
        </p:spPr>
        <p:txBody>
          <a:bodyPr wrap="square" rtlCol="0" anchor="ctr"/>
          <a:lstStyle/>
          <a:p>
            <a:pPr marL="0" indent="0" algn="l">
              <a:buNone/>
            </a:pPr>
            <a:endParaRPr lang="en-US" sz="1200" dirty="0"/>
          </a:p>
        </p:txBody>
      </p:sp>
      <p:sp>
        <p:nvSpPr>
          <p:cNvPr id="25" name="Shape 18"/>
          <p:cNvSpPr/>
          <p:nvPr/>
        </p:nvSpPr>
        <p:spPr>
          <a:xfrm>
            <a:off x="0" y="0"/>
            <a:ext cx="0" cy="0"/>
          </a:xfrm>
          <a:prstGeom prst="roundRect">
            <a:avLst>
              <a:gd name="adj" fmla="val 14545"/>
            </a:avLst>
          </a:prstGeom>
          <a:solidFill>
            <a:srgbClr val="FFFFFF"/>
          </a:solidFill>
          <a:ln w="12700">
            <a:solidFill>
              <a:srgbClr val="CADCFC"/>
            </a:solidFill>
            <a:prstDash val="solid"/>
          </a:ln>
          <a:effectLst>
            <a:outerShdw blurRad="101600" dist="25400" dir="5400000" algn="bl" rotWithShape="0">
              <a:srgbClr val="1E2761">
                <a:alpha val="12000"/>
              </a:srgbClr>
            </a:outerShdw>
          </a:effectLst>
        </p:spPr>
        <p:txBody>
          <a:bodyPr/>
          <a:lstStyle/>
          <a:p>
            <a:endParaRPr lang="en-US"/>
          </a:p>
        </p:txBody>
      </p:sp>
      <p:sp>
        <p:nvSpPr>
          <p:cNvPr id="26" name="Shape 19"/>
          <p:cNvSpPr/>
          <p:nvPr/>
        </p:nvSpPr>
        <p:spPr>
          <a:xfrm>
            <a:off x="0" y="0"/>
            <a:ext cx="0" cy="0"/>
          </a:xfrm>
          <a:prstGeom prst="ellipse">
            <a:avLst/>
          </a:prstGeom>
          <a:solidFill>
            <a:srgbClr val="E8EFFC"/>
          </a:solidFill>
          <a:ln/>
        </p:spPr>
        <p:txBody>
          <a:bodyPr/>
          <a:lstStyle/>
          <a:p>
            <a:endParaRPr lang="en-US"/>
          </a:p>
        </p:txBody>
      </p:sp>
      <p:sp>
        <p:nvSpPr>
          <p:cNvPr id="28" name="Text 20"/>
          <p:cNvSpPr/>
          <p:nvPr/>
        </p:nvSpPr>
        <p:spPr>
          <a:xfrm>
            <a:off x="0" y="0"/>
            <a:ext cx="0" cy="0"/>
          </a:xfrm>
          <a:prstGeom prst="rect">
            <a:avLst/>
          </a:prstGeom>
          <a:noFill/>
          <a:ln/>
        </p:spPr>
        <p:txBody>
          <a:bodyPr wrap="square" rtlCol="0" anchor="ctr"/>
          <a:lstStyle/>
          <a:p>
            <a:pPr marL="0" indent="0" algn="l">
              <a:buNone/>
            </a:pPr>
            <a:endParaRPr lang="en-US" sz="1200" dirty="0"/>
          </a:p>
        </p:txBody>
      </p:sp>
      <p:sp>
        <p:nvSpPr>
          <p:cNvPr id="29" name="Text 21"/>
          <p:cNvSpPr/>
          <p:nvPr/>
        </p:nvSpPr>
        <p:spPr>
          <a:xfrm>
            <a:off x="0" y="0"/>
            <a:ext cx="0" cy="0"/>
          </a:xfrm>
          <a:prstGeom prst="rect">
            <a:avLst/>
          </a:prstGeom>
          <a:noFill/>
          <a:ln/>
        </p:spPr>
        <p:txBody>
          <a:bodyPr wrap="square" rtlCol="0" anchor="ctr"/>
          <a:lstStyle/>
          <a:p>
            <a:pPr marL="0" indent="0" algn="l">
              <a:buNone/>
            </a:pPr>
            <a:endParaRPr lang="en-US" sz="1200" dirty="0"/>
          </a:p>
        </p:txBody>
      </p:sp>
      <p:sp>
        <p:nvSpPr>
          <p:cNvPr id="31" name="Shape 22"/>
          <p:cNvSpPr/>
          <p:nvPr/>
        </p:nvSpPr>
        <p:spPr>
          <a:xfrm>
            <a:off x="0" y="0"/>
            <a:ext cx="0" cy="0"/>
          </a:xfrm>
          <a:prstGeom prst="roundRect">
            <a:avLst>
              <a:gd name="adj" fmla="val 2388"/>
            </a:avLst>
          </a:prstGeom>
          <a:solidFill>
            <a:srgbClr val="E8EFFC"/>
          </a:solidFill>
          <a:ln/>
        </p:spPr>
        <p:txBody>
          <a:bodyPr/>
          <a:lstStyle/>
          <a:p>
            <a:endParaRPr lang="en-US"/>
          </a:p>
        </p:txBody>
      </p:sp>
      <p:sp>
        <p:nvSpPr>
          <p:cNvPr id="32" name="Text 23"/>
          <p:cNvSpPr/>
          <p:nvPr/>
        </p:nvSpPr>
        <p:spPr>
          <a:xfrm>
            <a:off x="0" y="0"/>
            <a:ext cx="0" cy="0"/>
          </a:xfrm>
          <a:prstGeom prst="rect">
            <a:avLst/>
          </a:prstGeom>
          <a:noFill/>
          <a:ln/>
        </p:spPr>
        <p:txBody>
          <a:bodyPr wrap="square" rtlCol="0" anchor="ctr"/>
          <a:lstStyle/>
          <a:p>
            <a:pPr marL="0" indent="0" algn="l">
              <a:buNone/>
            </a:pPr>
            <a:endParaRPr lang="en-US" sz="1200" dirty="0"/>
          </a:p>
        </p:txBody>
      </p:sp>
      <p:sp>
        <p:nvSpPr>
          <p:cNvPr id="33" name="Text 24"/>
          <p:cNvSpPr/>
          <p:nvPr/>
        </p:nvSpPr>
        <p:spPr>
          <a:xfrm>
            <a:off x="0" y="0"/>
            <a:ext cx="0" cy="0"/>
          </a:xfrm>
          <a:prstGeom prst="rect">
            <a:avLst/>
          </a:prstGeom>
          <a:noFill/>
          <a:ln/>
        </p:spPr>
        <p:txBody>
          <a:bodyPr wrap="square" rtlCol="0" anchor="t"/>
          <a:lstStyle/>
          <a:p>
            <a:pPr marL="342900" indent="-342900" algn="l">
              <a:lnSpc>
                <a:spcPts val="1800"/>
              </a:lnSpc>
              <a:spcAft>
                <a:spcPts val="1000"/>
              </a:spcAft>
              <a:buSzPct val="100000"/>
              <a:buChar char="•"/>
            </a:pPr>
            <a:endParaRPr lang="en-US" sz="1050" dirty="0"/>
          </a:p>
        </p:txBody>
      </p:sp>
      <p:sp>
        <p:nvSpPr>
          <p:cNvPr id="34" name="Text 25"/>
          <p:cNvSpPr/>
          <p:nvPr/>
        </p:nvSpPr>
        <p:spPr>
          <a:xfrm>
            <a:off x="11475720" y="6473952"/>
            <a:ext cx="548640" cy="274320"/>
          </a:xfrm>
          <a:prstGeom prst="rect">
            <a:avLst/>
          </a:prstGeom>
          <a:noFill/>
          <a:ln/>
        </p:spPr>
        <p:txBody>
          <a:bodyPr wrap="square" rtlCol="0" anchor="ctr"/>
          <a:lstStyle/>
          <a:p>
            <a:pPr marL="0" indent="0" algn="l">
              <a:buNone/>
            </a:pPr>
            <a:endParaRPr lang="en-US" sz="1000" dirty="0"/>
          </a:p>
        </p:txBody>
      </p:sp>
      <p:sp>
        <p:nvSpPr>
          <p:cNvPr id="35" name="Text 26"/>
          <p:cNvSpPr/>
          <p:nvPr/>
        </p:nvSpPr>
        <p:spPr>
          <a:xfrm>
            <a:off x="457200" y="6473952"/>
            <a:ext cx="7315200" cy="274320"/>
          </a:xfrm>
          <a:prstGeom prst="rect">
            <a:avLst/>
          </a:prstGeom>
          <a:noFill/>
          <a:ln/>
        </p:spPr>
        <p:txBody>
          <a:bodyPr wrap="square" rtlCol="0" anchor="ctr"/>
          <a:lstStyle/>
          <a:p>
            <a:pPr marL="0" indent="0" algn="l">
              <a:buNone/>
            </a:pPr>
            <a:r>
              <a:rPr lang="en-US" sz="850" kern="0" spc="100" dirty="0">
                <a:solidFill>
                  <a:srgbClr val="A8B3C7"/>
                </a:solidFill>
                <a:latin typeface="Calibri" pitchFamily="34" charset="0"/>
                <a:ea typeface="Calibri" pitchFamily="34" charset="-122"/>
                <a:cs typeface="Calibri" pitchFamily="34" charset="-120"/>
              </a:rPr>
              <a:t>EVIDENCE-BASED FACT VERIFICATION · </a:t>
            </a:r>
            <a:endParaRPr lang="en-US" sz="850" dirty="0"/>
          </a:p>
        </p:txBody>
      </p:sp>
      <p:graphicFrame>
        <p:nvGraphicFramePr>
          <p:cNvPr id="36" name="Table 35"/>
          <p:cNvGraphicFramePr>
            <a:graphicFrameLocks noGrp="1"/>
          </p:cNvGraphicFramePr>
          <p:nvPr>
            <p:extLst>
              <p:ext uri="{D42A27DB-BD31-4B8C-83A1-F6EECF244321}">
                <p14:modId xmlns:p14="http://schemas.microsoft.com/office/powerpoint/2010/main" val="2355434864"/>
              </p:ext>
            </p:extLst>
          </p:nvPr>
        </p:nvGraphicFramePr>
        <p:xfrm>
          <a:off x="640079" y="1371600"/>
          <a:ext cx="9383153" cy="4296507"/>
        </p:xfrm>
        <a:graphic>
          <a:graphicData uri="http://schemas.openxmlformats.org/drawingml/2006/table">
            <a:tbl>
              <a:tblPr firstRow="1" bandRow="1">
                <a:tableStyleId>{5C22544A-7EE6-4342-B048-85BDC9FD1C3A}</a:tableStyleId>
              </a:tblPr>
              <a:tblGrid>
                <a:gridCol w="3196459">
                  <a:extLst>
                    <a:ext uri="{9D8B030D-6E8A-4147-A177-3AD203B41FA5}">
                      <a16:colId xmlns:a16="http://schemas.microsoft.com/office/drawing/2014/main" val="20000"/>
                    </a:ext>
                  </a:extLst>
                </a:gridCol>
                <a:gridCol w="3093347">
                  <a:extLst>
                    <a:ext uri="{9D8B030D-6E8A-4147-A177-3AD203B41FA5}">
                      <a16:colId xmlns:a16="http://schemas.microsoft.com/office/drawing/2014/main" val="20001"/>
                    </a:ext>
                  </a:extLst>
                </a:gridCol>
                <a:gridCol w="3093347">
                  <a:extLst>
                    <a:ext uri="{9D8B030D-6E8A-4147-A177-3AD203B41FA5}">
                      <a16:colId xmlns:a16="http://schemas.microsoft.com/office/drawing/2014/main" val="20002"/>
                    </a:ext>
                  </a:extLst>
                </a:gridCol>
              </a:tblGrid>
              <a:tr h="613786">
                <a:tc>
                  <a:txBody>
                    <a:bodyPr/>
                    <a:lstStyle/>
                    <a:p>
                      <a:pPr algn="ctr"/>
                      <a:r>
                        <a:rPr sz="2200" b="1">
                          <a:solidFill>
                            <a:srgbClr val="FFFFFF"/>
                          </a:solidFill>
                        </a:rPr>
                        <a:t>Feature</a:t>
                      </a:r>
                    </a:p>
                  </a:txBody>
                  <a:tcPr>
                    <a:solidFill>
                      <a:srgbClr val="1E2761"/>
                    </a:solidFill>
                  </a:tcPr>
                </a:tc>
                <a:tc>
                  <a:txBody>
                    <a:bodyPr/>
                    <a:lstStyle/>
                    <a:p>
                      <a:pPr algn="ctr"/>
                      <a:r>
                        <a:rPr sz="2200" b="1">
                          <a:solidFill>
                            <a:srgbClr val="FFFFFF"/>
                          </a:solidFill>
                        </a:rPr>
                        <a:t>Basic RAG</a:t>
                      </a:r>
                    </a:p>
                  </a:txBody>
                  <a:tcPr>
                    <a:solidFill>
                      <a:srgbClr val="1E2761"/>
                    </a:solidFill>
                  </a:tcPr>
                </a:tc>
                <a:tc>
                  <a:txBody>
                    <a:bodyPr/>
                    <a:lstStyle/>
                    <a:p>
                      <a:pPr algn="ctr"/>
                      <a:r>
                        <a:rPr sz="2200" b="1">
                          <a:solidFill>
                            <a:srgbClr val="FFFFFF"/>
                          </a:solidFill>
                        </a:rPr>
                        <a:t>Our CRAG</a:t>
                      </a:r>
                    </a:p>
                  </a:txBody>
                  <a:tcPr>
                    <a:solidFill>
                      <a:srgbClr val="1E2761"/>
                    </a:solidFill>
                  </a:tcPr>
                </a:tc>
                <a:extLst>
                  <a:ext uri="{0D108BD9-81ED-4DB2-BD59-A6C34878D82A}">
                    <a16:rowId xmlns:a16="http://schemas.microsoft.com/office/drawing/2014/main" val="10000"/>
                  </a:ext>
                </a:extLst>
              </a:tr>
              <a:tr h="613786">
                <a:tc>
                  <a:txBody>
                    <a:bodyPr/>
                    <a:lstStyle/>
                    <a:p>
                      <a:pPr algn="l"/>
                      <a:r>
                        <a:rPr sz="2000" b="1">
                          <a:solidFill>
                            <a:srgbClr val="1E2761"/>
                          </a:solidFill>
                        </a:rPr>
                        <a:t>Retrieval Passes</a:t>
                      </a:r>
                    </a:p>
                  </a:txBody>
                  <a:tcPr>
                    <a:solidFill>
                      <a:srgbClr val="EFF2FB"/>
                    </a:solidFill>
                  </a:tcPr>
                </a:tc>
                <a:tc>
                  <a:txBody>
                    <a:bodyPr/>
                    <a:lstStyle/>
                    <a:p>
                      <a:pPr algn="ctr"/>
                      <a:r>
                        <a:rPr sz="2000" b="0">
                          <a:solidFill>
                            <a:srgbClr val="2A2E3A"/>
                          </a:solidFill>
                        </a:rPr>
                        <a:t>Single pass</a:t>
                      </a:r>
                    </a:p>
                  </a:txBody>
                  <a:tcPr>
                    <a:solidFill>
                      <a:srgbClr val="EFF2FB"/>
                    </a:solidFill>
                  </a:tcPr>
                </a:tc>
                <a:tc>
                  <a:txBody>
                    <a:bodyPr/>
                    <a:lstStyle/>
                    <a:p>
                      <a:pPr algn="ctr"/>
                      <a:r>
                        <a:rPr sz="2000" b="0">
                          <a:solidFill>
                            <a:srgbClr val="1B5E20"/>
                          </a:solidFill>
                        </a:rPr>
                        <a:t>Iterative (multi-round)</a:t>
                      </a:r>
                    </a:p>
                  </a:txBody>
                  <a:tcPr>
                    <a:solidFill>
                      <a:srgbClr val="EFF2FB"/>
                    </a:solidFill>
                  </a:tcPr>
                </a:tc>
                <a:extLst>
                  <a:ext uri="{0D108BD9-81ED-4DB2-BD59-A6C34878D82A}">
                    <a16:rowId xmlns:a16="http://schemas.microsoft.com/office/drawing/2014/main" val="10001"/>
                  </a:ext>
                </a:extLst>
              </a:tr>
              <a:tr h="613786">
                <a:tc>
                  <a:txBody>
                    <a:bodyPr/>
                    <a:lstStyle/>
                    <a:p>
                      <a:pPr algn="l"/>
                      <a:r>
                        <a:rPr sz="2000" b="1">
                          <a:solidFill>
                            <a:srgbClr val="1E2761"/>
                          </a:solidFill>
                        </a:rPr>
                        <a:t>Search Method</a:t>
                      </a:r>
                    </a:p>
                  </a:txBody>
                  <a:tcPr>
                    <a:solidFill>
                      <a:srgbClr val="FFFFFF"/>
                    </a:solidFill>
                  </a:tcPr>
                </a:tc>
                <a:tc>
                  <a:txBody>
                    <a:bodyPr/>
                    <a:lstStyle/>
                    <a:p>
                      <a:pPr algn="ctr"/>
                      <a:r>
                        <a:rPr sz="2000" b="0">
                          <a:solidFill>
                            <a:srgbClr val="2A2E3A"/>
                          </a:solidFill>
                        </a:rPr>
                        <a:t>Dense only</a:t>
                      </a:r>
                    </a:p>
                  </a:txBody>
                  <a:tcPr>
                    <a:solidFill>
                      <a:srgbClr val="FFFFFF"/>
                    </a:solidFill>
                  </a:tcPr>
                </a:tc>
                <a:tc>
                  <a:txBody>
                    <a:bodyPr/>
                    <a:lstStyle/>
                    <a:p>
                      <a:pPr algn="ctr"/>
                      <a:r>
                        <a:rPr sz="2000" b="0">
                          <a:solidFill>
                            <a:srgbClr val="1B5E20"/>
                          </a:solidFill>
                        </a:rPr>
                        <a:t>FAISS + BM25 hybrid</a:t>
                      </a:r>
                    </a:p>
                  </a:txBody>
                  <a:tcPr>
                    <a:solidFill>
                      <a:srgbClr val="FFFFFF"/>
                    </a:solidFill>
                  </a:tcPr>
                </a:tc>
                <a:extLst>
                  <a:ext uri="{0D108BD9-81ED-4DB2-BD59-A6C34878D82A}">
                    <a16:rowId xmlns:a16="http://schemas.microsoft.com/office/drawing/2014/main" val="10002"/>
                  </a:ext>
                </a:extLst>
              </a:tr>
              <a:tr h="613786">
                <a:tc>
                  <a:txBody>
                    <a:bodyPr/>
                    <a:lstStyle/>
                    <a:p>
                      <a:pPr algn="l"/>
                      <a:r>
                        <a:rPr sz="2000" b="1">
                          <a:solidFill>
                            <a:srgbClr val="1E2761"/>
                          </a:solidFill>
                        </a:rPr>
                        <a:t>Evidence Check</a:t>
                      </a:r>
                    </a:p>
                  </a:txBody>
                  <a:tcPr>
                    <a:solidFill>
                      <a:srgbClr val="EFF2FB"/>
                    </a:solidFill>
                  </a:tcPr>
                </a:tc>
                <a:tc>
                  <a:txBody>
                    <a:bodyPr/>
                    <a:lstStyle/>
                    <a:p>
                      <a:pPr algn="ctr"/>
                      <a:r>
                        <a:rPr sz="2000" b="0">
                          <a:solidFill>
                            <a:srgbClr val="2A2E3A"/>
                          </a:solidFill>
                        </a:rPr>
                        <a:t>None</a:t>
                      </a:r>
                    </a:p>
                  </a:txBody>
                  <a:tcPr>
                    <a:solidFill>
                      <a:srgbClr val="EFF2FB"/>
                    </a:solidFill>
                  </a:tcPr>
                </a:tc>
                <a:tc>
                  <a:txBody>
                    <a:bodyPr/>
                    <a:lstStyle/>
                    <a:p>
                      <a:pPr algn="ctr"/>
                      <a:r>
                        <a:rPr sz="2000" b="0">
                          <a:solidFill>
                            <a:srgbClr val="1B5E20"/>
                          </a:solidFill>
                        </a:rPr>
                        <a:t>LLM verification</a:t>
                      </a:r>
                    </a:p>
                  </a:txBody>
                  <a:tcPr>
                    <a:solidFill>
                      <a:srgbClr val="EFF2FB"/>
                    </a:solidFill>
                  </a:tcPr>
                </a:tc>
                <a:extLst>
                  <a:ext uri="{0D108BD9-81ED-4DB2-BD59-A6C34878D82A}">
                    <a16:rowId xmlns:a16="http://schemas.microsoft.com/office/drawing/2014/main" val="10003"/>
                  </a:ext>
                </a:extLst>
              </a:tr>
              <a:tr h="613786">
                <a:tc>
                  <a:txBody>
                    <a:bodyPr/>
                    <a:lstStyle/>
                    <a:p>
                      <a:pPr algn="l"/>
                      <a:r>
                        <a:rPr sz="2000" b="1">
                          <a:solidFill>
                            <a:srgbClr val="1E2761"/>
                          </a:solidFill>
                        </a:rPr>
                        <a:t>Query Refinement</a:t>
                      </a:r>
                    </a:p>
                  </a:txBody>
                  <a:tcPr>
                    <a:solidFill>
                      <a:srgbClr val="FFFFFF"/>
                    </a:solidFill>
                  </a:tcPr>
                </a:tc>
                <a:tc>
                  <a:txBody>
                    <a:bodyPr/>
                    <a:lstStyle/>
                    <a:p>
                      <a:pPr algn="ctr"/>
                      <a:r>
                        <a:rPr sz="2000" b="0">
                          <a:solidFill>
                            <a:srgbClr val="2A2E3A"/>
                          </a:solidFill>
                        </a:rPr>
                        <a:t>None</a:t>
                      </a:r>
                    </a:p>
                  </a:txBody>
                  <a:tcPr>
                    <a:solidFill>
                      <a:srgbClr val="FFFFFF"/>
                    </a:solidFill>
                  </a:tcPr>
                </a:tc>
                <a:tc>
                  <a:txBody>
                    <a:bodyPr/>
                    <a:lstStyle/>
                    <a:p>
                      <a:pPr algn="ctr"/>
                      <a:r>
                        <a:rPr sz="2000" b="0">
                          <a:solidFill>
                            <a:srgbClr val="1B5E20"/>
                          </a:solidFill>
                        </a:rPr>
                        <a:t>improve_query node</a:t>
                      </a:r>
                    </a:p>
                  </a:txBody>
                  <a:tcPr>
                    <a:solidFill>
                      <a:srgbClr val="FFFFFF"/>
                    </a:solidFill>
                  </a:tcPr>
                </a:tc>
                <a:extLst>
                  <a:ext uri="{0D108BD9-81ED-4DB2-BD59-A6C34878D82A}">
                    <a16:rowId xmlns:a16="http://schemas.microsoft.com/office/drawing/2014/main" val="10004"/>
                  </a:ext>
                </a:extLst>
              </a:tr>
              <a:tr h="613786">
                <a:tc>
                  <a:txBody>
                    <a:bodyPr/>
                    <a:lstStyle/>
                    <a:p>
                      <a:pPr algn="l"/>
                      <a:r>
                        <a:rPr sz="2000" b="1">
                          <a:solidFill>
                            <a:srgbClr val="1E2761"/>
                          </a:solidFill>
                        </a:rPr>
                        <a:t>Web Fallback</a:t>
                      </a:r>
                    </a:p>
                  </a:txBody>
                  <a:tcPr>
                    <a:solidFill>
                      <a:srgbClr val="EFF2FB"/>
                    </a:solidFill>
                  </a:tcPr>
                </a:tc>
                <a:tc>
                  <a:txBody>
                    <a:bodyPr/>
                    <a:lstStyle/>
                    <a:p>
                      <a:pPr algn="ctr"/>
                      <a:r>
                        <a:rPr sz="2000" b="0">
                          <a:solidFill>
                            <a:srgbClr val="2A2E3A"/>
                          </a:solidFill>
                        </a:rPr>
                        <a:t>None</a:t>
                      </a:r>
                    </a:p>
                  </a:txBody>
                  <a:tcPr>
                    <a:solidFill>
                      <a:srgbClr val="EFF2FB"/>
                    </a:solidFill>
                  </a:tcPr>
                </a:tc>
                <a:tc>
                  <a:txBody>
                    <a:bodyPr/>
                    <a:lstStyle/>
                    <a:p>
                      <a:pPr algn="ctr"/>
                      <a:r>
                        <a:rPr sz="2000" b="0">
                          <a:solidFill>
                            <a:srgbClr val="1B5E20"/>
                          </a:solidFill>
                        </a:rPr>
                        <a:t>Tavily Search API</a:t>
                      </a:r>
                    </a:p>
                  </a:txBody>
                  <a:tcPr>
                    <a:solidFill>
                      <a:srgbClr val="EFF2FB"/>
                    </a:solidFill>
                  </a:tcPr>
                </a:tc>
                <a:extLst>
                  <a:ext uri="{0D108BD9-81ED-4DB2-BD59-A6C34878D82A}">
                    <a16:rowId xmlns:a16="http://schemas.microsoft.com/office/drawing/2014/main" val="10005"/>
                  </a:ext>
                </a:extLst>
              </a:tr>
              <a:tr h="613791">
                <a:tc>
                  <a:txBody>
                    <a:bodyPr/>
                    <a:lstStyle/>
                    <a:p>
                      <a:pPr algn="l"/>
                      <a:r>
                        <a:rPr sz="2000" b="1">
                          <a:solidFill>
                            <a:srgbClr val="1E2761"/>
                          </a:solidFill>
                        </a:rPr>
                        <a:t>Confidence Score</a:t>
                      </a:r>
                    </a:p>
                  </a:txBody>
                  <a:tcPr>
                    <a:solidFill>
                      <a:srgbClr val="FFFFFF"/>
                    </a:solidFill>
                  </a:tcPr>
                </a:tc>
                <a:tc>
                  <a:txBody>
                    <a:bodyPr/>
                    <a:lstStyle/>
                    <a:p>
                      <a:pPr algn="ctr"/>
                      <a:r>
                        <a:rPr sz="2000" b="0">
                          <a:solidFill>
                            <a:srgbClr val="2A2E3A"/>
                          </a:solidFill>
                        </a:rPr>
                        <a:t>Not provided</a:t>
                      </a:r>
                    </a:p>
                  </a:txBody>
                  <a:tcPr>
                    <a:solidFill>
                      <a:srgbClr val="FFFFFF"/>
                    </a:solidFill>
                  </a:tcPr>
                </a:tc>
                <a:tc>
                  <a:txBody>
                    <a:bodyPr/>
                    <a:lstStyle/>
                    <a:p>
                      <a:pPr algn="ctr"/>
                      <a:r>
                        <a:rPr sz="2000" b="0" dirty="0">
                          <a:solidFill>
                            <a:srgbClr val="1B5E20"/>
                          </a:solidFill>
                        </a:rPr>
                        <a:t>Always included</a:t>
                      </a:r>
                    </a:p>
                  </a:txBody>
                  <a:tcPr>
                    <a:solidFill>
                      <a:srgbClr val="FFFFFF"/>
                    </a:solidFill>
                  </a:tcPr>
                </a:tc>
                <a:extLst>
                  <a:ext uri="{0D108BD9-81ED-4DB2-BD59-A6C34878D82A}">
                    <a16:rowId xmlns:a16="http://schemas.microsoft.com/office/drawing/2014/main" val="10006"/>
                  </a:ext>
                </a:extLst>
              </a:tr>
            </a:tbl>
          </a:graphicData>
        </a:graphic>
      </p:graphicFrame>
      <p:sp>
        <p:nvSpPr>
          <p:cNvPr id="37" name="TextBox 36"/>
          <p:cNvSpPr txBox="1"/>
          <p:nvPr/>
        </p:nvSpPr>
        <p:spPr>
          <a:xfrm>
            <a:off x="0" y="0"/>
            <a:ext cx="0" cy="0"/>
          </a:xfrm>
          <a:prstGeom prst="rect">
            <a:avLst/>
          </a:prstGeom>
          <a:noFill/>
        </p:spPr>
        <p:txBody>
          <a:bodyPr wrap="none">
            <a:spAutoFit/>
          </a:bodyPr>
          <a:lstStyle/>
          <a:p>
            <a:r>
              <a:rPr sz="1200">
                <a:solidFill>
                  <a:srgbClr val="5A6B87"/>
                </a:solidFill>
              </a:rPr>
              <a:t>09</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12">
    <p:bg>
      <p:bgPr>
        <a:solidFill>
          <a:srgbClr val="F7F9FC"/>
        </a:solidFill>
        <a:effectLst/>
      </p:bgPr>
    </p:bg>
    <p:spTree>
      <p:nvGrpSpPr>
        <p:cNvPr id="1" name=""/>
        <p:cNvGrpSpPr/>
        <p:nvPr/>
      </p:nvGrpSpPr>
      <p:grpSpPr>
        <a:xfrm>
          <a:off x="0" y="0"/>
          <a:ext cx="0" cy="0"/>
          <a:chOff x="0" y="0"/>
          <a:chExt cx="0" cy="0"/>
        </a:xfrm>
      </p:grpSpPr>
      <p:sp>
        <p:nvSpPr>
          <p:cNvPr id="2" name="Text 0"/>
          <p:cNvSpPr/>
          <p:nvPr/>
        </p:nvSpPr>
        <p:spPr>
          <a:xfrm>
            <a:off x="457200" y="214063"/>
            <a:ext cx="11064240" cy="685800"/>
          </a:xfrm>
          <a:prstGeom prst="rect">
            <a:avLst/>
          </a:prstGeom>
          <a:noFill/>
          <a:ln/>
        </p:spPr>
        <p:txBody>
          <a:bodyPr wrap="square" rtlCol="0" anchor="ctr"/>
          <a:lstStyle/>
          <a:p>
            <a:pPr marL="0" indent="0" algn="l">
              <a:buNone/>
            </a:pPr>
            <a:r>
              <a:rPr sz="3400" b="1" dirty="0">
                <a:solidFill>
                  <a:srgbClr val="1E2761"/>
                </a:solidFill>
                <a:latin typeface="Cambria"/>
              </a:rPr>
              <a:t>CRAG Runtime Flow</a:t>
            </a:r>
            <a:endParaRPr lang="en-US" sz="3200" dirty="0"/>
          </a:p>
        </p:txBody>
      </p:sp>
      <p:sp>
        <p:nvSpPr>
          <p:cNvPr id="3" name="Text 1"/>
          <p:cNvSpPr/>
          <p:nvPr/>
        </p:nvSpPr>
        <p:spPr>
          <a:xfrm>
            <a:off x="548640" y="91440"/>
            <a:ext cx="9144000" cy="274320"/>
          </a:xfrm>
          <a:prstGeom prst="rect">
            <a:avLst/>
          </a:prstGeom>
          <a:noFill/>
          <a:ln/>
        </p:spPr>
        <p:txBody>
          <a:bodyPr wrap="square" rtlCol="0" anchor="ctr"/>
          <a:lstStyle/>
          <a:p>
            <a:pPr marL="0" indent="0" algn="l">
              <a:buNone/>
            </a:pPr>
            <a:r>
              <a:rPr sz="1200" b="1">
                <a:solidFill>
                  <a:srgbClr val="C89B3C"/>
                </a:solidFill>
              </a:rPr>
              <a:t>PER-QUERY EXECUTION LOGIC</a:t>
            </a:r>
            <a:endParaRPr lang="en-US" sz="1100" dirty="0"/>
          </a:p>
        </p:txBody>
      </p:sp>
      <p:sp>
        <p:nvSpPr>
          <p:cNvPr id="4" name="Shape 2"/>
          <p:cNvSpPr/>
          <p:nvPr/>
        </p:nvSpPr>
        <p:spPr>
          <a:xfrm>
            <a:off x="0" y="0"/>
            <a:ext cx="0" cy="0"/>
          </a:xfrm>
          <a:prstGeom prst="roundRect">
            <a:avLst>
              <a:gd name="adj" fmla="val 12903"/>
            </a:avLst>
          </a:prstGeom>
          <a:solidFill>
            <a:srgbClr val="FFFFFF"/>
          </a:solidFill>
          <a:ln w="12700">
            <a:solidFill>
              <a:srgbClr val="CADCFC"/>
            </a:solidFill>
            <a:prstDash val="solid"/>
          </a:ln>
          <a:effectLst>
            <a:outerShdw blurRad="101600" dist="25400" dir="5400000" algn="bl" rotWithShape="0">
              <a:srgbClr val="1E2761">
                <a:alpha val="12000"/>
              </a:srgbClr>
            </a:outerShdw>
          </a:effectLst>
        </p:spPr>
        <p:txBody>
          <a:bodyPr/>
          <a:lstStyle/>
          <a:p>
            <a:endParaRPr lang="en-US"/>
          </a:p>
        </p:txBody>
      </p:sp>
      <p:sp>
        <p:nvSpPr>
          <p:cNvPr id="5" name="Shape 3"/>
          <p:cNvSpPr/>
          <p:nvPr/>
        </p:nvSpPr>
        <p:spPr>
          <a:xfrm>
            <a:off x="0" y="0"/>
            <a:ext cx="0" cy="0"/>
          </a:xfrm>
          <a:prstGeom prst="ellipse">
            <a:avLst/>
          </a:prstGeom>
          <a:solidFill>
            <a:srgbClr val="1E2761"/>
          </a:solidFill>
          <a:ln/>
        </p:spPr>
        <p:txBody>
          <a:bodyPr/>
          <a:lstStyle/>
          <a:p>
            <a:endParaRPr lang="en-US"/>
          </a:p>
        </p:txBody>
      </p:sp>
      <p:sp>
        <p:nvSpPr>
          <p:cNvPr id="6" name="Text 4"/>
          <p:cNvSpPr/>
          <p:nvPr/>
        </p:nvSpPr>
        <p:spPr>
          <a:xfrm>
            <a:off x="0" y="0"/>
            <a:ext cx="0" cy="0"/>
          </a:xfrm>
          <a:prstGeom prst="rect">
            <a:avLst/>
          </a:prstGeom>
          <a:noFill/>
          <a:ln/>
        </p:spPr>
        <p:txBody>
          <a:bodyPr wrap="square" rtlCol="0" anchor="ctr"/>
          <a:lstStyle/>
          <a:p>
            <a:pPr marL="0" indent="0" algn="l">
              <a:buNone/>
            </a:pPr>
            <a:endParaRPr lang="en-US" sz="1400" dirty="0"/>
          </a:p>
        </p:txBody>
      </p:sp>
      <p:sp>
        <p:nvSpPr>
          <p:cNvPr id="7" name="Shape 5"/>
          <p:cNvSpPr/>
          <p:nvPr/>
        </p:nvSpPr>
        <p:spPr>
          <a:xfrm>
            <a:off x="0" y="0"/>
            <a:ext cx="0" cy="0"/>
          </a:xfrm>
          <a:prstGeom prst="ellipse">
            <a:avLst/>
          </a:prstGeom>
          <a:solidFill>
            <a:srgbClr val="E8EFFC"/>
          </a:solidFill>
          <a:ln/>
        </p:spPr>
        <p:txBody>
          <a:bodyPr/>
          <a:lstStyle/>
          <a:p>
            <a:endParaRPr lang="en-US"/>
          </a:p>
        </p:txBody>
      </p:sp>
      <p:sp>
        <p:nvSpPr>
          <p:cNvPr id="9" name="Text 6"/>
          <p:cNvSpPr/>
          <p:nvPr/>
        </p:nvSpPr>
        <p:spPr>
          <a:xfrm>
            <a:off x="0" y="0"/>
            <a:ext cx="0" cy="0"/>
          </a:xfrm>
          <a:prstGeom prst="rect">
            <a:avLst/>
          </a:prstGeom>
          <a:noFill/>
          <a:ln/>
        </p:spPr>
        <p:txBody>
          <a:bodyPr wrap="square" rtlCol="0" anchor="ctr"/>
          <a:lstStyle/>
          <a:p>
            <a:pPr marL="0" indent="0" algn="l">
              <a:buNone/>
            </a:pPr>
            <a:endParaRPr lang="en-US" sz="1250" dirty="0"/>
          </a:p>
        </p:txBody>
      </p:sp>
      <p:sp>
        <p:nvSpPr>
          <p:cNvPr id="10" name="Text 7"/>
          <p:cNvSpPr/>
          <p:nvPr/>
        </p:nvSpPr>
        <p:spPr>
          <a:xfrm>
            <a:off x="0" y="0"/>
            <a:ext cx="0" cy="0"/>
          </a:xfrm>
          <a:prstGeom prst="rect">
            <a:avLst/>
          </a:prstGeom>
          <a:noFill/>
          <a:ln/>
        </p:spPr>
        <p:txBody>
          <a:bodyPr wrap="square" rtlCol="0" anchor="ctr"/>
          <a:lstStyle/>
          <a:p>
            <a:pPr marL="0" indent="0" algn="l">
              <a:buNone/>
            </a:pPr>
            <a:endParaRPr lang="en-US" sz="1100" dirty="0"/>
          </a:p>
        </p:txBody>
      </p:sp>
      <p:sp>
        <p:nvSpPr>
          <p:cNvPr id="11" name="Shape 8"/>
          <p:cNvSpPr/>
          <p:nvPr/>
        </p:nvSpPr>
        <p:spPr>
          <a:xfrm>
            <a:off x="0" y="0"/>
            <a:ext cx="0" cy="0"/>
          </a:xfrm>
          <a:prstGeom prst="roundRect">
            <a:avLst>
              <a:gd name="adj" fmla="val 12903"/>
            </a:avLst>
          </a:prstGeom>
          <a:solidFill>
            <a:srgbClr val="FFFFFF"/>
          </a:solidFill>
          <a:ln w="12700">
            <a:solidFill>
              <a:srgbClr val="CADCFC"/>
            </a:solidFill>
            <a:prstDash val="solid"/>
          </a:ln>
        </p:spPr>
        <p:txBody>
          <a:bodyPr/>
          <a:lstStyle/>
          <a:p>
            <a:endParaRPr lang="en-US"/>
          </a:p>
        </p:txBody>
      </p:sp>
      <p:sp>
        <p:nvSpPr>
          <p:cNvPr id="12" name="Shape 9"/>
          <p:cNvSpPr/>
          <p:nvPr/>
        </p:nvSpPr>
        <p:spPr>
          <a:xfrm>
            <a:off x="0" y="0"/>
            <a:ext cx="0" cy="0"/>
          </a:xfrm>
          <a:prstGeom prst="ellipse">
            <a:avLst/>
          </a:prstGeom>
          <a:solidFill>
            <a:srgbClr val="1E2761"/>
          </a:solidFill>
          <a:ln/>
        </p:spPr>
        <p:txBody>
          <a:bodyPr/>
          <a:lstStyle/>
          <a:p>
            <a:endParaRPr lang="en-US"/>
          </a:p>
        </p:txBody>
      </p:sp>
      <p:sp>
        <p:nvSpPr>
          <p:cNvPr id="13" name="Text 10"/>
          <p:cNvSpPr/>
          <p:nvPr/>
        </p:nvSpPr>
        <p:spPr>
          <a:xfrm>
            <a:off x="0" y="0"/>
            <a:ext cx="0" cy="0"/>
          </a:xfrm>
          <a:prstGeom prst="rect">
            <a:avLst/>
          </a:prstGeom>
          <a:noFill/>
          <a:ln/>
        </p:spPr>
        <p:txBody>
          <a:bodyPr wrap="square" rtlCol="0" anchor="ctr"/>
          <a:lstStyle/>
          <a:p>
            <a:pPr marL="0" indent="0" algn="l">
              <a:buNone/>
            </a:pPr>
            <a:endParaRPr lang="en-US" sz="1400" dirty="0"/>
          </a:p>
        </p:txBody>
      </p:sp>
      <p:sp>
        <p:nvSpPr>
          <p:cNvPr id="14" name="Shape 11"/>
          <p:cNvSpPr/>
          <p:nvPr/>
        </p:nvSpPr>
        <p:spPr>
          <a:xfrm>
            <a:off x="0" y="0"/>
            <a:ext cx="0" cy="0"/>
          </a:xfrm>
          <a:prstGeom prst="ellipse">
            <a:avLst/>
          </a:prstGeom>
          <a:solidFill>
            <a:srgbClr val="E8EFFC"/>
          </a:solidFill>
          <a:ln/>
        </p:spPr>
        <p:txBody>
          <a:bodyPr/>
          <a:lstStyle/>
          <a:p>
            <a:endParaRPr lang="en-US"/>
          </a:p>
        </p:txBody>
      </p:sp>
      <p:sp>
        <p:nvSpPr>
          <p:cNvPr id="16" name="Text 12"/>
          <p:cNvSpPr/>
          <p:nvPr/>
        </p:nvSpPr>
        <p:spPr>
          <a:xfrm>
            <a:off x="0" y="0"/>
            <a:ext cx="0" cy="0"/>
          </a:xfrm>
          <a:prstGeom prst="rect">
            <a:avLst/>
          </a:prstGeom>
          <a:noFill/>
          <a:ln/>
        </p:spPr>
        <p:txBody>
          <a:bodyPr wrap="square" rtlCol="0" anchor="ctr"/>
          <a:lstStyle/>
          <a:p>
            <a:pPr marL="0" indent="0" algn="l">
              <a:buNone/>
            </a:pPr>
            <a:endParaRPr lang="en-US" sz="1250" dirty="0"/>
          </a:p>
        </p:txBody>
      </p:sp>
      <p:sp>
        <p:nvSpPr>
          <p:cNvPr id="17" name="Text 13"/>
          <p:cNvSpPr/>
          <p:nvPr/>
        </p:nvSpPr>
        <p:spPr>
          <a:xfrm>
            <a:off x="0" y="0"/>
            <a:ext cx="0" cy="0"/>
          </a:xfrm>
          <a:prstGeom prst="rect">
            <a:avLst/>
          </a:prstGeom>
          <a:noFill/>
          <a:ln/>
        </p:spPr>
        <p:txBody>
          <a:bodyPr wrap="square" rtlCol="0" anchor="ctr"/>
          <a:lstStyle/>
          <a:p>
            <a:pPr marL="0" indent="0" algn="l">
              <a:buNone/>
            </a:pPr>
            <a:endParaRPr lang="en-US" sz="1100" dirty="0"/>
          </a:p>
        </p:txBody>
      </p:sp>
      <p:sp>
        <p:nvSpPr>
          <p:cNvPr id="18" name="Shape 14"/>
          <p:cNvSpPr/>
          <p:nvPr/>
        </p:nvSpPr>
        <p:spPr>
          <a:xfrm>
            <a:off x="0" y="0"/>
            <a:ext cx="0" cy="0"/>
          </a:xfrm>
          <a:prstGeom prst="roundRect">
            <a:avLst>
              <a:gd name="adj" fmla="val 12903"/>
            </a:avLst>
          </a:prstGeom>
          <a:solidFill>
            <a:srgbClr val="FFFFFF"/>
          </a:solidFill>
          <a:ln w="12700">
            <a:solidFill>
              <a:srgbClr val="CADCFC"/>
            </a:solidFill>
            <a:prstDash val="solid"/>
          </a:ln>
          <a:effectLst>
            <a:outerShdw blurRad="101600" dist="25400" dir="5400000" algn="bl" rotWithShape="0">
              <a:srgbClr val="1E2761">
                <a:alpha val="12000"/>
              </a:srgbClr>
            </a:outerShdw>
          </a:effectLst>
        </p:spPr>
        <p:txBody>
          <a:bodyPr/>
          <a:lstStyle/>
          <a:p>
            <a:endParaRPr lang="en-US"/>
          </a:p>
        </p:txBody>
      </p:sp>
      <p:sp>
        <p:nvSpPr>
          <p:cNvPr id="19" name="Shape 15"/>
          <p:cNvSpPr/>
          <p:nvPr/>
        </p:nvSpPr>
        <p:spPr>
          <a:xfrm>
            <a:off x="0" y="0"/>
            <a:ext cx="0" cy="0"/>
          </a:xfrm>
          <a:prstGeom prst="ellipse">
            <a:avLst/>
          </a:prstGeom>
          <a:solidFill>
            <a:srgbClr val="1E2761"/>
          </a:solidFill>
          <a:ln/>
        </p:spPr>
        <p:txBody>
          <a:bodyPr/>
          <a:lstStyle/>
          <a:p>
            <a:endParaRPr lang="en-US"/>
          </a:p>
        </p:txBody>
      </p:sp>
      <p:sp>
        <p:nvSpPr>
          <p:cNvPr id="20" name="Text 16"/>
          <p:cNvSpPr/>
          <p:nvPr/>
        </p:nvSpPr>
        <p:spPr>
          <a:xfrm>
            <a:off x="0" y="0"/>
            <a:ext cx="0" cy="0"/>
          </a:xfrm>
          <a:prstGeom prst="rect">
            <a:avLst/>
          </a:prstGeom>
          <a:noFill/>
          <a:ln/>
        </p:spPr>
        <p:txBody>
          <a:bodyPr wrap="square" rtlCol="0" anchor="ctr"/>
          <a:lstStyle/>
          <a:p>
            <a:pPr marL="0" indent="0" algn="l">
              <a:buNone/>
            </a:pPr>
            <a:endParaRPr lang="en-US" sz="1400" dirty="0"/>
          </a:p>
        </p:txBody>
      </p:sp>
      <p:sp>
        <p:nvSpPr>
          <p:cNvPr id="21" name="Shape 17"/>
          <p:cNvSpPr/>
          <p:nvPr/>
        </p:nvSpPr>
        <p:spPr>
          <a:xfrm>
            <a:off x="0" y="0"/>
            <a:ext cx="0" cy="0"/>
          </a:xfrm>
          <a:prstGeom prst="ellipse">
            <a:avLst/>
          </a:prstGeom>
          <a:solidFill>
            <a:srgbClr val="E8EFFC"/>
          </a:solidFill>
          <a:ln/>
        </p:spPr>
        <p:txBody>
          <a:bodyPr/>
          <a:lstStyle/>
          <a:p>
            <a:endParaRPr lang="en-US"/>
          </a:p>
        </p:txBody>
      </p:sp>
      <p:sp>
        <p:nvSpPr>
          <p:cNvPr id="23" name="Text 18"/>
          <p:cNvSpPr/>
          <p:nvPr/>
        </p:nvSpPr>
        <p:spPr>
          <a:xfrm>
            <a:off x="0" y="0"/>
            <a:ext cx="0" cy="0"/>
          </a:xfrm>
          <a:prstGeom prst="rect">
            <a:avLst/>
          </a:prstGeom>
          <a:noFill/>
          <a:ln/>
        </p:spPr>
        <p:txBody>
          <a:bodyPr wrap="square" rtlCol="0" anchor="ctr"/>
          <a:lstStyle/>
          <a:p>
            <a:pPr marL="0" indent="0" algn="l">
              <a:buNone/>
            </a:pPr>
            <a:endParaRPr lang="en-US" sz="1250" dirty="0"/>
          </a:p>
        </p:txBody>
      </p:sp>
      <p:sp>
        <p:nvSpPr>
          <p:cNvPr id="24" name="Text 19"/>
          <p:cNvSpPr/>
          <p:nvPr/>
        </p:nvSpPr>
        <p:spPr>
          <a:xfrm>
            <a:off x="0" y="0"/>
            <a:ext cx="0" cy="0"/>
          </a:xfrm>
          <a:prstGeom prst="rect">
            <a:avLst/>
          </a:prstGeom>
          <a:noFill/>
          <a:ln/>
        </p:spPr>
        <p:txBody>
          <a:bodyPr wrap="square" rtlCol="0" anchor="ctr"/>
          <a:lstStyle/>
          <a:p>
            <a:pPr marL="0" indent="0" algn="l">
              <a:buNone/>
            </a:pPr>
            <a:endParaRPr lang="en-US" sz="1100" dirty="0"/>
          </a:p>
        </p:txBody>
      </p:sp>
      <p:sp>
        <p:nvSpPr>
          <p:cNvPr id="25" name="Shape 20"/>
          <p:cNvSpPr/>
          <p:nvPr/>
        </p:nvSpPr>
        <p:spPr>
          <a:xfrm>
            <a:off x="0" y="0"/>
            <a:ext cx="0" cy="0"/>
          </a:xfrm>
          <a:prstGeom prst="roundRect">
            <a:avLst>
              <a:gd name="adj" fmla="val 12903"/>
            </a:avLst>
          </a:prstGeom>
          <a:solidFill>
            <a:srgbClr val="FFFFFF"/>
          </a:solidFill>
          <a:ln w="12700">
            <a:solidFill>
              <a:srgbClr val="CADCFC"/>
            </a:solidFill>
            <a:prstDash val="solid"/>
          </a:ln>
        </p:spPr>
        <p:txBody>
          <a:bodyPr/>
          <a:lstStyle/>
          <a:p>
            <a:endParaRPr lang="en-US"/>
          </a:p>
        </p:txBody>
      </p:sp>
      <p:sp>
        <p:nvSpPr>
          <p:cNvPr id="26" name="Shape 21"/>
          <p:cNvSpPr/>
          <p:nvPr/>
        </p:nvSpPr>
        <p:spPr>
          <a:xfrm>
            <a:off x="0" y="0"/>
            <a:ext cx="0" cy="0"/>
          </a:xfrm>
          <a:prstGeom prst="ellipse">
            <a:avLst/>
          </a:prstGeom>
          <a:solidFill>
            <a:srgbClr val="1E2761"/>
          </a:solidFill>
          <a:ln/>
        </p:spPr>
        <p:txBody>
          <a:bodyPr/>
          <a:lstStyle/>
          <a:p>
            <a:endParaRPr lang="en-US"/>
          </a:p>
        </p:txBody>
      </p:sp>
      <p:sp>
        <p:nvSpPr>
          <p:cNvPr id="27" name="Text 22"/>
          <p:cNvSpPr/>
          <p:nvPr/>
        </p:nvSpPr>
        <p:spPr>
          <a:xfrm>
            <a:off x="0" y="0"/>
            <a:ext cx="0" cy="0"/>
          </a:xfrm>
          <a:prstGeom prst="rect">
            <a:avLst/>
          </a:prstGeom>
          <a:noFill/>
          <a:ln/>
        </p:spPr>
        <p:txBody>
          <a:bodyPr wrap="square" rtlCol="0" anchor="ctr"/>
          <a:lstStyle/>
          <a:p>
            <a:pPr marL="0" indent="0" algn="l">
              <a:buNone/>
            </a:pPr>
            <a:endParaRPr lang="en-US" sz="1400" dirty="0"/>
          </a:p>
        </p:txBody>
      </p:sp>
      <p:sp>
        <p:nvSpPr>
          <p:cNvPr id="28" name="Shape 23"/>
          <p:cNvSpPr/>
          <p:nvPr/>
        </p:nvSpPr>
        <p:spPr>
          <a:xfrm>
            <a:off x="0" y="0"/>
            <a:ext cx="0" cy="0"/>
          </a:xfrm>
          <a:prstGeom prst="ellipse">
            <a:avLst/>
          </a:prstGeom>
          <a:solidFill>
            <a:srgbClr val="E8EFFC"/>
          </a:solidFill>
          <a:ln/>
        </p:spPr>
        <p:txBody>
          <a:bodyPr/>
          <a:lstStyle/>
          <a:p>
            <a:endParaRPr lang="en-US"/>
          </a:p>
        </p:txBody>
      </p:sp>
      <p:sp>
        <p:nvSpPr>
          <p:cNvPr id="30" name="Text 24"/>
          <p:cNvSpPr/>
          <p:nvPr/>
        </p:nvSpPr>
        <p:spPr>
          <a:xfrm>
            <a:off x="0" y="0"/>
            <a:ext cx="0" cy="0"/>
          </a:xfrm>
          <a:prstGeom prst="rect">
            <a:avLst/>
          </a:prstGeom>
          <a:noFill/>
          <a:ln/>
        </p:spPr>
        <p:txBody>
          <a:bodyPr wrap="square" rtlCol="0" anchor="ctr"/>
          <a:lstStyle/>
          <a:p>
            <a:pPr marL="0" indent="0" algn="l">
              <a:buNone/>
            </a:pPr>
            <a:endParaRPr lang="en-US" sz="1250" dirty="0"/>
          </a:p>
        </p:txBody>
      </p:sp>
      <p:sp>
        <p:nvSpPr>
          <p:cNvPr id="31" name="Text 25"/>
          <p:cNvSpPr/>
          <p:nvPr/>
        </p:nvSpPr>
        <p:spPr>
          <a:xfrm>
            <a:off x="0" y="0"/>
            <a:ext cx="0" cy="0"/>
          </a:xfrm>
          <a:prstGeom prst="rect">
            <a:avLst/>
          </a:prstGeom>
          <a:noFill/>
          <a:ln/>
        </p:spPr>
        <p:txBody>
          <a:bodyPr wrap="square" rtlCol="0" anchor="ctr"/>
          <a:lstStyle/>
          <a:p>
            <a:pPr marL="0" indent="0" algn="l">
              <a:buNone/>
            </a:pPr>
            <a:endParaRPr lang="en-US" sz="1100" dirty="0"/>
          </a:p>
        </p:txBody>
      </p:sp>
      <p:sp>
        <p:nvSpPr>
          <p:cNvPr id="32" name="Shape 26"/>
          <p:cNvSpPr/>
          <p:nvPr/>
        </p:nvSpPr>
        <p:spPr>
          <a:xfrm>
            <a:off x="0" y="0"/>
            <a:ext cx="0" cy="0"/>
          </a:xfrm>
          <a:prstGeom prst="roundRect">
            <a:avLst>
              <a:gd name="adj" fmla="val 12903"/>
            </a:avLst>
          </a:prstGeom>
          <a:solidFill>
            <a:srgbClr val="FFFFFF"/>
          </a:solidFill>
          <a:ln w="12700">
            <a:solidFill>
              <a:srgbClr val="CADCFC"/>
            </a:solidFill>
            <a:prstDash val="solid"/>
          </a:ln>
          <a:effectLst>
            <a:outerShdw blurRad="101600" dist="25400" dir="5400000" algn="bl" rotWithShape="0">
              <a:srgbClr val="1E2761">
                <a:alpha val="12000"/>
              </a:srgbClr>
            </a:outerShdw>
          </a:effectLst>
        </p:spPr>
        <p:txBody>
          <a:bodyPr/>
          <a:lstStyle/>
          <a:p>
            <a:endParaRPr lang="en-US"/>
          </a:p>
        </p:txBody>
      </p:sp>
      <p:sp>
        <p:nvSpPr>
          <p:cNvPr id="33" name="Shape 27"/>
          <p:cNvSpPr/>
          <p:nvPr/>
        </p:nvSpPr>
        <p:spPr>
          <a:xfrm>
            <a:off x="0" y="0"/>
            <a:ext cx="0" cy="0"/>
          </a:xfrm>
          <a:prstGeom prst="ellipse">
            <a:avLst/>
          </a:prstGeom>
          <a:solidFill>
            <a:srgbClr val="1E2761"/>
          </a:solidFill>
          <a:ln/>
        </p:spPr>
        <p:txBody>
          <a:bodyPr/>
          <a:lstStyle/>
          <a:p>
            <a:endParaRPr lang="en-US"/>
          </a:p>
        </p:txBody>
      </p:sp>
      <p:sp>
        <p:nvSpPr>
          <p:cNvPr id="34" name="Text 28"/>
          <p:cNvSpPr/>
          <p:nvPr/>
        </p:nvSpPr>
        <p:spPr>
          <a:xfrm>
            <a:off x="0" y="0"/>
            <a:ext cx="0" cy="0"/>
          </a:xfrm>
          <a:prstGeom prst="rect">
            <a:avLst/>
          </a:prstGeom>
          <a:noFill/>
          <a:ln/>
        </p:spPr>
        <p:txBody>
          <a:bodyPr wrap="square" rtlCol="0" anchor="ctr"/>
          <a:lstStyle/>
          <a:p>
            <a:pPr marL="0" indent="0" algn="l">
              <a:buNone/>
            </a:pPr>
            <a:endParaRPr lang="en-US" sz="1400" dirty="0"/>
          </a:p>
        </p:txBody>
      </p:sp>
      <p:sp>
        <p:nvSpPr>
          <p:cNvPr id="35" name="Shape 29"/>
          <p:cNvSpPr/>
          <p:nvPr/>
        </p:nvSpPr>
        <p:spPr>
          <a:xfrm>
            <a:off x="0" y="0"/>
            <a:ext cx="0" cy="0"/>
          </a:xfrm>
          <a:prstGeom prst="ellipse">
            <a:avLst/>
          </a:prstGeom>
          <a:solidFill>
            <a:srgbClr val="E8EFFC"/>
          </a:solidFill>
          <a:ln/>
        </p:spPr>
        <p:txBody>
          <a:bodyPr/>
          <a:lstStyle/>
          <a:p>
            <a:endParaRPr lang="en-US"/>
          </a:p>
        </p:txBody>
      </p:sp>
      <p:sp>
        <p:nvSpPr>
          <p:cNvPr id="37" name="Text 30"/>
          <p:cNvSpPr/>
          <p:nvPr/>
        </p:nvSpPr>
        <p:spPr>
          <a:xfrm>
            <a:off x="0" y="0"/>
            <a:ext cx="0" cy="0"/>
          </a:xfrm>
          <a:prstGeom prst="rect">
            <a:avLst/>
          </a:prstGeom>
          <a:noFill/>
          <a:ln/>
        </p:spPr>
        <p:txBody>
          <a:bodyPr wrap="square" rtlCol="0" anchor="ctr"/>
          <a:lstStyle/>
          <a:p>
            <a:pPr marL="0" indent="0" algn="l">
              <a:buNone/>
            </a:pPr>
            <a:endParaRPr lang="en-US" sz="1250" dirty="0"/>
          </a:p>
        </p:txBody>
      </p:sp>
      <p:sp>
        <p:nvSpPr>
          <p:cNvPr id="38" name="Text 31"/>
          <p:cNvSpPr/>
          <p:nvPr/>
        </p:nvSpPr>
        <p:spPr>
          <a:xfrm>
            <a:off x="0" y="0"/>
            <a:ext cx="0" cy="0"/>
          </a:xfrm>
          <a:prstGeom prst="rect">
            <a:avLst/>
          </a:prstGeom>
          <a:noFill/>
          <a:ln/>
        </p:spPr>
        <p:txBody>
          <a:bodyPr wrap="square" rtlCol="0" anchor="ctr"/>
          <a:lstStyle/>
          <a:p>
            <a:pPr marL="0" indent="0" algn="l">
              <a:buNone/>
            </a:pPr>
            <a:endParaRPr lang="en-US" sz="1100" dirty="0"/>
          </a:p>
        </p:txBody>
      </p:sp>
      <p:sp>
        <p:nvSpPr>
          <p:cNvPr id="39" name="Shape 32"/>
          <p:cNvSpPr/>
          <p:nvPr/>
        </p:nvSpPr>
        <p:spPr>
          <a:xfrm>
            <a:off x="0" y="0"/>
            <a:ext cx="0" cy="0"/>
          </a:xfrm>
          <a:prstGeom prst="roundRect">
            <a:avLst>
              <a:gd name="adj" fmla="val 12903"/>
            </a:avLst>
          </a:prstGeom>
          <a:solidFill>
            <a:srgbClr val="FFFFFF"/>
          </a:solidFill>
          <a:ln w="12700">
            <a:solidFill>
              <a:srgbClr val="CADCFC"/>
            </a:solidFill>
            <a:prstDash val="solid"/>
          </a:ln>
        </p:spPr>
        <p:txBody>
          <a:bodyPr/>
          <a:lstStyle/>
          <a:p>
            <a:endParaRPr lang="en-US"/>
          </a:p>
        </p:txBody>
      </p:sp>
      <p:sp>
        <p:nvSpPr>
          <p:cNvPr id="40" name="Shape 33"/>
          <p:cNvSpPr/>
          <p:nvPr/>
        </p:nvSpPr>
        <p:spPr>
          <a:xfrm>
            <a:off x="0" y="0"/>
            <a:ext cx="0" cy="0"/>
          </a:xfrm>
          <a:prstGeom prst="ellipse">
            <a:avLst/>
          </a:prstGeom>
          <a:solidFill>
            <a:srgbClr val="1E2761"/>
          </a:solidFill>
          <a:ln/>
        </p:spPr>
        <p:txBody>
          <a:bodyPr/>
          <a:lstStyle/>
          <a:p>
            <a:endParaRPr lang="en-US"/>
          </a:p>
        </p:txBody>
      </p:sp>
      <p:sp>
        <p:nvSpPr>
          <p:cNvPr id="41" name="Text 34"/>
          <p:cNvSpPr/>
          <p:nvPr/>
        </p:nvSpPr>
        <p:spPr>
          <a:xfrm>
            <a:off x="0" y="0"/>
            <a:ext cx="0" cy="0"/>
          </a:xfrm>
          <a:prstGeom prst="rect">
            <a:avLst/>
          </a:prstGeom>
          <a:noFill/>
          <a:ln/>
        </p:spPr>
        <p:txBody>
          <a:bodyPr wrap="square" rtlCol="0" anchor="ctr"/>
          <a:lstStyle/>
          <a:p>
            <a:pPr marL="0" indent="0" algn="l">
              <a:buNone/>
            </a:pPr>
            <a:endParaRPr lang="en-US" sz="1400" dirty="0"/>
          </a:p>
        </p:txBody>
      </p:sp>
      <p:sp>
        <p:nvSpPr>
          <p:cNvPr id="42" name="Shape 35"/>
          <p:cNvSpPr/>
          <p:nvPr/>
        </p:nvSpPr>
        <p:spPr>
          <a:xfrm>
            <a:off x="0" y="0"/>
            <a:ext cx="0" cy="0"/>
          </a:xfrm>
          <a:prstGeom prst="ellipse">
            <a:avLst/>
          </a:prstGeom>
          <a:solidFill>
            <a:srgbClr val="E8EFFC"/>
          </a:solidFill>
          <a:ln/>
        </p:spPr>
        <p:txBody>
          <a:bodyPr/>
          <a:lstStyle/>
          <a:p>
            <a:endParaRPr lang="en-US"/>
          </a:p>
        </p:txBody>
      </p:sp>
      <p:sp>
        <p:nvSpPr>
          <p:cNvPr id="44" name="Text 36"/>
          <p:cNvSpPr/>
          <p:nvPr/>
        </p:nvSpPr>
        <p:spPr>
          <a:xfrm>
            <a:off x="0" y="0"/>
            <a:ext cx="0" cy="0"/>
          </a:xfrm>
          <a:prstGeom prst="rect">
            <a:avLst/>
          </a:prstGeom>
          <a:noFill/>
          <a:ln/>
        </p:spPr>
        <p:txBody>
          <a:bodyPr wrap="square" rtlCol="0" anchor="ctr"/>
          <a:lstStyle/>
          <a:p>
            <a:pPr marL="0" indent="0" algn="l">
              <a:buNone/>
            </a:pPr>
            <a:endParaRPr lang="en-US" sz="1250" dirty="0"/>
          </a:p>
        </p:txBody>
      </p:sp>
      <p:sp>
        <p:nvSpPr>
          <p:cNvPr id="45" name="Text 37"/>
          <p:cNvSpPr/>
          <p:nvPr/>
        </p:nvSpPr>
        <p:spPr>
          <a:xfrm>
            <a:off x="0" y="0"/>
            <a:ext cx="0" cy="0"/>
          </a:xfrm>
          <a:prstGeom prst="rect">
            <a:avLst/>
          </a:prstGeom>
          <a:noFill/>
          <a:ln/>
        </p:spPr>
        <p:txBody>
          <a:bodyPr wrap="square" rtlCol="0" anchor="ctr"/>
          <a:lstStyle/>
          <a:p>
            <a:pPr marL="0" indent="0" algn="l">
              <a:buNone/>
            </a:pPr>
            <a:endParaRPr lang="en-US" sz="1100" dirty="0"/>
          </a:p>
        </p:txBody>
      </p:sp>
      <p:sp>
        <p:nvSpPr>
          <p:cNvPr id="46" name="Shape 38"/>
          <p:cNvSpPr/>
          <p:nvPr/>
        </p:nvSpPr>
        <p:spPr>
          <a:xfrm>
            <a:off x="0" y="0"/>
            <a:ext cx="0" cy="0"/>
          </a:xfrm>
          <a:prstGeom prst="roundRect">
            <a:avLst>
              <a:gd name="adj" fmla="val 12903"/>
            </a:avLst>
          </a:prstGeom>
          <a:solidFill>
            <a:srgbClr val="FFFFFF"/>
          </a:solidFill>
          <a:ln w="12700">
            <a:solidFill>
              <a:srgbClr val="CADCFC"/>
            </a:solidFill>
            <a:prstDash val="solid"/>
          </a:ln>
          <a:effectLst>
            <a:outerShdw blurRad="101600" dist="25400" dir="5400000" algn="bl" rotWithShape="0">
              <a:srgbClr val="1E2761">
                <a:alpha val="12000"/>
              </a:srgbClr>
            </a:outerShdw>
          </a:effectLst>
        </p:spPr>
        <p:txBody>
          <a:bodyPr/>
          <a:lstStyle/>
          <a:p>
            <a:endParaRPr lang="en-US"/>
          </a:p>
        </p:txBody>
      </p:sp>
      <p:sp>
        <p:nvSpPr>
          <p:cNvPr id="47" name="Shape 39"/>
          <p:cNvSpPr/>
          <p:nvPr/>
        </p:nvSpPr>
        <p:spPr>
          <a:xfrm>
            <a:off x="0" y="0"/>
            <a:ext cx="0" cy="0"/>
          </a:xfrm>
          <a:prstGeom prst="ellipse">
            <a:avLst/>
          </a:prstGeom>
          <a:solidFill>
            <a:srgbClr val="1E2761"/>
          </a:solidFill>
          <a:ln/>
        </p:spPr>
        <p:txBody>
          <a:bodyPr/>
          <a:lstStyle/>
          <a:p>
            <a:endParaRPr lang="en-US"/>
          </a:p>
        </p:txBody>
      </p:sp>
      <p:sp>
        <p:nvSpPr>
          <p:cNvPr id="48" name="Text 40"/>
          <p:cNvSpPr/>
          <p:nvPr/>
        </p:nvSpPr>
        <p:spPr>
          <a:xfrm>
            <a:off x="0" y="0"/>
            <a:ext cx="0" cy="0"/>
          </a:xfrm>
          <a:prstGeom prst="rect">
            <a:avLst/>
          </a:prstGeom>
          <a:noFill/>
          <a:ln/>
        </p:spPr>
        <p:txBody>
          <a:bodyPr wrap="square" rtlCol="0" anchor="ctr"/>
          <a:lstStyle/>
          <a:p>
            <a:pPr marL="0" indent="0" algn="l">
              <a:buNone/>
            </a:pPr>
            <a:endParaRPr lang="en-US" sz="1400" dirty="0"/>
          </a:p>
        </p:txBody>
      </p:sp>
      <p:sp>
        <p:nvSpPr>
          <p:cNvPr id="49" name="Shape 41"/>
          <p:cNvSpPr/>
          <p:nvPr/>
        </p:nvSpPr>
        <p:spPr>
          <a:xfrm>
            <a:off x="0" y="0"/>
            <a:ext cx="0" cy="0"/>
          </a:xfrm>
          <a:prstGeom prst="ellipse">
            <a:avLst/>
          </a:prstGeom>
          <a:solidFill>
            <a:srgbClr val="E8EFFC"/>
          </a:solidFill>
          <a:ln/>
        </p:spPr>
        <p:txBody>
          <a:bodyPr/>
          <a:lstStyle/>
          <a:p>
            <a:endParaRPr lang="en-US"/>
          </a:p>
        </p:txBody>
      </p:sp>
      <p:sp>
        <p:nvSpPr>
          <p:cNvPr id="51" name="Text 42"/>
          <p:cNvSpPr/>
          <p:nvPr/>
        </p:nvSpPr>
        <p:spPr>
          <a:xfrm>
            <a:off x="0" y="0"/>
            <a:ext cx="0" cy="0"/>
          </a:xfrm>
          <a:prstGeom prst="rect">
            <a:avLst/>
          </a:prstGeom>
          <a:noFill/>
          <a:ln/>
        </p:spPr>
        <p:txBody>
          <a:bodyPr wrap="square" rtlCol="0" anchor="ctr"/>
          <a:lstStyle/>
          <a:p>
            <a:pPr marL="0" indent="0" algn="l">
              <a:buNone/>
            </a:pPr>
            <a:endParaRPr lang="en-US" sz="1250" dirty="0"/>
          </a:p>
        </p:txBody>
      </p:sp>
      <p:sp>
        <p:nvSpPr>
          <p:cNvPr id="52" name="Text 43"/>
          <p:cNvSpPr/>
          <p:nvPr/>
        </p:nvSpPr>
        <p:spPr>
          <a:xfrm>
            <a:off x="0" y="0"/>
            <a:ext cx="0" cy="0"/>
          </a:xfrm>
          <a:prstGeom prst="rect">
            <a:avLst/>
          </a:prstGeom>
          <a:noFill/>
          <a:ln/>
        </p:spPr>
        <p:txBody>
          <a:bodyPr wrap="square" rtlCol="0" anchor="ctr"/>
          <a:lstStyle/>
          <a:p>
            <a:pPr marL="0" indent="0" algn="l">
              <a:buNone/>
            </a:pPr>
            <a:endParaRPr lang="en-US" sz="1100" dirty="0"/>
          </a:p>
        </p:txBody>
      </p:sp>
      <p:sp>
        <p:nvSpPr>
          <p:cNvPr id="53" name="Text 44"/>
          <p:cNvSpPr/>
          <p:nvPr/>
        </p:nvSpPr>
        <p:spPr>
          <a:xfrm>
            <a:off x="11475720" y="6473952"/>
            <a:ext cx="548640" cy="274320"/>
          </a:xfrm>
          <a:prstGeom prst="rect">
            <a:avLst/>
          </a:prstGeom>
          <a:noFill/>
          <a:ln/>
        </p:spPr>
        <p:txBody>
          <a:bodyPr wrap="square" rtlCol="0" anchor="ctr"/>
          <a:lstStyle/>
          <a:p>
            <a:pPr marL="0" indent="0" algn="l">
              <a:buNone/>
            </a:pPr>
            <a:endParaRPr lang="en-US" sz="1000" dirty="0"/>
          </a:p>
        </p:txBody>
      </p:sp>
      <p:sp>
        <p:nvSpPr>
          <p:cNvPr id="54" name="Text 45"/>
          <p:cNvSpPr/>
          <p:nvPr/>
        </p:nvSpPr>
        <p:spPr>
          <a:xfrm>
            <a:off x="457200" y="6473952"/>
            <a:ext cx="7315200" cy="274320"/>
          </a:xfrm>
          <a:prstGeom prst="rect">
            <a:avLst/>
          </a:prstGeom>
          <a:noFill/>
          <a:ln/>
        </p:spPr>
        <p:txBody>
          <a:bodyPr wrap="square" rtlCol="0" anchor="ctr"/>
          <a:lstStyle/>
          <a:p>
            <a:pPr marL="0" indent="0" algn="l">
              <a:buNone/>
            </a:pPr>
            <a:endParaRPr lang="en-US" sz="850" dirty="0"/>
          </a:p>
        </p:txBody>
      </p:sp>
      <p:sp>
        <p:nvSpPr>
          <p:cNvPr id="56" name="TextBox 55"/>
          <p:cNvSpPr txBox="1"/>
          <p:nvPr/>
        </p:nvSpPr>
        <p:spPr>
          <a:xfrm>
            <a:off x="4754880" y="1131277"/>
            <a:ext cx="6995160" cy="4493538"/>
          </a:xfrm>
          <a:prstGeom prst="rect">
            <a:avLst/>
          </a:prstGeom>
          <a:noFill/>
        </p:spPr>
        <p:txBody>
          <a:bodyPr wrap="square" lIns="164592" tIns="91440" rIns="164592" bIns="91440" anchor="t">
            <a:spAutoFit/>
          </a:bodyPr>
          <a:lstStyle/>
          <a:p>
            <a:pPr algn="l"/>
            <a:r>
              <a:rPr sz="2400" b="1" dirty="0">
                <a:solidFill>
                  <a:srgbClr val="1E2761"/>
                </a:solidFill>
                <a:latin typeface="Calibri"/>
              </a:rPr>
              <a:t>Runtime Steps:</a:t>
            </a:r>
          </a:p>
          <a:p>
            <a:pPr algn="l"/>
            <a:endParaRPr sz="2200" b="1" dirty="0">
              <a:solidFill>
                <a:srgbClr val="1E2761"/>
              </a:solidFill>
              <a:latin typeface="Calibri"/>
            </a:endParaRPr>
          </a:p>
          <a:p>
            <a:pPr algn="l"/>
            <a:r>
              <a:rPr sz="1800" b="0" dirty="0">
                <a:solidFill>
                  <a:srgbClr val="1E2761"/>
                </a:solidFill>
                <a:latin typeface="Calibri"/>
              </a:rPr>
              <a:t>1.  </a:t>
            </a:r>
            <a:r>
              <a:rPr sz="1800" b="0" dirty="0" err="1">
                <a:solidFill>
                  <a:srgbClr val="1E2761"/>
                </a:solidFill>
                <a:latin typeface="Calibri"/>
              </a:rPr>
              <a:t>check_retrieval_needed</a:t>
            </a:r>
            <a:endParaRPr sz="1800" b="0" dirty="0">
              <a:solidFill>
                <a:srgbClr val="1E2761"/>
              </a:solidFill>
              <a:latin typeface="Calibri"/>
            </a:endParaRPr>
          </a:p>
          <a:p>
            <a:pPr algn="l"/>
            <a:r>
              <a:rPr sz="1800" b="0" dirty="0">
                <a:solidFill>
                  <a:srgbClr val="1E2761"/>
                </a:solidFill>
                <a:latin typeface="Calibri"/>
              </a:rPr>
              <a:t>    Greeting or needs retrieval?</a:t>
            </a:r>
          </a:p>
          <a:p>
            <a:pPr algn="l"/>
            <a:r>
              <a:rPr sz="1800" b="0" dirty="0">
                <a:solidFill>
                  <a:srgbClr val="1E2761"/>
                </a:solidFill>
                <a:latin typeface="Calibri"/>
              </a:rPr>
              <a:t>2.  </a:t>
            </a:r>
            <a:r>
              <a:rPr sz="1800" b="0" dirty="0" err="1">
                <a:solidFill>
                  <a:srgbClr val="1E2761"/>
                </a:solidFill>
                <a:latin typeface="Calibri"/>
              </a:rPr>
              <a:t>understand_query</a:t>
            </a:r>
            <a:endParaRPr sz="1800" b="0" dirty="0">
              <a:solidFill>
                <a:srgbClr val="1E2761"/>
              </a:solidFill>
              <a:latin typeface="Calibri"/>
            </a:endParaRPr>
          </a:p>
          <a:p>
            <a:pPr algn="l"/>
            <a:r>
              <a:rPr sz="1800" b="0" dirty="0">
                <a:solidFill>
                  <a:srgbClr val="1E2761"/>
                </a:solidFill>
                <a:latin typeface="Calibri"/>
              </a:rPr>
              <a:t>    LLM -&gt; </a:t>
            </a:r>
            <a:r>
              <a:rPr sz="1800" b="0" dirty="0" err="1">
                <a:solidFill>
                  <a:srgbClr val="1E2761"/>
                </a:solidFill>
                <a:latin typeface="Calibri"/>
              </a:rPr>
              <a:t>search_query</a:t>
            </a:r>
            <a:endParaRPr sz="1800" b="0" dirty="0">
              <a:solidFill>
                <a:srgbClr val="1E2761"/>
              </a:solidFill>
              <a:latin typeface="Calibri"/>
            </a:endParaRPr>
          </a:p>
          <a:p>
            <a:pPr algn="l"/>
            <a:r>
              <a:rPr sz="1800" b="0" dirty="0">
                <a:solidFill>
                  <a:srgbClr val="1E2761"/>
                </a:solidFill>
                <a:latin typeface="Calibri"/>
              </a:rPr>
              <a:t>3.  </a:t>
            </a:r>
            <a:r>
              <a:rPr sz="1800" b="0" dirty="0" err="1">
                <a:solidFill>
                  <a:srgbClr val="1E2761"/>
                </a:solidFill>
                <a:latin typeface="Calibri"/>
              </a:rPr>
              <a:t>hybrid_retrieval</a:t>
            </a:r>
            <a:endParaRPr sz="1800" b="0" dirty="0">
              <a:solidFill>
                <a:srgbClr val="1E2761"/>
              </a:solidFill>
              <a:latin typeface="Calibri"/>
            </a:endParaRPr>
          </a:p>
          <a:p>
            <a:pPr algn="l"/>
            <a:r>
              <a:rPr sz="1800" b="0" dirty="0">
                <a:solidFill>
                  <a:srgbClr val="1E2761"/>
                </a:solidFill>
                <a:latin typeface="Calibri"/>
              </a:rPr>
              <a:t>    FAISS + BM25 -&gt; deduplicated docs</a:t>
            </a:r>
          </a:p>
          <a:p>
            <a:pPr algn="l"/>
            <a:r>
              <a:rPr sz="1800" b="0" dirty="0">
                <a:solidFill>
                  <a:srgbClr val="1E2761"/>
                </a:solidFill>
                <a:latin typeface="Calibri"/>
              </a:rPr>
              <a:t>4.  </a:t>
            </a:r>
            <a:r>
              <a:rPr sz="1800" b="0" dirty="0" err="1">
                <a:solidFill>
                  <a:srgbClr val="1E2761"/>
                </a:solidFill>
                <a:latin typeface="Calibri"/>
              </a:rPr>
              <a:t>verify_evidence</a:t>
            </a:r>
            <a:endParaRPr sz="1800" b="0" dirty="0">
              <a:solidFill>
                <a:srgbClr val="1E2761"/>
              </a:solidFill>
              <a:latin typeface="Calibri"/>
            </a:endParaRPr>
          </a:p>
          <a:p>
            <a:pPr algn="l"/>
            <a:r>
              <a:rPr sz="1800" b="0" dirty="0">
                <a:solidFill>
                  <a:srgbClr val="1E2761"/>
                </a:solidFill>
                <a:latin typeface="Calibri"/>
              </a:rPr>
              <a:t>    LLM -&gt; </a:t>
            </a:r>
            <a:r>
              <a:rPr sz="1800" b="0" dirty="0" err="1">
                <a:solidFill>
                  <a:srgbClr val="1E2761"/>
                </a:solidFill>
                <a:latin typeface="Calibri"/>
              </a:rPr>
              <a:t>EvidenceVerification</a:t>
            </a:r>
            <a:r>
              <a:rPr sz="1800" b="0" dirty="0">
                <a:solidFill>
                  <a:srgbClr val="1E2761"/>
                </a:solidFill>
                <a:latin typeface="Calibri"/>
              </a:rPr>
              <a:t> object</a:t>
            </a:r>
          </a:p>
          <a:p>
            <a:pPr algn="l"/>
            <a:r>
              <a:rPr sz="1800" b="0" dirty="0">
                <a:solidFill>
                  <a:srgbClr val="1E2761"/>
                </a:solidFill>
                <a:latin typeface="Calibri"/>
              </a:rPr>
              <a:t>5.  </a:t>
            </a:r>
            <a:r>
              <a:rPr sz="1800" b="0" dirty="0" err="1">
                <a:solidFill>
                  <a:srgbClr val="1E2761"/>
                </a:solidFill>
                <a:latin typeface="Calibri"/>
              </a:rPr>
              <a:t>enough_evidence</a:t>
            </a:r>
            <a:r>
              <a:rPr sz="1800" b="0" dirty="0">
                <a:solidFill>
                  <a:srgbClr val="1E2761"/>
                </a:solidFill>
                <a:latin typeface="Calibri"/>
              </a:rPr>
              <a:t>?</a:t>
            </a:r>
          </a:p>
          <a:p>
            <a:pPr algn="l"/>
            <a:r>
              <a:rPr sz="1800" b="0" dirty="0">
                <a:solidFill>
                  <a:srgbClr val="1E2761"/>
                </a:solidFill>
                <a:latin typeface="Calibri"/>
              </a:rPr>
              <a:t>    YES -&gt; </a:t>
            </a:r>
            <a:r>
              <a:rPr sz="1800" b="0" dirty="0" err="1">
                <a:solidFill>
                  <a:srgbClr val="1E2761"/>
                </a:solidFill>
                <a:latin typeface="Calibri"/>
              </a:rPr>
              <a:t>generate_answer</a:t>
            </a:r>
            <a:endParaRPr sz="1800" b="0" dirty="0">
              <a:solidFill>
                <a:srgbClr val="1E2761"/>
              </a:solidFill>
              <a:latin typeface="Calibri"/>
            </a:endParaRPr>
          </a:p>
          <a:p>
            <a:pPr algn="l"/>
            <a:r>
              <a:rPr sz="1800" b="0" dirty="0">
                <a:solidFill>
                  <a:srgbClr val="1E2761"/>
                </a:solidFill>
                <a:latin typeface="Calibri"/>
              </a:rPr>
              <a:t>    NO (iter &lt; max) -&gt; </a:t>
            </a:r>
            <a:r>
              <a:rPr sz="1800" b="0" dirty="0" err="1">
                <a:solidFill>
                  <a:srgbClr val="1E2761"/>
                </a:solidFill>
                <a:latin typeface="Calibri"/>
              </a:rPr>
              <a:t>improve_query</a:t>
            </a:r>
            <a:r>
              <a:rPr sz="1800" b="0" dirty="0">
                <a:solidFill>
                  <a:srgbClr val="1E2761"/>
                </a:solidFill>
                <a:latin typeface="Calibri"/>
              </a:rPr>
              <a:t> -&gt; retrieve again</a:t>
            </a:r>
          </a:p>
          <a:p>
            <a:pPr algn="l"/>
            <a:r>
              <a:rPr sz="1800" b="0" dirty="0">
                <a:solidFill>
                  <a:srgbClr val="1E2761"/>
                </a:solidFill>
                <a:latin typeface="Calibri"/>
              </a:rPr>
              <a:t>    NO (iter &gt;= max) -&gt; </a:t>
            </a:r>
            <a:r>
              <a:rPr sz="1800" b="0" dirty="0" err="1">
                <a:solidFill>
                  <a:srgbClr val="1E2761"/>
                </a:solidFill>
                <a:latin typeface="Calibri"/>
              </a:rPr>
              <a:t>web_search</a:t>
            </a:r>
            <a:r>
              <a:rPr sz="1800" b="0" dirty="0">
                <a:solidFill>
                  <a:srgbClr val="1E2761"/>
                </a:solidFill>
                <a:latin typeface="Calibri"/>
              </a:rPr>
              <a:t> (</a:t>
            </a:r>
            <a:r>
              <a:rPr sz="1800" b="0" dirty="0" err="1">
                <a:solidFill>
                  <a:srgbClr val="1E2761"/>
                </a:solidFill>
                <a:latin typeface="Calibri"/>
              </a:rPr>
              <a:t>Tavily</a:t>
            </a:r>
            <a:r>
              <a:rPr sz="1800" b="0" dirty="0">
                <a:solidFill>
                  <a:srgbClr val="1E2761"/>
                </a:solidFill>
                <a:latin typeface="Calibri"/>
              </a:rPr>
              <a:t>)</a:t>
            </a:r>
          </a:p>
          <a:p>
            <a:pPr algn="l"/>
            <a:r>
              <a:rPr sz="1800" b="1" dirty="0">
                <a:solidFill>
                  <a:srgbClr val="1E2761"/>
                </a:solidFill>
                <a:latin typeface="Calibri"/>
              </a:rPr>
              <a:t>6.  Output: Answer</a:t>
            </a:r>
            <a:r>
              <a:rPr lang="en-US" sz="1800" b="1" dirty="0">
                <a:solidFill>
                  <a:srgbClr val="1E2761"/>
                </a:solidFill>
                <a:latin typeface="Calibri"/>
              </a:rPr>
              <a:t> + Sources + Confidence</a:t>
            </a:r>
          </a:p>
        </p:txBody>
      </p:sp>
      <p:pic>
        <p:nvPicPr>
          <p:cNvPr id="15" name="Picture 14">
            <a:extLst>
              <a:ext uri="{FF2B5EF4-FFF2-40B4-BE49-F238E27FC236}">
                <a16:creationId xmlns:a16="http://schemas.microsoft.com/office/drawing/2014/main" id="{FDFA5FF0-19C0-2C0E-894C-2E604E5C2F15}"/>
              </a:ext>
            </a:extLst>
          </p:cNvPr>
          <p:cNvPicPr>
            <a:picLocks noChangeAspect="1"/>
          </p:cNvPicPr>
          <p:nvPr/>
        </p:nvPicPr>
        <p:blipFill>
          <a:blip r:embed="rId3"/>
          <a:stretch>
            <a:fillRect/>
          </a:stretch>
        </p:blipFill>
        <p:spPr>
          <a:xfrm>
            <a:off x="330591" y="826477"/>
            <a:ext cx="3825240" cy="5940083"/>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15">
    <p:bg>
      <p:bgPr>
        <a:solidFill>
          <a:srgbClr val="F7F9FC"/>
        </a:solidFill>
        <a:effectLst/>
      </p:bgPr>
    </p:bg>
    <p:spTree>
      <p:nvGrpSpPr>
        <p:cNvPr id="1" name=""/>
        <p:cNvGrpSpPr/>
        <p:nvPr/>
      </p:nvGrpSpPr>
      <p:grpSpPr>
        <a:xfrm>
          <a:off x="0" y="0"/>
          <a:ext cx="0" cy="0"/>
          <a:chOff x="0" y="0"/>
          <a:chExt cx="0" cy="0"/>
        </a:xfrm>
      </p:grpSpPr>
      <p:sp>
        <p:nvSpPr>
          <p:cNvPr id="2" name="Text 0"/>
          <p:cNvSpPr/>
          <p:nvPr/>
        </p:nvSpPr>
        <p:spPr>
          <a:xfrm>
            <a:off x="548640" y="384048"/>
            <a:ext cx="11064240" cy="685800"/>
          </a:xfrm>
          <a:prstGeom prst="rect">
            <a:avLst/>
          </a:prstGeom>
          <a:noFill/>
          <a:ln/>
        </p:spPr>
        <p:txBody>
          <a:bodyPr wrap="square" rtlCol="0" anchor="ctr"/>
          <a:lstStyle/>
          <a:p>
            <a:pPr marL="0" indent="0" algn="l">
              <a:buNone/>
            </a:pPr>
            <a:r>
              <a:rPr sz="3000" b="1">
                <a:solidFill>
                  <a:srgbClr val="1E2761"/>
                </a:solidFill>
                <a:latin typeface="Cambria"/>
              </a:rPr>
              <a:t>Hybrid Retrieval &amp; Evidence Verification</a:t>
            </a:r>
            <a:endParaRPr lang="en-US" sz="3200" dirty="0"/>
          </a:p>
        </p:txBody>
      </p:sp>
      <p:sp>
        <p:nvSpPr>
          <p:cNvPr id="3" name="Text 1"/>
          <p:cNvSpPr/>
          <p:nvPr/>
        </p:nvSpPr>
        <p:spPr>
          <a:xfrm>
            <a:off x="548640" y="91440"/>
            <a:ext cx="9144000" cy="274320"/>
          </a:xfrm>
          <a:prstGeom prst="rect">
            <a:avLst/>
          </a:prstGeom>
          <a:noFill/>
          <a:ln/>
        </p:spPr>
        <p:txBody>
          <a:bodyPr wrap="square" rtlCol="0" anchor="ctr"/>
          <a:lstStyle/>
          <a:p>
            <a:pPr marL="0" indent="0" algn="l">
              <a:buNone/>
            </a:pPr>
            <a:r>
              <a:rPr sz="1200" b="1">
                <a:solidFill>
                  <a:srgbClr val="C89B3C"/>
                </a:solidFill>
              </a:rPr>
              <a:t>HOW WE RETRIEVE AND VALIDATE EVIDENCE</a:t>
            </a:r>
            <a:endParaRPr lang="en-US" sz="1100" dirty="0"/>
          </a:p>
        </p:txBody>
      </p:sp>
      <p:sp>
        <p:nvSpPr>
          <p:cNvPr id="4" name="Shape 2"/>
          <p:cNvSpPr/>
          <p:nvPr/>
        </p:nvSpPr>
        <p:spPr>
          <a:xfrm>
            <a:off x="640080" y="1600200"/>
            <a:ext cx="2157984" cy="4873752"/>
          </a:xfrm>
          <a:prstGeom prst="roundRect">
            <a:avLst>
              <a:gd name="adj" fmla="val 3571"/>
            </a:avLst>
          </a:prstGeom>
          <a:solidFill>
            <a:srgbClr val="FFFFFF"/>
          </a:solidFill>
          <a:ln w="12700">
            <a:solidFill>
              <a:srgbClr val="CADCFC"/>
            </a:solidFill>
            <a:prstDash val="solid"/>
          </a:ln>
          <a:effectLst>
            <a:outerShdw blurRad="101600" dist="25400" dir="5400000" algn="bl" rotWithShape="0">
              <a:srgbClr val="1E2761">
                <a:alpha val="12000"/>
              </a:srgbClr>
            </a:outerShdw>
          </a:effectLst>
        </p:spPr>
        <p:txBody>
          <a:bodyPr/>
          <a:lstStyle/>
          <a:p>
            <a:endParaRPr lang="en-US"/>
          </a:p>
        </p:txBody>
      </p:sp>
      <p:sp>
        <p:nvSpPr>
          <p:cNvPr id="5" name="Shape 3"/>
          <p:cNvSpPr/>
          <p:nvPr/>
        </p:nvSpPr>
        <p:spPr>
          <a:xfrm>
            <a:off x="1335024" y="1965960"/>
            <a:ext cx="658368" cy="658368"/>
          </a:xfrm>
          <a:prstGeom prst="ellipse">
            <a:avLst/>
          </a:prstGeom>
          <a:solidFill>
            <a:srgbClr val="1E2761"/>
          </a:solidFill>
          <a:ln/>
        </p:spPr>
        <p:txBody>
          <a:bodyPr/>
          <a:lstStyle/>
          <a:p>
            <a:endParaRPr lang="en-US"/>
          </a:p>
        </p:txBody>
      </p:sp>
      <p:sp>
        <p:nvSpPr>
          <p:cNvPr id="7" name="Text 4"/>
          <p:cNvSpPr/>
          <p:nvPr/>
        </p:nvSpPr>
        <p:spPr>
          <a:xfrm>
            <a:off x="768096" y="2880360"/>
            <a:ext cx="1792224" cy="658368"/>
          </a:xfrm>
          <a:prstGeom prst="rect">
            <a:avLst/>
          </a:prstGeom>
          <a:noFill/>
          <a:ln/>
        </p:spPr>
        <p:txBody>
          <a:bodyPr wrap="square" rtlCol="0" anchor="ctr"/>
          <a:lstStyle/>
          <a:p>
            <a:pPr marL="0" indent="0" algn="ctr">
              <a:buNone/>
            </a:pPr>
            <a:r>
              <a:rPr sz="1800" b="1">
                <a:solidFill>
                  <a:srgbClr val="1E2761"/>
                </a:solidFill>
              </a:rPr>
              <a:t>Hybrid Retrieval</a:t>
            </a:r>
            <a:endParaRPr lang="en-US" sz="1250" dirty="0"/>
          </a:p>
        </p:txBody>
      </p:sp>
      <p:sp>
        <p:nvSpPr>
          <p:cNvPr id="8" name="Text 5"/>
          <p:cNvSpPr/>
          <p:nvPr/>
        </p:nvSpPr>
        <p:spPr>
          <a:xfrm>
            <a:off x="786384" y="3566160"/>
            <a:ext cx="1755648" cy="2057400"/>
          </a:xfrm>
          <a:prstGeom prst="rect">
            <a:avLst/>
          </a:prstGeom>
          <a:noFill/>
          <a:ln/>
        </p:spPr>
        <p:txBody>
          <a:bodyPr wrap="square" rtlCol="0" anchor="t"/>
          <a:lstStyle/>
          <a:p>
            <a:pPr marL="0" indent="0">
              <a:buNone/>
            </a:pPr>
            <a:r>
              <a:rPr sz="1500" b="0" dirty="0">
                <a:solidFill>
                  <a:srgbClr val="2A2E3A"/>
                </a:solidFill>
              </a:rPr>
              <a:t>  FAISS similarity search (dense semantic vectors)</a:t>
            </a:r>
            <a:endParaRPr lang="en-US" sz="1000" dirty="0"/>
          </a:p>
          <a:p>
            <a:r>
              <a:rPr sz="1500" b="0" dirty="0">
                <a:solidFill>
                  <a:srgbClr val="2A2E3A"/>
                </a:solidFill>
              </a:rPr>
              <a:t>  BM25 keyword scoring (sparse retrieval)</a:t>
            </a:r>
          </a:p>
          <a:p>
            <a:r>
              <a:rPr sz="1500" b="0" dirty="0">
                <a:solidFill>
                  <a:srgbClr val="2A2E3A"/>
                </a:solidFill>
              </a:rPr>
              <a:t>  Results deduplicated and merged</a:t>
            </a:r>
          </a:p>
          <a:p>
            <a:r>
              <a:rPr sz="1500" b="0" dirty="0">
                <a:solidFill>
                  <a:srgbClr val="2A2E3A"/>
                </a:solidFill>
              </a:rPr>
              <a:t>  Covers both semantic and keyword relevance</a:t>
            </a:r>
          </a:p>
        </p:txBody>
      </p:sp>
      <p:sp>
        <p:nvSpPr>
          <p:cNvPr id="9" name="Shape 6"/>
          <p:cNvSpPr/>
          <p:nvPr/>
        </p:nvSpPr>
        <p:spPr>
          <a:xfrm>
            <a:off x="2816351" y="1600200"/>
            <a:ext cx="2101479" cy="4873752"/>
          </a:xfrm>
          <a:prstGeom prst="roundRect">
            <a:avLst>
              <a:gd name="adj" fmla="val 3571"/>
            </a:avLst>
          </a:prstGeom>
          <a:solidFill>
            <a:srgbClr val="FFFFFF"/>
          </a:solidFill>
          <a:ln w="12700">
            <a:solidFill>
              <a:srgbClr val="CADCFC"/>
            </a:solidFill>
            <a:prstDash val="solid"/>
          </a:ln>
          <a:effectLst>
            <a:outerShdw blurRad="101600" dist="25400" dir="5400000" algn="bl" rotWithShape="0">
              <a:srgbClr val="1E2761">
                <a:alpha val="12000"/>
              </a:srgbClr>
            </a:outerShdw>
          </a:effectLst>
        </p:spPr>
        <p:txBody>
          <a:bodyPr/>
          <a:lstStyle/>
          <a:p>
            <a:endParaRPr lang="en-US"/>
          </a:p>
        </p:txBody>
      </p:sp>
      <p:sp>
        <p:nvSpPr>
          <p:cNvPr id="10" name="Shape 7"/>
          <p:cNvSpPr/>
          <p:nvPr/>
        </p:nvSpPr>
        <p:spPr>
          <a:xfrm>
            <a:off x="3511296" y="1965960"/>
            <a:ext cx="658368" cy="658368"/>
          </a:xfrm>
          <a:prstGeom prst="ellipse">
            <a:avLst/>
          </a:prstGeom>
          <a:solidFill>
            <a:srgbClr val="1E2761"/>
          </a:solidFill>
          <a:ln/>
        </p:spPr>
        <p:txBody>
          <a:bodyPr/>
          <a:lstStyle/>
          <a:p>
            <a:endParaRPr lang="en-US"/>
          </a:p>
        </p:txBody>
      </p:sp>
      <p:sp>
        <p:nvSpPr>
          <p:cNvPr id="12" name="Text 8"/>
          <p:cNvSpPr/>
          <p:nvPr/>
        </p:nvSpPr>
        <p:spPr>
          <a:xfrm>
            <a:off x="2944368" y="2880360"/>
            <a:ext cx="1792224" cy="658368"/>
          </a:xfrm>
          <a:prstGeom prst="rect">
            <a:avLst/>
          </a:prstGeom>
          <a:noFill/>
          <a:ln/>
        </p:spPr>
        <p:txBody>
          <a:bodyPr wrap="square" rtlCol="0" anchor="ctr"/>
          <a:lstStyle/>
          <a:p>
            <a:pPr marL="0" indent="0" algn="ctr">
              <a:buNone/>
            </a:pPr>
            <a:r>
              <a:rPr sz="1800" b="1">
                <a:solidFill>
                  <a:srgbClr val="1E2761"/>
                </a:solidFill>
              </a:rPr>
              <a:t>Evidence Verification</a:t>
            </a:r>
            <a:endParaRPr lang="en-US" sz="1250" dirty="0"/>
          </a:p>
        </p:txBody>
      </p:sp>
      <p:sp>
        <p:nvSpPr>
          <p:cNvPr id="13" name="Text 9"/>
          <p:cNvSpPr/>
          <p:nvPr/>
        </p:nvSpPr>
        <p:spPr>
          <a:xfrm>
            <a:off x="2962656" y="3566160"/>
            <a:ext cx="1755648" cy="2057400"/>
          </a:xfrm>
          <a:prstGeom prst="rect">
            <a:avLst/>
          </a:prstGeom>
          <a:noFill/>
          <a:ln/>
        </p:spPr>
        <p:txBody>
          <a:bodyPr wrap="square" rtlCol="0" anchor="t"/>
          <a:lstStyle/>
          <a:p>
            <a:pPr marL="0" indent="0" algn="l">
              <a:buNone/>
            </a:pPr>
            <a:r>
              <a:rPr sz="1500" b="0">
                <a:solidFill>
                  <a:srgbClr val="2A2E3A"/>
                </a:solidFill>
              </a:rPr>
              <a:t>  LLM evaluates each retrieved document</a:t>
            </a:r>
            <a:endParaRPr lang="en-US" sz="1000" dirty="0"/>
          </a:p>
          <a:p>
            <a:pPr algn="l"/>
            <a:r>
              <a:rPr sz="1500" b="0">
                <a:solidFill>
                  <a:srgbClr val="2A2E3A"/>
                </a:solidFill>
              </a:rPr>
              <a:t>  Checks relevance, coverage, and reliability</a:t>
            </a:r>
          </a:p>
          <a:p>
            <a:pPr algn="l"/>
            <a:r>
              <a:rPr sz="1500" b="0">
                <a:solidFill>
                  <a:srgbClr val="2A2E3A"/>
                </a:solidFill>
              </a:rPr>
              <a:t>  Returns structured EvidenceVerification output</a:t>
            </a:r>
          </a:p>
          <a:p>
            <a:pPr algn="l"/>
            <a:r>
              <a:rPr sz="1500" b="0">
                <a:solidFill>
                  <a:srgbClr val="2A2E3A"/>
                </a:solidFill>
              </a:rPr>
              <a:t>  If insufficient -&gt; triggers query refinement</a:t>
            </a:r>
          </a:p>
        </p:txBody>
      </p:sp>
      <p:sp>
        <p:nvSpPr>
          <p:cNvPr id="14" name="Shape 10"/>
          <p:cNvSpPr/>
          <p:nvPr/>
        </p:nvSpPr>
        <p:spPr>
          <a:xfrm>
            <a:off x="4992623" y="1600200"/>
            <a:ext cx="2101479" cy="4873752"/>
          </a:xfrm>
          <a:prstGeom prst="roundRect">
            <a:avLst>
              <a:gd name="adj" fmla="val 3571"/>
            </a:avLst>
          </a:prstGeom>
          <a:solidFill>
            <a:srgbClr val="FFFFFF"/>
          </a:solidFill>
          <a:ln w="12700">
            <a:solidFill>
              <a:srgbClr val="CADCFC"/>
            </a:solidFill>
            <a:prstDash val="solid"/>
          </a:ln>
          <a:effectLst>
            <a:outerShdw blurRad="101600" dist="25400" dir="5400000" algn="bl" rotWithShape="0">
              <a:srgbClr val="1E2761">
                <a:alpha val="12000"/>
              </a:srgbClr>
            </a:outerShdw>
          </a:effectLst>
        </p:spPr>
        <p:txBody>
          <a:bodyPr/>
          <a:lstStyle/>
          <a:p>
            <a:endParaRPr lang="en-US"/>
          </a:p>
        </p:txBody>
      </p:sp>
      <p:sp>
        <p:nvSpPr>
          <p:cNvPr id="15" name="Shape 11"/>
          <p:cNvSpPr/>
          <p:nvPr/>
        </p:nvSpPr>
        <p:spPr>
          <a:xfrm>
            <a:off x="5687568" y="1965960"/>
            <a:ext cx="658368" cy="658368"/>
          </a:xfrm>
          <a:prstGeom prst="ellipse">
            <a:avLst/>
          </a:prstGeom>
          <a:solidFill>
            <a:srgbClr val="1E2761"/>
          </a:solidFill>
          <a:ln/>
        </p:spPr>
        <p:txBody>
          <a:bodyPr/>
          <a:lstStyle/>
          <a:p>
            <a:endParaRPr lang="en-US"/>
          </a:p>
        </p:txBody>
      </p:sp>
      <p:sp>
        <p:nvSpPr>
          <p:cNvPr id="17" name="Text 12"/>
          <p:cNvSpPr/>
          <p:nvPr/>
        </p:nvSpPr>
        <p:spPr>
          <a:xfrm>
            <a:off x="5120640" y="2880360"/>
            <a:ext cx="1792224" cy="658368"/>
          </a:xfrm>
          <a:prstGeom prst="rect">
            <a:avLst/>
          </a:prstGeom>
          <a:noFill/>
          <a:ln/>
        </p:spPr>
        <p:txBody>
          <a:bodyPr wrap="square" rtlCol="0" anchor="ctr"/>
          <a:lstStyle/>
          <a:p>
            <a:pPr marL="0" indent="0" algn="ctr">
              <a:buNone/>
            </a:pPr>
            <a:r>
              <a:rPr sz="1800" b="1">
                <a:solidFill>
                  <a:srgbClr val="1E2761"/>
                </a:solidFill>
              </a:rPr>
              <a:t>Iterative Query Refinement</a:t>
            </a:r>
            <a:endParaRPr lang="en-US" sz="1250" dirty="0"/>
          </a:p>
        </p:txBody>
      </p:sp>
      <p:sp>
        <p:nvSpPr>
          <p:cNvPr id="18" name="Text 13"/>
          <p:cNvSpPr/>
          <p:nvPr/>
        </p:nvSpPr>
        <p:spPr>
          <a:xfrm>
            <a:off x="5138928" y="3566160"/>
            <a:ext cx="1755648" cy="2057400"/>
          </a:xfrm>
          <a:prstGeom prst="rect">
            <a:avLst/>
          </a:prstGeom>
          <a:noFill/>
          <a:ln/>
        </p:spPr>
        <p:txBody>
          <a:bodyPr wrap="square" rtlCol="0" anchor="t"/>
          <a:lstStyle/>
          <a:p>
            <a:pPr marL="0" indent="0" algn="l">
              <a:buNone/>
            </a:pPr>
            <a:r>
              <a:rPr sz="1500" b="0">
                <a:solidFill>
                  <a:srgbClr val="2A2E3A"/>
                </a:solidFill>
              </a:rPr>
              <a:t>  improve_query node creates a refined search query</a:t>
            </a:r>
            <a:endParaRPr lang="en-US" sz="1000" dirty="0"/>
          </a:p>
          <a:p>
            <a:pPr algn="l"/>
            <a:r>
              <a:rPr sz="1500" b="0">
                <a:solidFill>
                  <a:srgbClr val="2A2E3A"/>
                </a:solidFill>
              </a:rPr>
              <a:t>  Retrieves again from the same knowledge base</a:t>
            </a:r>
          </a:p>
          <a:p>
            <a:pPr algn="l"/>
            <a:r>
              <a:rPr sz="1500" b="0">
                <a:solidFill>
                  <a:srgbClr val="2A2E3A"/>
                </a:solidFill>
              </a:rPr>
              <a:t>  Repeats until sufficient or max iterations reached</a:t>
            </a:r>
          </a:p>
        </p:txBody>
      </p:sp>
      <p:sp>
        <p:nvSpPr>
          <p:cNvPr id="19" name="Shape 14"/>
          <p:cNvSpPr/>
          <p:nvPr/>
        </p:nvSpPr>
        <p:spPr>
          <a:xfrm>
            <a:off x="7168896" y="1600199"/>
            <a:ext cx="2060448" cy="4873751"/>
          </a:xfrm>
          <a:prstGeom prst="roundRect">
            <a:avLst>
              <a:gd name="adj" fmla="val 3571"/>
            </a:avLst>
          </a:prstGeom>
          <a:solidFill>
            <a:srgbClr val="FFFFFF"/>
          </a:solidFill>
          <a:ln w="12700">
            <a:solidFill>
              <a:srgbClr val="CADCFC"/>
            </a:solidFill>
            <a:prstDash val="solid"/>
          </a:ln>
          <a:effectLst>
            <a:outerShdw blurRad="101600" dist="25400" dir="5400000" algn="bl" rotWithShape="0">
              <a:srgbClr val="1E2761">
                <a:alpha val="12000"/>
              </a:srgbClr>
            </a:outerShdw>
          </a:effectLst>
        </p:spPr>
        <p:txBody>
          <a:bodyPr/>
          <a:lstStyle/>
          <a:p>
            <a:endParaRPr lang="en-US"/>
          </a:p>
        </p:txBody>
      </p:sp>
      <p:sp>
        <p:nvSpPr>
          <p:cNvPr id="20" name="Shape 15"/>
          <p:cNvSpPr/>
          <p:nvPr/>
        </p:nvSpPr>
        <p:spPr>
          <a:xfrm>
            <a:off x="7863840" y="1965960"/>
            <a:ext cx="658368" cy="658368"/>
          </a:xfrm>
          <a:prstGeom prst="ellipse">
            <a:avLst/>
          </a:prstGeom>
          <a:solidFill>
            <a:srgbClr val="1E2761"/>
          </a:solidFill>
          <a:ln/>
        </p:spPr>
        <p:txBody>
          <a:bodyPr/>
          <a:lstStyle/>
          <a:p>
            <a:endParaRPr lang="en-US"/>
          </a:p>
        </p:txBody>
      </p:sp>
      <p:sp>
        <p:nvSpPr>
          <p:cNvPr id="22" name="Text 16"/>
          <p:cNvSpPr/>
          <p:nvPr/>
        </p:nvSpPr>
        <p:spPr>
          <a:xfrm>
            <a:off x="7296912" y="2880360"/>
            <a:ext cx="1792224" cy="658368"/>
          </a:xfrm>
          <a:prstGeom prst="rect">
            <a:avLst/>
          </a:prstGeom>
          <a:noFill/>
          <a:ln/>
        </p:spPr>
        <p:txBody>
          <a:bodyPr wrap="square" rtlCol="0" anchor="ctr"/>
          <a:lstStyle/>
          <a:p>
            <a:pPr marL="0" indent="0" algn="ctr">
              <a:buNone/>
            </a:pPr>
            <a:r>
              <a:rPr sz="1800" b="1">
                <a:solidFill>
                  <a:srgbClr val="1E2761"/>
                </a:solidFill>
              </a:rPr>
              <a:t>Web Search Fallback</a:t>
            </a:r>
            <a:endParaRPr lang="en-US" sz="1250" dirty="0"/>
          </a:p>
        </p:txBody>
      </p:sp>
      <p:sp>
        <p:nvSpPr>
          <p:cNvPr id="23" name="Text 17"/>
          <p:cNvSpPr/>
          <p:nvPr/>
        </p:nvSpPr>
        <p:spPr>
          <a:xfrm>
            <a:off x="7315200" y="3566160"/>
            <a:ext cx="1755648" cy="2057400"/>
          </a:xfrm>
          <a:prstGeom prst="rect">
            <a:avLst/>
          </a:prstGeom>
          <a:noFill/>
          <a:ln/>
        </p:spPr>
        <p:txBody>
          <a:bodyPr wrap="square" rtlCol="0" anchor="t"/>
          <a:lstStyle/>
          <a:p>
            <a:pPr marL="0" indent="0" algn="l">
              <a:buNone/>
            </a:pPr>
            <a:r>
              <a:rPr sz="1500" b="0">
                <a:solidFill>
                  <a:srgbClr val="2A2E3A"/>
                </a:solidFill>
              </a:rPr>
              <a:t>  Max iterations reached -&gt; Tavily web search</a:t>
            </a:r>
            <a:endParaRPr lang="en-US" sz="1000" dirty="0"/>
          </a:p>
          <a:p>
            <a:pPr algn="l"/>
            <a:r>
              <a:rPr sz="1500" b="0">
                <a:solidFill>
                  <a:srgbClr val="2A2E3A"/>
                </a:solidFill>
              </a:rPr>
              <a:t>  Web results added to evidence pool</a:t>
            </a:r>
          </a:p>
          <a:p>
            <a:pPr algn="l"/>
            <a:r>
              <a:rPr sz="1500" b="0">
                <a:solidFill>
                  <a:srgbClr val="2A2E3A"/>
                </a:solidFill>
              </a:rPr>
              <a:t>  No results -&gt; low-confidence fallback response</a:t>
            </a:r>
          </a:p>
        </p:txBody>
      </p:sp>
      <p:sp>
        <p:nvSpPr>
          <p:cNvPr id="24" name="Shape 18"/>
          <p:cNvSpPr/>
          <p:nvPr/>
        </p:nvSpPr>
        <p:spPr>
          <a:xfrm>
            <a:off x="0" y="0"/>
            <a:ext cx="0" cy="0"/>
          </a:xfrm>
          <a:prstGeom prst="roundRect">
            <a:avLst>
              <a:gd name="adj" fmla="val 3571"/>
            </a:avLst>
          </a:prstGeom>
          <a:solidFill>
            <a:srgbClr val="FFFFFF"/>
          </a:solidFill>
          <a:ln w="12700">
            <a:solidFill>
              <a:srgbClr val="CADCFC"/>
            </a:solidFill>
            <a:prstDash val="solid"/>
          </a:ln>
          <a:effectLst>
            <a:outerShdw blurRad="101600" dist="25400" dir="5400000" algn="bl" rotWithShape="0">
              <a:srgbClr val="1E2761">
                <a:alpha val="12000"/>
              </a:srgbClr>
            </a:outerShdw>
          </a:effectLst>
        </p:spPr>
        <p:txBody>
          <a:bodyPr/>
          <a:lstStyle/>
          <a:p>
            <a:endParaRPr lang="en-US"/>
          </a:p>
        </p:txBody>
      </p:sp>
      <p:sp>
        <p:nvSpPr>
          <p:cNvPr id="25" name="Shape 19"/>
          <p:cNvSpPr/>
          <p:nvPr/>
        </p:nvSpPr>
        <p:spPr>
          <a:xfrm>
            <a:off x="0" y="0"/>
            <a:ext cx="0" cy="0"/>
          </a:xfrm>
          <a:prstGeom prst="ellipse">
            <a:avLst/>
          </a:prstGeom>
          <a:solidFill>
            <a:srgbClr val="1E2761"/>
          </a:solidFill>
          <a:ln/>
        </p:spPr>
        <p:txBody>
          <a:bodyPr/>
          <a:lstStyle/>
          <a:p>
            <a:endParaRPr lang="en-US"/>
          </a:p>
        </p:txBody>
      </p:sp>
      <p:sp>
        <p:nvSpPr>
          <p:cNvPr id="27" name="Text 20"/>
          <p:cNvSpPr/>
          <p:nvPr/>
        </p:nvSpPr>
        <p:spPr>
          <a:xfrm>
            <a:off x="0" y="0"/>
            <a:ext cx="0" cy="0"/>
          </a:xfrm>
          <a:prstGeom prst="rect">
            <a:avLst/>
          </a:prstGeom>
          <a:noFill/>
          <a:ln/>
        </p:spPr>
        <p:txBody>
          <a:bodyPr wrap="square" rtlCol="0" anchor="ctr"/>
          <a:lstStyle/>
          <a:p>
            <a:pPr marL="0" indent="0" algn="l">
              <a:buNone/>
            </a:pPr>
            <a:endParaRPr lang="en-US" sz="1250" dirty="0"/>
          </a:p>
        </p:txBody>
      </p:sp>
      <p:sp>
        <p:nvSpPr>
          <p:cNvPr id="28" name="Text 21"/>
          <p:cNvSpPr/>
          <p:nvPr/>
        </p:nvSpPr>
        <p:spPr>
          <a:xfrm>
            <a:off x="0" y="0"/>
            <a:ext cx="0" cy="0"/>
          </a:xfrm>
          <a:prstGeom prst="rect">
            <a:avLst/>
          </a:prstGeom>
          <a:noFill/>
          <a:ln/>
        </p:spPr>
        <p:txBody>
          <a:bodyPr wrap="square" rtlCol="0" anchor="ctr"/>
          <a:lstStyle/>
          <a:p>
            <a:pPr marL="0" indent="0" algn="l">
              <a:buNone/>
            </a:pPr>
            <a:endParaRPr lang="en-US" sz="1000" dirty="0"/>
          </a:p>
        </p:txBody>
      </p:sp>
      <p:sp>
        <p:nvSpPr>
          <p:cNvPr id="29" name="Text 22"/>
          <p:cNvSpPr/>
          <p:nvPr/>
        </p:nvSpPr>
        <p:spPr>
          <a:xfrm>
            <a:off x="11475720" y="6473952"/>
            <a:ext cx="548640" cy="274320"/>
          </a:xfrm>
          <a:prstGeom prst="rect">
            <a:avLst/>
          </a:prstGeom>
          <a:noFill/>
          <a:ln/>
        </p:spPr>
        <p:txBody>
          <a:bodyPr wrap="square" rtlCol="0" anchor="ctr"/>
          <a:lstStyle/>
          <a:p>
            <a:pPr marL="0" indent="0" algn="l">
              <a:buNone/>
            </a:pPr>
            <a:endParaRPr lang="en-US" sz="1000" dirty="0"/>
          </a:p>
        </p:txBody>
      </p:sp>
      <p:sp>
        <p:nvSpPr>
          <p:cNvPr id="30" name="Text 23"/>
          <p:cNvSpPr/>
          <p:nvPr/>
        </p:nvSpPr>
        <p:spPr>
          <a:xfrm>
            <a:off x="457200" y="6473952"/>
            <a:ext cx="7315200" cy="274320"/>
          </a:xfrm>
          <a:prstGeom prst="rect">
            <a:avLst/>
          </a:prstGeom>
          <a:noFill/>
          <a:ln/>
        </p:spPr>
        <p:txBody>
          <a:bodyPr wrap="square" rtlCol="0" anchor="ctr"/>
          <a:lstStyle/>
          <a:p>
            <a:pPr marL="0" indent="0" algn="l">
              <a:buNone/>
            </a:pP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13">
    <p:bg>
      <p:bgPr>
        <a:solidFill>
          <a:srgbClr val="F7F9FC"/>
        </a:solidFill>
        <a:effectLst/>
      </p:bgPr>
    </p:bg>
    <p:spTree>
      <p:nvGrpSpPr>
        <p:cNvPr id="1" name=""/>
        <p:cNvGrpSpPr/>
        <p:nvPr/>
      </p:nvGrpSpPr>
      <p:grpSpPr>
        <a:xfrm>
          <a:off x="0" y="0"/>
          <a:ext cx="0" cy="0"/>
          <a:chOff x="0" y="0"/>
          <a:chExt cx="0" cy="0"/>
        </a:xfrm>
      </p:grpSpPr>
      <p:sp>
        <p:nvSpPr>
          <p:cNvPr id="2" name="Text 0"/>
          <p:cNvSpPr/>
          <p:nvPr/>
        </p:nvSpPr>
        <p:spPr>
          <a:xfrm>
            <a:off x="548640" y="384048"/>
            <a:ext cx="11064240" cy="685800"/>
          </a:xfrm>
          <a:prstGeom prst="rect">
            <a:avLst/>
          </a:prstGeom>
          <a:noFill/>
          <a:ln/>
        </p:spPr>
        <p:txBody>
          <a:bodyPr wrap="square" rtlCol="0" anchor="ctr"/>
          <a:lstStyle/>
          <a:p>
            <a:pPr marL="0" indent="0" algn="l">
              <a:buNone/>
            </a:pPr>
            <a:r>
              <a:rPr sz="3400" b="1">
                <a:solidFill>
                  <a:srgbClr val="1E2761"/>
                </a:solidFill>
                <a:latin typeface="Cambria"/>
              </a:rPr>
              <a:t>Technology Stack</a:t>
            </a:r>
            <a:endParaRPr lang="en-US" sz="3200" dirty="0"/>
          </a:p>
        </p:txBody>
      </p:sp>
      <p:sp>
        <p:nvSpPr>
          <p:cNvPr id="3" name="Text 1"/>
          <p:cNvSpPr/>
          <p:nvPr/>
        </p:nvSpPr>
        <p:spPr>
          <a:xfrm>
            <a:off x="548640" y="91440"/>
            <a:ext cx="9144000" cy="274320"/>
          </a:xfrm>
          <a:prstGeom prst="rect">
            <a:avLst/>
          </a:prstGeom>
          <a:noFill/>
          <a:ln/>
        </p:spPr>
        <p:txBody>
          <a:bodyPr wrap="square" rtlCol="0" anchor="ctr"/>
          <a:lstStyle/>
          <a:p>
            <a:pPr marL="0" indent="0" algn="l">
              <a:buNone/>
            </a:pPr>
            <a:r>
              <a:rPr sz="1200" b="1">
                <a:solidFill>
                  <a:srgbClr val="C89B3C"/>
                </a:solidFill>
              </a:rPr>
              <a:t>TOOLS AND TECHNOLOGIES USED</a:t>
            </a:r>
            <a:endParaRPr lang="en-US" sz="1100" dirty="0"/>
          </a:p>
        </p:txBody>
      </p:sp>
      <p:sp>
        <p:nvSpPr>
          <p:cNvPr id="4" name="Shape 2"/>
          <p:cNvSpPr/>
          <p:nvPr/>
        </p:nvSpPr>
        <p:spPr>
          <a:xfrm>
            <a:off x="640080" y="1371600"/>
            <a:ext cx="10881360" cy="658368"/>
          </a:xfrm>
          <a:prstGeom prst="roundRect">
            <a:avLst>
              <a:gd name="adj" fmla="val 11111"/>
            </a:avLst>
          </a:prstGeom>
          <a:solidFill>
            <a:srgbClr val="1E2761"/>
          </a:solidFill>
          <a:ln/>
        </p:spPr>
        <p:txBody>
          <a:bodyPr/>
          <a:lstStyle/>
          <a:p>
            <a:endParaRPr lang="en-US"/>
          </a:p>
        </p:txBody>
      </p:sp>
      <p:sp>
        <p:nvSpPr>
          <p:cNvPr id="5" name="Shape 3"/>
          <p:cNvSpPr/>
          <p:nvPr/>
        </p:nvSpPr>
        <p:spPr>
          <a:xfrm>
            <a:off x="841248" y="1472184"/>
            <a:ext cx="457200" cy="457200"/>
          </a:xfrm>
          <a:prstGeom prst="ellipse">
            <a:avLst/>
          </a:prstGeom>
          <a:solidFill>
            <a:srgbClr val="C89B3C"/>
          </a:solidFill>
          <a:ln/>
        </p:spPr>
        <p:txBody>
          <a:bodyPr/>
          <a:lstStyle/>
          <a:p>
            <a:endParaRPr lang="en-US"/>
          </a:p>
        </p:txBody>
      </p:sp>
      <p:pic>
        <p:nvPicPr>
          <p:cNvPr id="6" name="Image 0" descr="/home/claude/capstone/icons/react_navy.png"/>
          <p:cNvPicPr>
            <a:picLocks noChangeAspect="1"/>
          </p:cNvPicPr>
          <p:nvPr/>
        </p:nvPicPr>
        <p:blipFill>
          <a:blip r:embed="rId3"/>
          <a:stretch>
            <a:fillRect/>
          </a:stretch>
        </p:blipFill>
        <p:spPr>
          <a:xfrm>
            <a:off x="944118" y="1575054"/>
            <a:ext cx="251460" cy="251460"/>
          </a:xfrm>
          <a:prstGeom prst="rect">
            <a:avLst/>
          </a:prstGeom>
        </p:spPr>
      </p:pic>
      <p:sp>
        <p:nvSpPr>
          <p:cNvPr id="7" name="Text 4"/>
          <p:cNvSpPr/>
          <p:nvPr/>
        </p:nvSpPr>
        <p:spPr>
          <a:xfrm>
            <a:off x="1508760" y="1371600"/>
            <a:ext cx="3291840" cy="658368"/>
          </a:xfrm>
          <a:prstGeom prst="rect">
            <a:avLst/>
          </a:prstGeom>
          <a:noFill/>
          <a:ln/>
        </p:spPr>
        <p:txBody>
          <a:bodyPr wrap="square" rtlCol="0" anchor="ctr"/>
          <a:lstStyle/>
          <a:p>
            <a:pPr marL="0" indent="0" algn="l">
              <a:buNone/>
            </a:pPr>
            <a:r>
              <a:rPr sz="2200" b="1" dirty="0">
                <a:solidFill>
                  <a:schemeClr val="bg1"/>
                </a:solidFill>
              </a:rPr>
              <a:t>Frontend</a:t>
            </a:r>
            <a:endParaRPr lang="en-US" sz="1400" dirty="0">
              <a:solidFill>
                <a:schemeClr val="bg1"/>
              </a:solidFill>
            </a:endParaRPr>
          </a:p>
        </p:txBody>
      </p:sp>
      <p:sp>
        <p:nvSpPr>
          <p:cNvPr id="8" name="Text 5"/>
          <p:cNvSpPr/>
          <p:nvPr/>
        </p:nvSpPr>
        <p:spPr>
          <a:xfrm>
            <a:off x="4937760" y="1371600"/>
            <a:ext cx="6309360" cy="658368"/>
          </a:xfrm>
          <a:prstGeom prst="rect">
            <a:avLst/>
          </a:prstGeom>
          <a:noFill/>
          <a:ln/>
        </p:spPr>
        <p:txBody>
          <a:bodyPr wrap="square" rtlCol="0" anchor="ctr"/>
          <a:lstStyle/>
          <a:p>
            <a:pPr marL="0" indent="0" algn="l">
              <a:buNone/>
            </a:pPr>
            <a:r>
              <a:rPr sz="2000" b="0" dirty="0" err="1">
                <a:solidFill>
                  <a:schemeClr val="bg1"/>
                </a:solidFill>
              </a:rPr>
              <a:t>Streamlit</a:t>
            </a:r>
            <a:endParaRPr lang="en-US" sz="1250" dirty="0">
              <a:solidFill>
                <a:schemeClr val="bg1"/>
              </a:solidFill>
            </a:endParaRPr>
          </a:p>
        </p:txBody>
      </p:sp>
      <p:sp>
        <p:nvSpPr>
          <p:cNvPr id="9" name="Shape 6"/>
          <p:cNvSpPr/>
          <p:nvPr/>
        </p:nvSpPr>
        <p:spPr>
          <a:xfrm>
            <a:off x="640080" y="2121408"/>
            <a:ext cx="10881360" cy="658368"/>
          </a:xfrm>
          <a:prstGeom prst="roundRect">
            <a:avLst>
              <a:gd name="adj" fmla="val 11111"/>
            </a:avLst>
          </a:prstGeom>
          <a:solidFill>
            <a:srgbClr val="FFFFFF"/>
          </a:solidFill>
          <a:ln w="12700">
            <a:solidFill>
              <a:srgbClr val="CADCFC"/>
            </a:solidFill>
            <a:prstDash val="solid"/>
          </a:ln>
        </p:spPr>
        <p:txBody>
          <a:bodyPr/>
          <a:lstStyle/>
          <a:p>
            <a:endParaRPr lang="en-US"/>
          </a:p>
        </p:txBody>
      </p:sp>
      <p:sp>
        <p:nvSpPr>
          <p:cNvPr id="10" name="Shape 7"/>
          <p:cNvSpPr/>
          <p:nvPr/>
        </p:nvSpPr>
        <p:spPr>
          <a:xfrm>
            <a:off x="841248" y="2221992"/>
            <a:ext cx="457200" cy="457200"/>
          </a:xfrm>
          <a:prstGeom prst="ellipse">
            <a:avLst/>
          </a:prstGeom>
          <a:solidFill>
            <a:srgbClr val="E8EFFC"/>
          </a:solidFill>
          <a:ln/>
        </p:spPr>
        <p:txBody>
          <a:bodyPr/>
          <a:lstStyle/>
          <a:p>
            <a:endParaRPr lang="en-US"/>
          </a:p>
        </p:txBody>
      </p:sp>
      <p:pic>
        <p:nvPicPr>
          <p:cNvPr id="11" name="Image 1" descr="/home/claude/capstone/icons/server_navy.png"/>
          <p:cNvPicPr>
            <a:picLocks noChangeAspect="1"/>
          </p:cNvPicPr>
          <p:nvPr/>
        </p:nvPicPr>
        <p:blipFill>
          <a:blip r:embed="rId4"/>
          <a:stretch>
            <a:fillRect/>
          </a:stretch>
        </p:blipFill>
        <p:spPr>
          <a:xfrm>
            <a:off x="944118" y="2324862"/>
            <a:ext cx="251460" cy="251460"/>
          </a:xfrm>
          <a:prstGeom prst="rect">
            <a:avLst/>
          </a:prstGeom>
        </p:spPr>
      </p:pic>
      <p:sp>
        <p:nvSpPr>
          <p:cNvPr id="12" name="Text 8"/>
          <p:cNvSpPr/>
          <p:nvPr/>
        </p:nvSpPr>
        <p:spPr>
          <a:xfrm>
            <a:off x="1508760" y="2121408"/>
            <a:ext cx="3291840" cy="658368"/>
          </a:xfrm>
          <a:prstGeom prst="rect">
            <a:avLst/>
          </a:prstGeom>
          <a:noFill/>
          <a:ln/>
        </p:spPr>
        <p:txBody>
          <a:bodyPr wrap="square" rtlCol="0" anchor="ctr"/>
          <a:lstStyle/>
          <a:p>
            <a:pPr marL="0" indent="0" algn="l">
              <a:buNone/>
            </a:pPr>
            <a:r>
              <a:rPr sz="2200" b="1">
                <a:solidFill>
                  <a:srgbClr val="1E2761"/>
                </a:solidFill>
              </a:rPr>
              <a:t>Backend</a:t>
            </a:r>
            <a:endParaRPr lang="en-US" sz="1400" dirty="0"/>
          </a:p>
        </p:txBody>
      </p:sp>
      <p:sp>
        <p:nvSpPr>
          <p:cNvPr id="13" name="Text 9"/>
          <p:cNvSpPr/>
          <p:nvPr/>
        </p:nvSpPr>
        <p:spPr>
          <a:xfrm>
            <a:off x="4937760" y="2121408"/>
            <a:ext cx="6309360" cy="658368"/>
          </a:xfrm>
          <a:prstGeom prst="rect">
            <a:avLst/>
          </a:prstGeom>
          <a:noFill/>
          <a:ln/>
        </p:spPr>
        <p:txBody>
          <a:bodyPr wrap="square" rtlCol="0" anchor="ctr"/>
          <a:lstStyle/>
          <a:p>
            <a:pPr marL="0" indent="0" algn="l">
              <a:buNone/>
            </a:pPr>
            <a:r>
              <a:rPr sz="2000" b="0">
                <a:solidFill>
                  <a:srgbClr val="2A2E3A"/>
                </a:solidFill>
              </a:rPr>
              <a:t>FastAPI  +  LangGraph</a:t>
            </a:r>
            <a:endParaRPr lang="en-US" sz="1250" dirty="0"/>
          </a:p>
        </p:txBody>
      </p:sp>
      <p:sp>
        <p:nvSpPr>
          <p:cNvPr id="14" name="Shape 10"/>
          <p:cNvSpPr/>
          <p:nvPr/>
        </p:nvSpPr>
        <p:spPr>
          <a:xfrm>
            <a:off x="640080" y="2871216"/>
            <a:ext cx="10881360" cy="658368"/>
          </a:xfrm>
          <a:prstGeom prst="roundRect">
            <a:avLst>
              <a:gd name="adj" fmla="val 11111"/>
            </a:avLst>
          </a:prstGeom>
          <a:solidFill>
            <a:srgbClr val="1E2761"/>
          </a:solidFill>
          <a:ln/>
        </p:spPr>
        <p:txBody>
          <a:bodyPr/>
          <a:lstStyle/>
          <a:p>
            <a:endParaRPr lang="en-US"/>
          </a:p>
        </p:txBody>
      </p:sp>
      <p:sp>
        <p:nvSpPr>
          <p:cNvPr id="15" name="Shape 11"/>
          <p:cNvSpPr/>
          <p:nvPr/>
        </p:nvSpPr>
        <p:spPr>
          <a:xfrm>
            <a:off x="841248" y="2971800"/>
            <a:ext cx="457200" cy="457200"/>
          </a:xfrm>
          <a:prstGeom prst="ellipse">
            <a:avLst/>
          </a:prstGeom>
          <a:solidFill>
            <a:srgbClr val="C89B3C"/>
          </a:solidFill>
          <a:ln/>
        </p:spPr>
        <p:txBody>
          <a:bodyPr/>
          <a:lstStyle/>
          <a:p>
            <a:endParaRPr lang="en-US"/>
          </a:p>
        </p:txBody>
      </p:sp>
      <p:pic>
        <p:nvPicPr>
          <p:cNvPr id="16" name="Image 2" descr="/home/claude/capstone/icons/cogs_navy.png"/>
          <p:cNvPicPr>
            <a:picLocks noChangeAspect="1"/>
          </p:cNvPicPr>
          <p:nvPr/>
        </p:nvPicPr>
        <p:blipFill>
          <a:blip r:embed="rId5"/>
          <a:stretch>
            <a:fillRect/>
          </a:stretch>
        </p:blipFill>
        <p:spPr>
          <a:xfrm>
            <a:off x="944118" y="3074670"/>
            <a:ext cx="251460" cy="251460"/>
          </a:xfrm>
          <a:prstGeom prst="rect">
            <a:avLst/>
          </a:prstGeom>
        </p:spPr>
      </p:pic>
      <p:sp>
        <p:nvSpPr>
          <p:cNvPr id="17" name="Text 12"/>
          <p:cNvSpPr/>
          <p:nvPr/>
        </p:nvSpPr>
        <p:spPr>
          <a:xfrm>
            <a:off x="1508760" y="2871216"/>
            <a:ext cx="3291840" cy="658368"/>
          </a:xfrm>
          <a:prstGeom prst="rect">
            <a:avLst/>
          </a:prstGeom>
          <a:noFill/>
          <a:ln/>
        </p:spPr>
        <p:txBody>
          <a:bodyPr wrap="square" rtlCol="0" anchor="ctr"/>
          <a:lstStyle/>
          <a:p>
            <a:pPr marL="0" indent="0" algn="l">
              <a:buNone/>
            </a:pPr>
            <a:r>
              <a:rPr sz="2200" b="1" dirty="0">
                <a:solidFill>
                  <a:schemeClr val="bg1"/>
                </a:solidFill>
              </a:rPr>
              <a:t>AI Orchestration</a:t>
            </a:r>
            <a:endParaRPr lang="en-US" sz="1400" dirty="0">
              <a:solidFill>
                <a:schemeClr val="bg1"/>
              </a:solidFill>
            </a:endParaRPr>
          </a:p>
        </p:txBody>
      </p:sp>
      <p:sp>
        <p:nvSpPr>
          <p:cNvPr id="18" name="Text 13"/>
          <p:cNvSpPr/>
          <p:nvPr/>
        </p:nvSpPr>
        <p:spPr>
          <a:xfrm>
            <a:off x="4937760" y="2871216"/>
            <a:ext cx="6309360" cy="658368"/>
          </a:xfrm>
          <a:prstGeom prst="rect">
            <a:avLst/>
          </a:prstGeom>
          <a:noFill/>
          <a:ln/>
        </p:spPr>
        <p:txBody>
          <a:bodyPr wrap="square" rtlCol="0" anchor="ctr"/>
          <a:lstStyle/>
          <a:p>
            <a:pPr marL="0" indent="0" algn="l">
              <a:buNone/>
            </a:pPr>
            <a:r>
              <a:rPr sz="2000" b="0" dirty="0" err="1">
                <a:solidFill>
                  <a:schemeClr val="bg1"/>
                </a:solidFill>
              </a:rPr>
              <a:t>LangChain</a:t>
            </a:r>
            <a:r>
              <a:rPr sz="2000" b="0" dirty="0">
                <a:solidFill>
                  <a:schemeClr val="bg1"/>
                </a:solidFill>
              </a:rPr>
              <a:t>  +  </a:t>
            </a:r>
            <a:r>
              <a:rPr sz="2000" b="0" dirty="0" err="1">
                <a:solidFill>
                  <a:schemeClr val="bg1"/>
                </a:solidFill>
              </a:rPr>
              <a:t>LangGraph</a:t>
            </a:r>
            <a:endParaRPr lang="en-US" sz="1250" dirty="0">
              <a:solidFill>
                <a:schemeClr val="bg1"/>
              </a:solidFill>
            </a:endParaRPr>
          </a:p>
        </p:txBody>
      </p:sp>
      <p:sp>
        <p:nvSpPr>
          <p:cNvPr id="19" name="Shape 14"/>
          <p:cNvSpPr/>
          <p:nvPr/>
        </p:nvSpPr>
        <p:spPr>
          <a:xfrm>
            <a:off x="640080" y="3621024"/>
            <a:ext cx="10881360" cy="658368"/>
          </a:xfrm>
          <a:prstGeom prst="roundRect">
            <a:avLst>
              <a:gd name="adj" fmla="val 11111"/>
            </a:avLst>
          </a:prstGeom>
          <a:solidFill>
            <a:srgbClr val="FFFFFF"/>
          </a:solidFill>
          <a:ln w="12700">
            <a:solidFill>
              <a:srgbClr val="CADCFC"/>
            </a:solidFill>
            <a:prstDash val="solid"/>
          </a:ln>
        </p:spPr>
        <p:txBody>
          <a:bodyPr/>
          <a:lstStyle/>
          <a:p>
            <a:endParaRPr lang="en-US"/>
          </a:p>
        </p:txBody>
      </p:sp>
      <p:sp>
        <p:nvSpPr>
          <p:cNvPr id="20" name="Shape 15"/>
          <p:cNvSpPr/>
          <p:nvPr/>
        </p:nvSpPr>
        <p:spPr>
          <a:xfrm>
            <a:off x="841248" y="3721608"/>
            <a:ext cx="457200" cy="457200"/>
          </a:xfrm>
          <a:prstGeom prst="ellipse">
            <a:avLst/>
          </a:prstGeom>
          <a:solidFill>
            <a:srgbClr val="E8EFFC"/>
          </a:solidFill>
          <a:ln/>
        </p:spPr>
        <p:txBody>
          <a:bodyPr/>
          <a:lstStyle/>
          <a:p>
            <a:endParaRPr lang="en-US"/>
          </a:p>
        </p:txBody>
      </p:sp>
      <p:pic>
        <p:nvPicPr>
          <p:cNvPr id="21" name="Image 3" descr="/home/claude/capstone/icons/layerGroup_navy.png"/>
          <p:cNvPicPr>
            <a:picLocks noChangeAspect="1"/>
          </p:cNvPicPr>
          <p:nvPr/>
        </p:nvPicPr>
        <p:blipFill>
          <a:blip r:embed="rId6"/>
          <a:stretch>
            <a:fillRect/>
          </a:stretch>
        </p:blipFill>
        <p:spPr>
          <a:xfrm>
            <a:off x="944118" y="3824478"/>
            <a:ext cx="251460" cy="251460"/>
          </a:xfrm>
          <a:prstGeom prst="rect">
            <a:avLst/>
          </a:prstGeom>
        </p:spPr>
      </p:pic>
      <p:sp>
        <p:nvSpPr>
          <p:cNvPr id="22" name="Text 16"/>
          <p:cNvSpPr/>
          <p:nvPr/>
        </p:nvSpPr>
        <p:spPr>
          <a:xfrm>
            <a:off x="1508760" y="3621024"/>
            <a:ext cx="3291840" cy="658368"/>
          </a:xfrm>
          <a:prstGeom prst="rect">
            <a:avLst/>
          </a:prstGeom>
          <a:noFill/>
          <a:ln/>
        </p:spPr>
        <p:txBody>
          <a:bodyPr wrap="square" rtlCol="0" anchor="ctr"/>
          <a:lstStyle/>
          <a:p>
            <a:pPr marL="0" indent="0" algn="l">
              <a:buNone/>
            </a:pPr>
            <a:r>
              <a:rPr sz="2200" b="1">
                <a:solidFill>
                  <a:srgbClr val="1E2761"/>
                </a:solidFill>
              </a:rPr>
              <a:t>Embedding Model</a:t>
            </a:r>
            <a:endParaRPr lang="en-US" sz="1400" dirty="0"/>
          </a:p>
        </p:txBody>
      </p:sp>
      <p:sp>
        <p:nvSpPr>
          <p:cNvPr id="23" name="Text 17"/>
          <p:cNvSpPr/>
          <p:nvPr/>
        </p:nvSpPr>
        <p:spPr>
          <a:xfrm>
            <a:off x="4937760" y="3621024"/>
            <a:ext cx="6309360" cy="658368"/>
          </a:xfrm>
          <a:prstGeom prst="rect">
            <a:avLst/>
          </a:prstGeom>
          <a:noFill/>
          <a:ln/>
        </p:spPr>
        <p:txBody>
          <a:bodyPr wrap="square" rtlCol="0" anchor="ctr"/>
          <a:lstStyle/>
          <a:p>
            <a:pPr marL="0" indent="0" algn="l">
              <a:buNone/>
            </a:pPr>
            <a:r>
              <a:rPr lang="en-US" sz="2000" dirty="0">
                <a:solidFill>
                  <a:srgbClr val="2A2E3A"/>
                </a:solidFill>
              </a:rPr>
              <a:t>Cohere</a:t>
            </a:r>
            <a:endParaRPr lang="en-US" sz="1250" dirty="0"/>
          </a:p>
        </p:txBody>
      </p:sp>
      <p:sp>
        <p:nvSpPr>
          <p:cNvPr id="24" name="Shape 18"/>
          <p:cNvSpPr/>
          <p:nvPr/>
        </p:nvSpPr>
        <p:spPr>
          <a:xfrm>
            <a:off x="640080" y="4370832"/>
            <a:ext cx="10881360" cy="658368"/>
          </a:xfrm>
          <a:prstGeom prst="roundRect">
            <a:avLst>
              <a:gd name="adj" fmla="val 11111"/>
            </a:avLst>
          </a:prstGeom>
          <a:solidFill>
            <a:srgbClr val="1E2761"/>
          </a:solidFill>
          <a:ln/>
        </p:spPr>
        <p:txBody>
          <a:bodyPr/>
          <a:lstStyle/>
          <a:p>
            <a:endParaRPr lang="en-US"/>
          </a:p>
        </p:txBody>
      </p:sp>
      <p:sp>
        <p:nvSpPr>
          <p:cNvPr id="25" name="Shape 19"/>
          <p:cNvSpPr/>
          <p:nvPr/>
        </p:nvSpPr>
        <p:spPr>
          <a:xfrm>
            <a:off x="841248" y="4471416"/>
            <a:ext cx="457200" cy="457200"/>
          </a:xfrm>
          <a:prstGeom prst="ellipse">
            <a:avLst/>
          </a:prstGeom>
          <a:solidFill>
            <a:srgbClr val="C89B3C"/>
          </a:solidFill>
          <a:ln/>
        </p:spPr>
        <p:txBody>
          <a:bodyPr/>
          <a:lstStyle/>
          <a:p>
            <a:endParaRPr lang="en-US"/>
          </a:p>
        </p:txBody>
      </p:sp>
      <p:pic>
        <p:nvPicPr>
          <p:cNvPr id="26" name="Image 4" descr="/home/claude/capstone/icons/robot_navy.png"/>
          <p:cNvPicPr>
            <a:picLocks noChangeAspect="1"/>
          </p:cNvPicPr>
          <p:nvPr/>
        </p:nvPicPr>
        <p:blipFill>
          <a:blip r:embed="rId7"/>
          <a:stretch>
            <a:fillRect/>
          </a:stretch>
        </p:blipFill>
        <p:spPr>
          <a:xfrm>
            <a:off x="944118" y="4574286"/>
            <a:ext cx="251460" cy="251460"/>
          </a:xfrm>
          <a:prstGeom prst="rect">
            <a:avLst/>
          </a:prstGeom>
        </p:spPr>
      </p:pic>
      <p:sp>
        <p:nvSpPr>
          <p:cNvPr id="27" name="Text 20"/>
          <p:cNvSpPr/>
          <p:nvPr/>
        </p:nvSpPr>
        <p:spPr>
          <a:xfrm>
            <a:off x="1508760" y="4370832"/>
            <a:ext cx="3291840" cy="658368"/>
          </a:xfrm>
          <a:prstGeom prst="rect">
            <a:avLst/>
          </a:prstGeom>
          <a:noFill/>
          <a:ln/>
        </p:spPr>
        <p:txBody>
          <a:bodyPr wrap="square" rtlCol="0" anchor="ctr"/>
          <a:lstStyle/>
          <a:p>
            <a:pPr marL="0" indent="0" algn="l">
              <a:buNone/>
            </a:pPr>
            <a:r>
              <a:rPr sz="2200" b="1" dirty="0">
                <a:solidFill>
                  <a:schemeClr val="bg1"/>
                </a:solidFill>
              </a:rPr>
              <a:t>Large</a:t>
            </a:r>
            <a:r>
              <a:rPr sz="2200" b="1" dirty="0">
                <a:solidFill>
                  <a:srgbClr val="1E2761"/>
                </a:solidFill>
              </a:rPr>
              <a:t> </a:t>
            </a:r>
            <a:r>
              <a:rPr sz="2200" b="1" dirty="0">
                <a:solidFill>
                  <a:schemeClr val="bg1"/>
                </a:solidFill>
              </a:rPr>
              <a:t>Language</a:t>
            </a:r>
            <a:r>
              <a:rPr sz="2200" b="1" dirty="0">
                <a:solidFill>
                  <a:srgbClr val="1E2761"/>
                </a:solidFill>
              </a:rPr>
              <a:t> </a:t>
            </a:r>
            <a:r>
              <a:rPr sz="2200" b="1" dirty="0">
                <a:solidFill>
                  <a:schemeClr val="bg1"/>
                </a:solidFill>
              </a:rPr>
              <a:t>Models</a:t>
            </a:r>
            <a:endParaRPr lang="en-US" sz="1400" dirty="0">
              <a:solidFill>
                <a:schemeClr val="bg1"/>
              </a:solidFill>
            </a:endParaRPr>
          </a:p>
        </p:txBody>
      </p:sp>
      <p:sp>
        <p:nvSpPr>
          <p:cNvPr id="28" name="Text 21"/>
          <p:cNvSpPr/>
          <p:nvPr/>
        </p:nvSpPr>
        <p:spPr>
          <a:xfrm>
            <a:off x="4937760" y="4370832"/>
            <a:ext cx="6309360" cy="658368"/>
          </a:xfrm>
          <a:prstGeom prst="rect">
            <a:avLst/>
          </a:prstGeom>
          <a:noFill/>
          <a:ln/>
        </p:spPr>
        <p:txBody>
          <a:bodyPr wrap="square" rtlCol="0" anchor="ctr"/>
          <a:lstStyle/>
          <a:p>
            <a:pPr marL="0" indent="0" algn="l">
              <a:buNone/>
            </a:pPr>
            <a:r>
              <a:rPr lang="en-US" sz="2000" dirty="0">
                <a:solidFill>
                  <a:schemeClr val="bg1">
                    <a:lumMod val="95000"/>
                  </a:schemeClr>
                </a:solidFill>
              </a:rPr>
              <a:t>Gemini</a:t>
            </a:r>
            <a:endParaRPr lang="en-US" sz="1250" dirty="0">
              <a:solidFill>
                <a:schemeClr val="bg1">
                  <a:lumMod val="95000"/>
                </a:schemeClr>
              </a:solidFill>
            </a:endParaRPr>
          </a:p>
        </p:txBody>
      </p:sp>
      <p:sp>
        <p:nvSpPr>
          <p:cNvPr id="29" name="Shape 22"/>
          <p:cNvSpPr/>
          <p:nvPr/>
        </p:nvSpPr>
        <p:spPr>
          <a:xfrm>
            <a:off x="640080" y="5120640"/>
            <a:ext cx="10881360" cy="658368"/>
          </a:xfrm>
          <a:prstGeom prst="roundRect">
            <a:avLst>
              <a:gd name="adj" fmla="val 11111"/>
            </a:avLst>
          </a:prstGeom>
          <a:solidFill>
            <a:srgbClr val="FFFFFF"/>
          </a:solidFill>
          <a:ln w="12700">
            <a:solidFill>
              <a:srgbClr val="CADCFC"/>
            </a:solidFill>
            <a:prstDash val="solid"/>
          </a:ln>
        </p:spPr>
        <p:txBody>
          <a:bodyPr/>
          <a:lstStyle/>
          <a:p>
            <a:endParaRPr lang="en-US"/>
          </a:p>
        </p:txBody>
      </p:sp>
      <p:sp>
        <p:nvSpPr>
          <p:cNvPr id="30" name="Shape 23"/>
          <p:cNvSpPr/>
          <p:nvPr/>
        </p:nvSpPr>
        <p:spPr>
          <a:xfrm>
            <a:off x="841248" y="5221224"/>
            <a:ext cx="457200" cy="457200"/>
          </a:xfrm>
          <a:prstGeom prst="ellipse">
            <a:avLst/>
          </a:prstGeom>
          <a:solidFill>
            <a:srgbClr val="E8EFFC"/>
          </a:solidFill>
          <a:ln/>
        </p:spPr>
        <p:txBody>
          <a:bodyPr/>
          <a:lstStyle/>
          <a:p>
            <a:endParaRPr lang="en-US"/>
          </a:p>
        </p:txBody>
      </p:sp>
      <p:pic>
        <p:nvPicPr>
          <p:cNvPr id="31" name="Image 5" descr="/home/claude/capstone/icons/database_navy.png"/>
          <p:cNvPicPr>
            <a:picLocks noChangeAspect="1"/>
          </p:cNvPicPr>
          <p:nvPr/>
        </p:nvPicPr>
        <p:blipFill>
          <a:blip r:embed="rId8"/>
          <a:stretch>
            <a:fillRect/>
          </a:stretch>
        </p:blipFill>
        <p:spPr>
          <a:xfrm>
            <a:off x="944118" y="5324094"/>
            <a:ext cx="251460" cy="251460"/>
          </a:xfrm>
          <a:prstGeom prst="rect">
            <a:avLst/>
          </a:prstGeom>
        </p:spPr>
      </p:pic>
      <p:sp>
        <p:nvSpPr>
          <p:cNvPr id="32" name="Text 24"/>
          <p:cNvSpPr/>
          <p:nvPr/>
        </p:nvSpPr>
        <p:spPr>
          <a:xfrm>
            <a:off x="1508760" y="5120640"/>
            <a:ext cx="3291840" cy="658368"/>
          </a:xfrm>
          <a:prstGeom prst="rect">
            <a:avLst/>
          </a:prstGeom>
          <a:noFill/>
          <a:ln/>
        </p:spPr>
        <p:txBody>
          <a:bodyPr wrap="square" rtlCol="0" anchor="ctr"/>
          <a:lstStyle/>
          <a:p>
            <a:pPr marL="0" indent="0" algn="l">
              <a:buNone/>
            </a:pPr>
            <a:r>
              <a:rPr sz="2200" b="1">
                <a:solidFill>
                  <a:srgbClr val="1E2761"/>
                </a:solidFill>
              </a:rPr>
              <a:t>Vector Store</a:t>
            </a:r>
            <a:endParaRPr lang="en-US" sz="1400" dirty="0"/>
          </a:p>
        </p:txBody>
      </p:sp>
      <p:sp>
        <p:nvSpPr>
          <p:cNvPr id="33" name="Text 25"/>
          <p:cNvSpPr/>
          <p:nvPr/>
        </p:nvSpPr>
        <p:spPr>
          <a:xfrm>
            <a:off x="4937760" y="5120640"/>
            <a:ext cx="6309360" cy="658368"/>
          </a:xfrm>
          <a:prstGeom prst="rect">
            <a:avLst/>
          </a:prstGeom>
          <a:noFill/>
          <a:ln/>
        </p:spPr>
        <p:txBody>
          <a:bodyPr wrap="square" rtlCol="0" anchor="ctr"/>
          <a:lstStyle/>
          <a:p>
            <a:pPr marL="0" indent="0" algn="l">
              <a:buNone/>
            </a:pPr>
            <a:r>
              <a:rPr sz="2000" b="0">
                <a:solidFill>
                  <a:srgbClr val="2A2E3A"/>
                </a:solidFill>
              </a:rPr>
              <a:t>FAISS</a:t>
            </a:r>
            <a:endParaRPr lang="en-US" sz="1250" dirty="0"/>
          </a:p>
        </p:txBody>
      </p:sp>
      <p:sp>
        <p:nvSpPr>
          <p:cNvPr id="34" name="Shape 26"/>
          <p:cNvSpPr/>
          <p:nvPr/>
        </p:nvSpPr>
        <p:spPr>
          <a:xfrm>
            <a:off x="640080" y="5870448"/>
            <a:ext cx="10881360" cy="658368"/>
          </a:xfrm>
          <a:prstGeom prst="roundRect">
            <a:avLst>
              <a:gd name="adj" fmla="val 11111"/>
            </a:avLst>
          </a:prstGeom>
          <a:solidFill>
            <a:srgbClr val="1E2761"/>
          </a:solidFill>
          <a:ln/>
        </p:spPr>
        <p:txBody>
          <a:bodyPr/>
          <a:lstStyle/>
          <a:p>
            <a:endParaRPr lang="en-US"/>
          </a:p>
        </p:txBody>
      </p:sp>
      <p:sp>
        <p:nvSpPr>
          <p:cNvPr id="35" name="Shape 27"/>
          <p:cNvSpPr/>
          <p:nvPr/>
        </p:nvSpPr>
        <p:spPr>
          <a:xfrm>
            <a:off x="841248" y="5971032"/>
            <a:ext cx="457200" cy="457200"/>
          </a:xfrm>
          <a:prstGeom prst="ellipse">
            <a:avLst/>
          </a:prstGeom>
          <a:solidFill>
            <a:srgbClr val="C89B3C"/>
          </a:solidFill>
          <a:ln/>
        </p:spPr>
        <p:txBody>
          <a:bodyPr/>
          <a:lstStyle/>
          <a:p>
            <a:endParaRPr lang="en-US"/>
          </a:p>
        </p:txBody>
      </p:sp>
      <p:pic>
        <p:nvPicPr>
          <p:cNvPr id="36" name="Image 6" descr="/home/claude/capstone/icons/networkWired_navy.png"/>
          <p:cNvPicPr>
            <a:picLocks noChangeAspect="1"/>
          </p:cNvPicPr>
          <p:nvPr/>
        </p:nvPicPr>
        <p:blipFill>
          <a:blip r:embed="rId9"/>
          <a:stretch>
            <a:fillRect/>
          </a:stretch>
        </p:blipFill>
        <p:spPr>
          <a:xfrm>
            <a:off x="944118" y="6073902"/>
            <a:ext cx="251460" cy="251460"/>
          </a:xfrm>
          <a:prstGeom prst="rect">
            <a:avLst/>
          </a:prstGeom>
        </p:spPr>
      </p:pic>
      <p:sp>
        <p:nvSpPr>
          <p:cNvPr id="37" name="Text 28"/>
          <p:cNvSpPr/>
          <p:nvPr/>
        </p:nvSpPr>
        <p:spPr>
          <a:xfrm>
            <a:off x="1508760" y="5870448"/>
            <a:ext cx="3291840" cy="658368"/>
          </a:xfrm>
          <a:prstGeom prst="rect">
            <a:avLst/>
          </a:prstGeom>
          <a:noFill/>
          <a:ln/>
        </p:spPr>
        <p:txBody>
          <a:bodyPr wrap="square" rtlCol="0" anchor="ctr"/>
          <a:lstStyle/>
          <a:p>
            <a:pPr marL="0" indent="0" algn="l">
              <a:buNone/>
            </a:pPr>
            <a:r>
              <a:rPr sz="2200" b="1" dirty="0">
                <a:solidFill>
                  <a:schemeClr val="bg1"/>
                </a:solidFill>
              </a:rPr>
              <a:t>Web Search</a:t>
            </a:r>
            <a:endParaRPr lang="en-US" sz="1400" dirty="0">
              <a:solidFill>
                <a:schemeClr val="bg1"/>
              </a:solidFill>
            </a:endParaRPr>
          </a:p>
        </p:txBody>
      </p:sp>
      <p:sp>
        <p:nvSpPr>
          <p:cNvPr id="38" name="Text 29"/>
          <p:cNvSpPr/>
          <p:nvPr/>
        </p:nvSpPr>
        <p:spPr>
          <a:xfrm>
            <a:off x="4937760" y="5870448"/>
            <a:ext cx="6309360" cy="658368"/>
          </a:xfrm>
          <a:prstGeom prst="rect">
            <a:avLst/>
          </a:prstGeom>
          <a:noFill/>
          <a:ln/>
        </p:spPr>
        <p:txBody>
          <a:bodyPr wrap="square" rtlCol="0" anchor="ctr"/>
          <a:lstStyle/>
          <a:p>
            <a:pPr marL="0" indent="0" algn="l">
              <a:buNone/>
            </a:pPr>
            <a:r>
              <a:rPr sz="2000" b="0" dirty="0" err="1">
                <a:solidFill>
                  <a:schemeClr val="bg1"/>
                </a:solidFill>
              </a:rPr>
              <a:t>Tavily</a:t>
            </a:r>
            <a:r>
              <a:rPr sz="2000" b="0" dirty="0">
                <a:solidFill>
                  <a:schemeClr val="bg1"/>
                </a:solidFill>
              </a:rPr>
              <a:t> Search API</a:t>
            </a:r>
            <a:endParaRPr lang="en-US" sz="1250" dirty="0">
              <a:solidFill>
                <a:schemeClr val="bg1"/>
              </a:solidFill>
            </a:endParaRPr>
          </a:p>
        </p:txBody>
      </p:sp>
      <p:sp>
        <p:nvSpPr>
          <p:cNvPr id="39" name="Text 30"/>
          <p:cNvSpPr/>
          <p:nvPr/>
        </p:nvSpPr>
        <p:spPr>
          <a:xfrm>
            <a:off x="11475720" y="6473952"/>
            <a:ext cx="548640" cy="274320"/>
          </a:xfrm>
          <a:prstGeom prst="rect">
            <a:avLst/>
          </a:prstGeom>
          <a:noFill/>
          <a:ln/>
        </p:spPr>
        <p:txBody>
          <a:bodyPr wrap="square" rtlCol="0" anchor="ctr"/>
          <a:lstStyle/>
          <a:p>
            <a:pPr marL="0" indent="0" algn="l">
              <a:buNone/>
            </a:pPr>
            <a:endParaRPr lang="en-US" sz="1000" dirty="0"/>
          </a:p>
        </p:txBody>
      </p:sp>
      <p:sp>
        <p:nvSpPr>
          <p:cNvPr id="40" name="Text 31"/>
          <p:cNvSpPr/>
          <p:nvPr/>
        </p:nvSpPr>
        <p:spPr>
          <a:xfrm>
            <a:off x="457200" y="6473952"/>
            <a:ext cx="7315200" cy="274320"/>
          </a:xfrm>
          <a:prstGeom prst="rect">
            <a:avLst/>
          </a:prstGeom>
          <a:noFill/>
          <a:ln/>
        </p:spPr>
        <p:txBody>
          <a:bodyPr wrap="square" rtlCol="0" anchor="ctr"/>
          <a:lstStyle/>
          <a:p>
            <a:pPr marL="0" indent="0" algn="l">
              <a:buNone/>
            </a:pP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16">
    <p:bg>
      <p:bgPr>
        <a:solidFill>
          <a:srgbClr val="F7F9FC"/>
        </a:solidFill>
        <a:effectLst/>
      </p:bgPr>
    </p:bg>
    <p:spTree>
      <p:nvGrpSpPr>
        <p:cNvPr id="1" name=""/>
        <p:cNvGrpSpPr/>
        <p:nvPr/>
      </p:nvGrpSpPr>
      <p:grpSpPr>
        <a:xfrm>
          <a:off x="0" y="0"/>
          <a:ext cx="0" cy="0"/>
          <a:chOff x="0" y="0"/>
          <a:chExt cx="0" cy="0"/>
        </a:xfrm>
      </p:grpSpPr>
      <p:sp>
        <p:nvSpPr>
          <p:cNvPr id="2" name="Text 0"/>
          <p:cNvSpPr/>
          <p:nvPr/>
        </p:nvSpPr>
        <p:spPr>
          <a:xfrm>
            <a:off x="548640" y="384048"/>
            <a:ext cx="11064240" cy="685800"/>
          </a:xfrm>
          <a:prstGeom prst="rect">
            <a:avLst/>
          </a:prstGeom>
          <a:noFill/>
          <a:ln/>
        </p:spPr>
        <p:txBody>
          <a:bodyPr wrap="square" rtlCol="0" anchor="ctr"/>
          <a:lstStyle/>
          <a:p>
            <a:pPr marL="0" indent="0" algn="l">
              <a:buNone/>
            </a:pPr>
            <a:r>
              <a:rPr sz="3400" b="1">
                <a:solidFill>
                  <a:srgbClr val="1E2761"/>
                </a:solidFill>
                <a:latin typeface="Cambria"/>
              </a:rPr>
              <a:t>Future Scope</a:t>
            </a:r>
            <a:endParaRPr lang="en-US" sz="3200" dirty="0"/>
          </a:p>
        </p:txBody>
      </p:sp>
      <p:sp>
        <p:nvSpPr>
          <p:cNvPr id="3" name="Text 1"/>
          <p:cNvSpPr/>
          <p:nvPr/>
        </p:nvSpPr>
        <p:spPr>
          <a:xfrm>
            <a:off x="548640" y="91440"/>
            <a:ext cx="9144000" cy="274320"/>
          </a:xfrm>
          <a:prstGeom prst="rect">
            <a:avLst/>
          </a:prstGeom>
          <a:noFill/>
          <a:ln/>
        </p:spPr>
        <p:txBody>
          <a:bodyPr wrap="square" rtlCol="0" anchor="ctr"/>
          <a:lstStyle/>
          <a:p>
            <a:pPr marL="0" indent="0" algn="l">
              <a:buNone/>
            </a:pPr>
            <a:r>
              <a:rPr sz="1200" b="1">
                <a:solidFill>
                  <a:srgbClr val="C89B3C"/>
                </a:solidFill>
              </a:rPr>
              <a:t>POSSIBLE EXTENSIONS</a:t>
            </a:r>
            <a:endParaRPr lang="en-US" sz="1100" dirty="0"/>
          </a:p>
        </p:txBody>
      </p:sp>
      <p:sp>
        <p:nvSpPr>
          <p:cNvPr id="4" name="Shape 2"/>
          <p:cNvSpPr/>
          <p:nvPr/>
        </p:nvSpPr>
        <p:spPr>
          <a:xfrm>
            <a:off x="640080" y="1508760"/>
            <a:ext cx="2606040" cy="1965960"/>
          </a:xfrm>
          <a:prstGeom prst="roundRect">
            <a:avLst>
              <a:gd name="adj" fmla="val 3721"/>
            </a:avLst>
          </a:prstGeom>
          <a:solidFill>
            <a:srgbClr val="FFFFFF"/>
          </a:solidFill>
          <a:ln w="12700">
            <a:solidFill>
              <a:srgbClr val="CADCFC"/>
            </a:solidFill>
            <a:prstDash val="solid"/>
          </a:ln>
          <a:effectLst>
            <a:outerShdw blurRad="101600" dist="25400" dir="5400000" algn="bl" rotWithShape="0">
              <a:srgbClr val="1E2761">
                <a:alpha val="12000"/>
              </a:srgbClr>
            </a:outerShdw>
          </a:effectLst>
        </p:spPr>
        <p:txBody>
          <a:bodyPr/>
          <a:lstStyle/>
          <a:p>
            <a:endParaRPr lang="en-US"/>
          </a:p>
        </p:txBody>
      </p:sp>
      <p:sp>
        <p:nvSpPr>
          <p:cNvPr id="5" name="Shape 3"/>
          <p:cNvSpPr/>
          <p:nvPr/>
        </p:nvSpPr>
        <p:spPr>
          <a:xfrm>
            <a:off x="1613916" y="1828800"/>
            <a:ext cx="658368" cy="658368"/>
          </a:xfrm>
          <a:prstGeom prst="ellipse">
            <a:avLst/>
          </a:prstGeom>
          <a:solidFill>
            <a:srgbClr val="E8EFFC"/>
          </a:solidFill>
          <a:ln/>
        </p:spPr>
        <p:txBody>
          <a:bodyPr/>
          <a:lstStyle/>
          <a:p>
            <a:endParaRPr lang="en-US"/>
          </a:p>
        </p:txBody>
      </p:sp>
      <p:pic>
        <p:nvPicPr>
          <p:cNvPr id="6" name="Image 0" descr="/home/claude/capstone/icons/sitemap_navy.png"/>
          <p:cNvPicPr>
            <a:picLocks noChangeAspect="1"/>
          </p:cNvPicPr>
          <p:nvPr/>
        </p:nvPicPr>
        <p:blipFill>
          <a:blip r:embed="rId3"/>
          <a:stretch>
            <a:fillRect/>
          </a:stretch>
        </p:blipFill>
        <p:spPr>
          <a:xfrm>
            <a:off x="1778508" y="1993392"/>
            <a:ext cx="329184" cy="329184"/>
          </a:xfrm>
          <a:prstGeom prst="rect">
            <a:avLst/>
          </a:prstGeom>
        </p:spPr>
      </p:pic>
      <p:sp>
        <p:nvSpPr>
          <p:cNvPr id="7" name="Text 4"/>
          <p:cNvSpPr/>
          <p:nvPr/>
        </p:nvSpPr>
        <p:spPr>
          <a:xfrm>
            <a:off x="731520" y="2697480"/>
            <a:ext cx="2423160" cy="640080"/>
          </a:xfrm>
          <a:prstGeom prst="rect">
            <a:avLst/>
          </a:prstGeom>
          <a:noFill/>
          <a:ln/>
        </p:spPr>
        <p:txBody>
          <a:bodyPr wrap="square" rtlCol="0" anchor="ctr"/>
          <a:lstStyle/>
          <a:p>
            <a:pPr marL="0" indent="0" algn="l">
              <a:buNone/>
            </a:pPr>
            <a:r>
              <a:rPr sz="2100" b="1">
                <a:solidFill>
                  <a:srgbClr val="1E2761"/>
                </a:solidFill>
              </a:rPr>
              <a:t>GraphRAG</a:t>
            </a:r>
            <a:endParaRPr lang="en-US" sz="1250" dirty="0"/>
          </a:p>
        </p:txBody>
      </p:sp>
      <p:sp>
        <p:nvSpPr>
          <p:cNvPr id="8" name="Shape 5"/>
          <p:cNvSpPr/>
          <p:nvPr/>
        </p:nvSpPr>
        <p:spPr>
          <a:xfrm>
            <a:off x="3447288" y="1508760"/>
            <a:ext cx="2606040" cy="1965960"/>
          </a:xfrm>
          <a:prstGeom prst="roundRect">
            <a:avLst>
              <a:gd name="adj" fmla="val 3721"/>
            </a:avLst>
          </a:prstGeom>
          <a:solidFill>
            <a:srgbClr val="FFFFFF"/>
          </a:solidFill>
          <a:ln w="12700">
            <a:solidFill>
              <a:srgbClr val="CADCFC"/>
            </a:solidFill>
            <a:prstDash val="solid"/>
          </a:ln>
          <a:effectLst>
            <a:outerShdw blurRad="101600" dist="25400" dir="5400000" algn="bl" rotWithShape="0">
              <a:srgbClr val="1E2761">
                <a:alpha val="12000"/>
              </a:srgbClr>
            </a:outerShdw>
          </a:effectLst>
        </p:spPr>
        <p:txBody>
          <a:bodyPr/>
          <a:lstStyle/>
          <a:p>
            <a:endParaRPr lang="en-US"/>
          </a:p>
        </p:txBody>
      </p:sp>
      <p:sp>
        <p:nvSpPr>
          <p:cNvPr id="9" name="Shape 6"/>
          <p:cNvSpPr/>
          <p:nvPr/>
        </p:nvSpPr>
        <p:spPr>
          <a:xfrm>
            <a:off x="4421124" y="1828800"/>
            <a:ext cx="658368" cy="658368"/>
          </a:xfrm>
          <a:prstGeom prst="ellipse">
            <a:avLst/>
          </a:prstGeom>
          <a:solidFill>
            <a:srgbClr val="E8EFFC"/>
          </a:solidFill>
          <a:ln/>
        </p:spPr>
        <p:txBody>
          <a:bodyPr/>
          <a:lstStyle/>
          <a:p>
            <a:endParaRPr lang="en-US"/>
          </a:p>
        </p:txBody>
      </p:sp>
      <p:pic>
        <p:nvPicPr>
          <p:cNvPr id="10" name="Image 1" descr="/home/claude/capstone/icons/comments_navy.png"/>
          <p:cNvPicPr>
            <a:picLocks noChangeAspect="1"/>
          </p:cNvPicPr>
          <p:nvPr/>
        </p:nvPicPr>
        <p:blipFill>
          <a:blip r:embed="rId4"/>
          <a:stretch>
            <a:fillRect/>
          </a:stretch>
        </p:blipFill>
        <p:spPr>
          <a:xfrm>
            <a:off x="4585716" y="1993392"/>
            <a:ext cx="329184" cy="329184"/>
          </a:xfrm>
          <a:prstGeom prst="rect">
            <a:avLst/>
          </a:prstGeom>
        </p:spPr>
      </p:pic>
      <p:sp>
        <p:nvSpPr>
          <p:cNvPr id="11" name="Text 7"/>
          <p:cNvSpPr/>
          <p:nvPr/>
        </p:nvSpPr>
        <p:spPr>
          <a:xfrm>
            <a:off x="3538728" y="2697480"/>
            <a:ext cx="2423160" cy="640080"/>
          </a:xfrm>
          <a:prstGeom prst="rect">
            <a:avLst/>
          </a:prstGeom>
          <a:noFill/>
          <a:ln/>
        </p:spPr>
        <p:txBody>
          <a:bodyPr wrap="square" rtlCol="0" anchor="ctr"/>
          <a:lstStyle/>
          <a:p>
            <a:pPr marL="0" indent="0" algn="l">
              <a:buNone/>
            </a:pPr>
            <a:r>
              <a:rPr sz="2100" b="1">
                <a:solidFill>
                  <a:srgbClr val="1E2761"/>
                </a:solidFill>
              </a:rPr>
              <a:t>Multi-Agent RAG</a:t>
            </a:r>
            <a:endParaRPr lang="en-US" sz="1250" dirty="0"/>
          </a:p>
        </p:txBody>
      </p:sp>
      <p:sp>
        <p:nvSpPr>
          <p:cNvPr id="12" name="Shape 8"/>
          <p:cNvSpPr/>
          <p:nvPr/>
        </p:nvSpPr>
        <p:spPr>
          <a:xfrm>
            <a:off x="6254496" y="1508760"/>
            <a:ext cx="2606040" cy="1965960"/>
          </a:xfrm>
          <a:prstGeom prst="roundRect">
            <a:avLst>
              <a:gd name="adj" fmla="val 3721"/>
            </a:avLst>
          </a:prstGeom>
          <a:solidFill>
            <a:srgbClr val="FFFFFF"/>
          </a:solidFill>
          <a:ln w="12700">
            <a:solidFill>
              <a:srgbClr val="CADCFC"/>
            </a:solidFill>
            <a:prstDash val="solid"/>
          </a:ln>
          <a:effectLst>
            <a:outerShdw blurRad="101600" dist="25400" dir="5400000" algn="bl" rotWithShape="0">
              <a:srgbClr val="1E2761">
                <a:alpha val="12000"/>
              </a:srgbClr>
            </a:outerShdw>
          </a:effectLst>
        </p:spPr>
        <p:txBody>
          <a:bodyPr/>
          <a:lstStyle/>
          <a:p>
            <a:endParaRPr lang="en-US"/>
          </a:p>
        </p:txBody>
      </p:sp>
      <p:sp>
        <p:nvSpPr>
          <p:cNvPr id="13" name="Shape 9"/>
          <p:cNvSpPr/>
          <p:nvPr/>
        </p:nvSpPr>
        <p:spPr>
          <a:xfrm>
            <a:off x="7228332" y="1828800"/>
            <a:ext cx="658368" cy="658368"/>
          </a:xfrm>
          <a:prstGeom prst="ellipse">
            <a:avLst/>
          </a:prstGeom>
          <a:solidFill>
            <a:srgbClr val="E8EFFC"/>
          </a:solidFill>
          <a:ln/>
        </p:spPr>
        <p:txBody>
          <a:bodyPr/>
          <a:lstStyle/>
          <a:p>
            <a:endParaRPr lang="en-US"/>
          </a:p>
        </p:txBody>
      </p:sp>
      <p:pic>
        <p:nvPicPr>
          <p:cNvPr id="14" name="Image 2" descr="/home/claude/capstone/icons/projectDiagram_navy.png"/>
          <p:cNvPicPr>
            <a:picLocks noChangeAspect="1"/>
          </p:cNvPicPr>
          <p:nvPr/>
        </p:nvPicPr>
        <p:blipFill>
          <a:blip r:embed="rId5"/>
          <a:stretch>
            <a:fillRect/>
          </a:stretch>
        </p:blipFill>
        <p:spPr>
          <a:xfrm>
            <a:off x="7392924" y="1993392"/>
            <a:ext cx="329184" cy="329184"/>
          </a:xfrm>
          <a:prstGeom prst="rect">
            <a:avLst/>
          </a:prstGeom>
        </p:spPr>
      </p:pic>
      <p:sp>
        <p:nvSpPr>
          <p:cNvPr id="15" name="Text 10"/>
          <p:cNvSpPr/>
          <p:nvPr/>
        </p:nvSpPr>
        <p:spPr>
          <a:xfrm>
            <a:off x="6345936" y="2697480"/>
            <a:ext cx="2423160" cy="640080"/>
          </a:xfrm>
          <a:prstGeom prst="rect">
            <a:avLst/>
          </a:prstGeom>
          <a:noFill/>
          <a:ln/>
        </p:spPr>
        <p:txBody>
          <a:bodyPr wrap="square" rtlCol="0" anchor="ctr"/>
          <a:lstStyle/>
          <a:p>
            <a:pPr marL="0" indent="0" algn="l">
              <a:buNone/>
            </a:pPr>
            <a:r>
              <a:rPr sz="2100" b="1">
                <a:solidFill>
                  <a:srgbClr val="1E2761"/>
                </a:solidFill>
              </a:rPr>
              <a:t>Knowledge Graph Integration</a:t>
            </a:r>
            <a:endParaRPr lang="en-US" sz="1250" dirty="0"/>
          </a:p>
        </p:txBody>
      </p:sp>
      <p:sp>
        <p:nvSpPr>
          <p:cNvPr id="16" name="Shape 11"/>
          <p:cNvSpPr/>
          <p:nvPr/>
        </p:nvSpPr>
        <p:spPr>
          <a:xfrm>
            <a:off x="9061704" y="1508760"/>
            <a:ext cx="2606040" cy="1965960"/>
          </a:xfrm>
          <a:prstGeom prst="roundRect">
            <a:avLst>
              <a:gd name="adj" fmla="val 3721"/>
            </a:avLst>
          </a:prstGeom>
          <a:solidFill>
            <a:srgbClr val="FFFFFF"/>
          </a:solidFill>
          <a:ln w="12700">
            <a:solidFill>
              <a:srgbClr val="CADCFC"/>
            </a:solidFill>
            <a:prstDash val="solid"/>
          </a:ln>
          <a:effectLst>
            <a:outerShdw blurRad="101600" dist="25400" dir="5400000" algn="bl" rotWithShape="0">
              <a:srgbClr val="1E2761">
                <a:alpha val="12000"/>
              </a:srgbClr>
            </a:outerShdw>
          </a:effectLst>
        </p:spPr>
        <p:txBody>
          <a:bodyPr/>
          <a:lstStyle/>
          <a:p>
            <a:endParaRPr lang="en-US"/>
          </a:p>
        </p:txBody>
      </p:sp>
      <p:sp>
        <p:nvSpPr>
          <p:cNvPr id="17" name="Shape 12"/>
          <p:cNvSpPr/>
          <p:nvPr/>
        </p:nvSpPr>
        <p:spPr>
          <a:xfrm>
            <a:off x="10035540" y="1828800"/>
            <a:ext cx="658368" cy="658368"/>
          </a:xfrm>
          <a:prstGeom prst="ellipse">
            <a:avLst/>
          </a:prstGeom>
          <a:solidFill>
            <a:srgbClr val="E8EFFC"/>
          </a:solidFill>
          <a:ln/>
        </p:spPr>
        <p:txBody>
          <a:bodyPr/>
          <a:lstStyle/>
          <a:p>
            <a:endParaRPr lang="en-US"/>
          </a:p>
        </p:txBody>
      </p:sp>
      <p:pic>
        <p:nvPicPr>
          <p:cNvPr id="18" name="Image 3" descr="/home/claude/capstone/icons/userMd_navy.png"/>
          <p:cNvPicPr>
            <a:picLocks noChangeAspect="1"/>
          </p:cNvPicPr>
          <p:nvPr/>
        </p:nvPicPr>
        <p:blipFill>
          <a:blip r:embed="rId6"/>
          <a:stretch>
            <a:fillRect/>
          </a:stretch>
        </p:blipFill>
        <p:spPr>
          <a:xfrm>
            <a:off x="10200132" y="1993392"/>
            <a:ext cx="329184" cy="329184"/>
          </a:xfrm>
          <a:prstGeom prst="rect">
            <a:avLst/>
          </a:prstGeom>
        </p:spPr>
      </p:pic>
      <p:sp>
        <p:nvSpPr>
          <p:cNvPr id="19" name="Text 13"/>
          <p:cNvSpPr/>
          <p:nvPr/>
        </p:nvSpPr>
        <p:spPr>
          <a:xfrm>
            <a:off x="9153144" y="2697480"/>
            <a:ext cx="2423160" cy="640080"/>
          </a:xfrm>
          <a:prstGeom prst="rect">
            <a:avLst/>
          </a:prstGeom>
          <a:noFill/>
          <a:ln/>
        </p:spPr>
        <p:txBody>
          <a:bodyPr wrap="square" rtlCol="0" anchor="ctr"/>
          <a:lstStyle/>
          <a:p>
            <a:pPr marL="0" indent="0" algn="l">
              <a:buNone/>
            </a:pPr>
            <a:r>
              <a:rPr sz="2100" b="1">
                <a:solidFill>
                  <a:srgbClr val="1E2761"/>
                </a:solidFill>
              </a:rPr>
              <a:t>Medical RAG</a:t>
            </a:r>
            <a:endParaRPr lang="en-US" sz="1250" dirty="0"/>
          </a:p>
        </p:txBody>
      </p:sp>
      <p:sp>
        <p:nvSpPr>
          <p:cNvPr id="20" name="Shape 14"/>
          <p:cNvSpPr/>
          <p:nvPr/>
        </p:nvSpPr>
        <p:spPr>
          <a:xfrm>
            <a:off x="640080" y="3730752"/>
            <a:ext cx="2606040" cy="1965960"/>
          </a:xfrm>
          <a:prstGeom prst="roundRect">
            <a:avLst>
              <a:gd name="adj" fmla="val 3721"/>
            </a:avLst>
          </a:prstGeom>
          <a:solidFill>
            <a:srgbClr val="FFFFFF"/>
          </a:solidFill>
          <a:ln w="12700">
            <a:solidFill>
              <a:srgbClr val="CADCFC"/>
            </a:solidFill>
            <a:prstDash val="solid"/>
          </a:ln>
          <a:effectLst>
            <a:outerShdw blurRad="101600" dist="25400" dir="5400000" algn="bl" rotWithShape="0">
              <a:srgbClr val="1E2761">
                <a:alpha val="12000"/>
              </a:srgbClr>
            </a:outerShdw>
          </a:effectLst>
        </p:spPr>
        <p:txBody>
          <a:bodyPr/>
          <a:lstStyle/>
          <a:p>
            <a:endParaRPr lang="en-US"/>
          </a:p>
        </p:txBody>
      </p:sp>
      <p:sp>
        <p:nvSpPr>
          <p:cNvPr id="21" name="Shape 15"/>
          <p:cNvSpPr/>
          <p:nvPr/>
        </p:nvSpPr>
        <p:spPr>
          <a:xfrm>
            <a:off x="1613916" y="4050792"/>
            <a:ext cx="658368" cy="658368"/>
          </a:xfrm>
          <a:prstGeom prst="ellipse">
            <a:avLst/>
          </a:prstGeom>
          <a:solidFill>
            <a:srgbClr val="E8EFFC"/>
          </a:solidFill>
          <a:ln/>
        </p:spPr>
        <p:txBody>
          <a:bodyPr/>
          <a:lstStyle/>
          <a:p>
            <a:endParaRPr lang="en-US"/>
          </a:p>
        </p:txBody>
      </p:sp>
      <p:pic>
        <p:nvPicPr>
          <p:cNvPr id="22" name="Image 4" descr="/home/claude/capstone/icons/gavel_navy.png"/>
          <p:cNvPicPr>
            <a:picLocks noChangeAspect="1"/>
          </p:cNvPicPr>
          <p:nvPr/>
        </p:nvPicPr>
        <p:blipFill>
          <a:blip r:embed="rId7"/>
          <a:stretch>
            <a:fillRect/>
          </a:stretch>
        </p:blipFill>
        <p:spPr>
          <a:xfrm>
            <a:off x="1778508" y="4215384"/>
            <a:ext cx="329184" cy="329184"/>
          </a:xfrm>
          <a:prstGeom prst="rect">
            <a:avLst/>
          </a:prstGeom>
        </p:spPr>
      </p:pic>
      <p:sp>
        <p:nvSpPr>
          <p:cNvPr id="23" name="Text 16"/>
          <p:cNvSpPr/>
          <p:nvPr/>
        </p:nvSpPr>
        <p:spPr>
          <a:xfrm>
            <a:off x="731520" y="4919472"/>
            <a:ext cx="2423160" cy="640080"/>
          </a:xfrm>
          <a:prstGeom prst="rect">
            <a:avLst/>
          </a:prstGeom>
          <a:noFill/>
          <a:ln/>
        </p:spPr>
        <p:txBody>
          <a:bodyPr wrap="square" rtlCol="0" anchor="ctr"/>
          <a:lstStyle/>
          <a:p>
            <a:pPr marL="0" indent="0" algn="l">
              <a:buNone/>
            </a:pPr>
            <a:r>
              <a:rPr sz="2100" b="1">
                <a:solidFill>
                  <a:srgbClr val="1E2761"/>
                </a:solidFill>
              </a:rPr>
              <a:t>Legal AI Assistant</a:t>
            </a:r>
            <a:endParaRPr lang="en-US" sz="1250" dirty="0"/>
          </a:p>
        </p:txBody>
      </p:sp>
      <p:sp>
        <p:nvSpPr>
          <p:cNvPr id="24" name="Shape 17"/>
          <p:cNvSpPr/>
          <p:nvPr/>
        </p:nvSpPr>
        <p:spPr>
          <a:xfrm>
            <a:off x="3447288" y="3730752"/>
            <a:ext cx="2606040" cy="1965960"/>
          </a:xfrm>
          <a:prstGeom prst="roundRect">
            <a:avLst>
              <a:gd name="adj" fmla="val 3721"/>
            </a:avLst>
          </a:prstGeom>
          <a:solidFill>
            <a:srgbClr val="FFFFFF"/>
          </a:solidFill>
          <a:ln w="12700">
            <a:solidFill>
              <a:srgbClr val="CADCFC"/>
            </a:solidFill>
            <a:prstDash val="solid"/>
          </a:ln>
          <a:effectLst>
            <a:outerShdw blurRad="101600" dist="25400" dir="5400000" algn="bl" rotWithShape="0">
              <a:srgbClr val="1E2761">
                <a:alpha val="12000"/>
              </a:srgbClr>
            </a:outerShdw>
          </a:effectLst>
        </p:spPr>
        <p:txBody>
          <a:bodyPr/>
          <a:lstStyle/>
          <a:p>
            <a:endParaRPr lang="en-US"/>
          </a:p>
        </p:txBody>
      </p:sp>
      <p:sp>
        <p:nvSpPr>
          <p:cNvPr id="25" name="Shape 18"/>
          <p:cNvSpPr/>
          <p:nvPr/>
        </p:nvSpPr>
        <p:spPr>
          <a:xfrm>
            <a:off x="4421124" y="4050792"/>
            <a:ext cx="658368" cy="658368"/>
          </a:xfrm>
          <a:prstGeom prst="ellipse">
            <a:avLst/>
          </a:prstGeom>
          <a:solidFill>
            <a:srgbClr val="E8EFFC"/>
          </a:solidFill>
          <a:ln/>
        </p:spPr>
        <p:txBody>
          <a:bodyPr/>
          <a:lstStyle/>
          <a:p>
            <a:endParaRPr lang="en-US"/>
          </a:p>
        </p:txBody>
      </p:sp>
      <p:pic>
        <p:nvPicPr>
          <p:cNvPr id="26" name="Image 5" descr="/home/claude/capstone/icons/bookOpen_navy.png"/>
          <p:cNvPicPr>
            <a:picLocks noChangeAspect="1"/>
          </p:cNvPicPr>
          <p:nvPr/>
        </p:nvPicPr>
        <p:blipFill>
          <a:blip r:embed="rId8"/>
          <a:stretch>
            <a:fillRect/>
          </a:stretch>
        </p:blipFill>
        <p:spPr>
          <a:xfrm>
            <a:off x="4585716" y="4215384"/>
            <a:ext cx="329184" cy="329184"/>
          </a:xfrm>
          <a:prstGeom prst="rect">
            <a:avLst/>
          </a:prstGeom>
        </p:spPr>
      </p:pic>
      <p:sp>
        <p:nvSpPr>
          <p:cNvPr id="27" name="Text 19"/>
          <p:cNvSpPr/>
          <p:nvPr/>
        </p:nvSpPr>
        <p:spPr>
          <a:xfrm>
            <a:off x="3538728" y="4919472"/>
            <a:ext cx="2423160" cy="640080"/>
          </a:xfrm>
          <a:prstGeom prst="rect">
            <a:avLst/>
          </a:prstGeom>
          <a:noFill/>
          <a:ln/>
        </p:spPr>
        <p:txBody>
          <a:bodyPr wrap="square" rtlCol="0" anchor="ctr"/>
          <a:lstStyle/>
          <a:p>
            <a:pPr marL="0" indent="0" algn="l">
              <a:buNone/>
            </a:pPr>
            <a:r>
              <a:rPr sz="2100" b="1">
                <a:solidFill>
                  <a:srgbClr val="1E2761"/>
                </a:solidFill>
              </a:rPr>
              <a:t>Research Paper Assistant</a:t>
            </a:r>
            <a:endParaRPr lang="en-US" sz="1250" dirty="0"/>
          </a:p>
        </p:txBody>
      </p:sp>
      <p:sp>
        <p:nvSpPr>
          <p:cNvPr id="28" name="Shape 20"/>
          <p:cNvSpPr/>
          <p:nvPr/>
        </p:nvSpPr>
        <p:spPr>
          <a:xfrm>
            <a:off x="6254496" y="3730752"/>
            <a:ext cx="2606040" cy="1965960"/>
          </a:xfrm>
          <a:prstGeom prst="roundRect">
            <a:avLst>
              <a:gd name="adj" fmla="val 3721"/>
            </a:avLst>
          </a:prstGeom>
          <a:solidFill>
            <a:srgbClr val="FFFFFF"/>
          </a:solidFill>
          <a:ln w="12700">
            <a:solidFill>
              <a:srgbClr val="CADCFC"/>
            </a:solidFill>
            <a:prstDash val="solid"/>
          </a:ln>
          <a:effectLst>
            <a:outerShdw blurRad="101600" dist="25400" dir="5400000" algn="bl" rotWithShape="0">
              <a:srgbClr val="1E2761">
                <a:alpha val="12000"/>
              </a:srgbClr>
            </a:outerShdw>
          </a:effectLst>
        </p:spPr>
        <p:txBody>
          <a:bodyPr/>
          <a:lstStyle/>
          <a:p>
            <a:endParaRPr lang="en-US"/>
          </a:p>
        </p:txBody>
      </p:sp>
      <p:sp>
        <p:nvSpPr>
          <p:cNvPr id="29" name="Shape 21"/>
          <p:cNvSpPr/>
          <p:nvPr/>
        </p:nvSpPr>
        <p:spPr>
          <a:xfrm>
            <a:off x="7228332" y="4050792"/>
            <a:ext cx="658368" cy="658368"/>
          </a:xfrm>
          <a:prstGeom prst="ellipse">
            <a:avLst/>
          </a:prstGeom>
          <a:solidFill>
            <a:srgbClr val="E8EFFC"/>
          </a:solidFill>
          <a:ln/>
        </p:spPr>
        <p:txBody>
          <a:bodyPr/>
          <a:lstStyle/>
          <a:p>
            <a:endParaRPr lang="en-US"/>
          </a:p>
        </p:txBody>
      </p:sp>
      <p:pic>
        <p:nvPicPr>
          <p:cNvPr id="30" name="Image 6" descr="/home/claude/capstone/icons/building_navy.png"/>
          <p:cNvPicPr>
            <a:picLocks noChangeAspect="1"/>
          </p:cNvPicPr>
          <p:nvPr/>
        </p:nvPicPr>
        <p:blipFill>
          <a:blip r:embed="rId9"/>
          <a:stretch>
            <a:fillRect/>
          </a:stretch>
        </p:blipFill>
        <p:spPr>
          <a:xfrm>
            <a:off x="7392924" y="4215384"/>
            <a:ext cx="329184" cy="329184"/>
          </a:xfrm>
          <a:prstGeom prst="rect">
            <a:avLst/>
          </a:prstGeom>
        </p:spPr>
      </p:pic>
      <p:sp>
        <p:nvSpPr>
          <p:cNvPr id="31" name="Text 22"/>
          <p:cNvSpPr/>
          <p:nvPr/>
        </p:nvSpPr>
        <p:spPr>
          <a:xfrm>
            <a:off x="6345936" y="4919472"/>
            <a:ext cx="2423160" cy="640080"/>
          </a:xfrm>
          <a:prstGeom prst="rect">
            <a:avLst/>
          </a:prstGeom>
          <a:noFill/>
          <a:ln/>
        </p:spPr>
        <p:txBody>
          <a:bodyPr wrap="square" rtlCol="0" anchor="ctr"/>
          <a:lstStyle/>
          <a:p>
            <a:pPr marL="0" indent="0" algn="l">
              <a:buNone/>
            </a:pPr>
            <a:r>
              <a:rPr sz="2100" b="1">
                <a:solidFill>
                  <a:srgbClr val="1E2761"/>
                </a:solidFill>
              </a:rPr>
              <a:t>Enterprise Knowledge Base</a:t>
            </a:r>
            <a:endParaRPr lang="en-US" sz="1250" dirty="0"/>
          </a:p>
        </p:txBody>
      </p:sp>
      <p:sp>
        <p:nvSpPr>
          <p:cNvPr id="32" name="Shape 23"/>
          <p:cNvSpPr/>
          <p:nvPr/>
        </p:nvSpPr>
        <p:spPr>
          <a:xfrm>
            <a:off x="9061704" y="3730752"/>
            <a:ext cx="2606040" cy="1965960"/>
          </a:xfrm>
          <a:prstGeom prst="roundRect">
            <a:avLst>
              <a:gd name="adj" fmla="val 3721"/>
            </a:avLst>
          </a:prstGeom>
          <a:solidFill>
            <a:srgbClr val="1E2761"/>
          </a:solidFill>
          <a:ln/>
        </p:spPr>
        <p:txBody>
          <a:bodyPr/>
          <a:lstStyle/>
          <a:p>
            <a:endParaRPr lang="en-US"/>
          </a:p>
        </p:txBody>
      </p:sp>
      <p:sp>
        <p:nvSpPr>
          <p:cNvPr id="33" name="Shape 24"/>
          <p:cNvSpPr/>
          <p:nvPr/>
        </p:nvSpPr>
        <p:spPr>
          <a:xfrm>
            <a:off x="10035540" y="4050792"/>
            <a:ext cx="658368" cy="658368"/>
          </a:xfrm>
          <a:prstGeom prst="ellipse">
            <a:avLst/>
          </a:prstGeom>
          <a:solidFill>
            <a:srgbClr val="C89B3C"/>
          </a:solidFill>
          <a:ln/>
        </p:spPr>
        <p:txBody>
          <a:bodyPr/>
          <a:lstStyle/>
          <a:p>
            <a:endParaRPr lang="en-US"/>
          </a:p>
        </p:txBody>
      </p:sp>
      <p:pic>
        <p:nvPicPr>
          <p:cNvPr id="34" name="Image 7" descr="/home/claude/capstone/icons/route_navy.png"/>
          <p:cNvPicPr>
            <a:picLocks noChangeAspect="1"/>
          </p:cNvPicPr>
          <p:nvPr/>
        </p:nvPicPr>
        <p:blipFill>
          <a:blip r:embed="rId10"/>
          <a:stretch>
            <a:fillRect/>
          </a:stretch>
        </p:blipFill>
        <p:spPr>
          <a:xfrm>
            <a:off x="10200132" y="4215384"/>
            <a:ext cx="329184" cy="329184"/>
          </a:xfrm>
          <a:prstGeom prst="rect">
            <a:avLst/>
          </a:prstGeom>
        </p:spPr>
      </p:pic>
      <p:sp>
        <p:nvSpPr>
          <p:cNvPr id="35" name="Text 25"/>
          <p:cNvSpPr/>
          <p:nvPr/>
        </p:nvSpPr>
        <p:spPr>
          <a:xfrm>
            <a:off x="9153144" y="4919472"/>
            <a:ext cx="2423160" cy="640080"/>
          </a:xfrm>
          <a:prstGeom prst="rect">
            <a:avLst/>
          </a:prstGeom>
          <a:noFill/>
          <a:ln/>
        </p:spPr>
        <p:txBody>
          <a:bodyPr wrap="square" rtlCol="0" anchor="ctr"/>
          <a:lstStyle/>
          <a:p>
            <a:pPr marL="0" indent="0" algn="l">
              <a:buNone/>
            </a:pPr>
            <a:r>
              <a:rPr sz="1900" b="0" dirty="0">
                <a:solidFill>
                  <a:schemeClr val="bg1"/>
                </a:solidFill>
              </a:rPr>
              <a:t>...and more</a:t>
            </a:r>
            <a:endParaRPr lang="en-US" sz="1250" dirty="0">
              <a:solidFill>
                <a:schemeClr val="bg1"/>
              </a:solidFill>
            </a:endParaRPr>
          </a:p>
        </p:txBody>
      </p:sp>
      <p:sp>
        <p:nvSpPr>
          <p:cNvPr id="36" name="Text 26"/>
          <p:cNvSpPr/>
          <p:nvPr/>
        </p:nvSpPr>
        <p:spPr>
          <a:xfrm>
            <a:off x="11475720" y="6473952"/>
            <a:ext cx="548640" cy="274320"/>
          </a:xfrm>
          <a:prstGeom prst="rect">
            <a:avLst/>
          </a:prstGeom>
          <a:noFill/>
          <a:ln/>
        </p:spPr>
        <p:txBody>
          <a:bodyPr wrap="square" rtlCol="0" anchor="ctr"/>
          <a:lstStyle/>
          <a:p>
            <a:pPr marL="0" indent="0" algn="l">
              <a:buNone/>
            </a:pPr>
            <a:endParaRPr lang="en-US" sz="1000" dirty="0"/>
          </a:p>
        </p:txBody>
      </p:sp>
      <p:sp>
        <p:nvSpPr>
          <p:cNvPr id="37" name="Text 27"/>
          <p:cNvSpPr/>
          <p:nvPr/>
        </p:nvSpPr>
        <p:spPr>
          <a:xfrm>
            <a:off x="457200" y="6473952"/>
            <a:ext cx="7315200" cy="274320"/>
          </a:xfrm>
          <a:prstGeom prst="rect">
            <a:avLst/>
          </a:prstGeom>
          <a:noFill/>
          <a:ln/>
        </p:spPr>
        <p:txBody>
          <a:bodyPr wrap="square" rtlCol="0" anchor="ctr"/>
          <a:lstStyle/>
          <a:p>
            <a:pPr marL="0" indent="0" algn="l">
              <a:buNone/>
            </a:pP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18">
    <p:bg>
      <p:bgPr>
        <a:solidFill>
          <a:srgbClr val="1E2761"/>
        </a:solidFill>
        <a:effectLst/>
      </p:bgPr>
    </p:bg>
    <p:spTree>
      <p:nvGrpSpPr>
        <p:cNvPr id="1" name=""/>
        <p:cNvGrpSpPr/>
        <p:nvPr/>
      </p:nvGrpSpPr>
      <p:grpSpPr>
        <a:xfrm>
          <a:off x="0" y="0"/>
          <a:ext cx="0" cy="0"/>
          <a:chOff x="0" y="0"/>
          <a:chExt cx="0" cy="0"/>
        </a:xfrm>
      </p:grpSpPr>
      <p:sp>
        <p:nvSpPr>
          <p:cNvPr id="4" name="Text 2"/>
          <p:cNvSpPr/>
          <p:nvPr/>
        </p:nvSpPr>
        <p:spPr>
          <a:xfrm>
            <a:off x="620619" y="961571"/>
            <a:ext cx="11064240" cy="685800"/>
          </a:xfrm>
          <a:prstGeom prst="rect">
            <a:avLst/>
          </a:prstGeom>
          <a:noFill/>
          <a:ln/>
        </p:spPr>
        <p:txBody>
          <a:bodyPr wrap="square" rtlCol="0" anchor="ctr"/>
          <a:lstStyle/>
          <a:p>
            <a:pPr marL="0" indent="0" algn="l">
              <a:buNone/>
            </a:pPr>
            <a:r>
              <a:rPr sz="3600" b="1" dirty="0">
                <a:solidFill>
                  <a:srgbClr val="FFFFFF"/>
                </a:solidFill>
                <a:latin typeface="Cambria"/>
              </a:rPr>
              <a:t>Conclusion</a:t>
            </a:r>
            <a:endParaRPr lang="en-US" sz="3400" dirty="0"/>
          </a:p>
        </p:txBody>
      </p:sp>
      <p:sp>
        <p:nvSpPr>
          <p:cNvPr id="5" name="Shape 3"/>
          <p:cNvSpPr/>
          <p:nvPr/>
        </p:nvSpPr>
        <p:spPr>
          <a:xfrm>
            <a:off x="652975" y="190549"/>
            <a:ext cx="621792" cy="621792"/>
          </a:xfrm>
          <a:prstGeom prst="ellipse">
            <a:avLst/>
          </a:prstGeom>
          <a:solidFill>
            <a:srgbClr val="C89B3C"/>
          </a:solidFill>
          <a:ln/>
        </p:spPr>
        <p:txBody>
          <a:bodyPr/>
          <a:lstStyle/>
          <a:p>
            <a:endParaRPr lang="en-US"/>
          </a:p>
        </p:txBody>
      </p:sp>
      <p:pic>
        <p:nvPicPr>
          <p:cNvPr id="6" name="Image 0" descr="/home/claude/capstone/icons/flagCheckered_navy.png"/>
          <p:cNvPicPr>
            <a:picLocks noChangeAspect="1"/>
          </p:cNvPicPr>
          <p:nvPr/>
        </p:nvPicPr>
        <p:blipFill>
          <a:blip r:embed="rId3"/>
          <a:stretch>
            <a:fillRect/>
          </a:stretch>
        </p:blipFill>
        <p:spPr>
          <a:xfrm>
            <a:off x="802205" y="339779"/>
            <a:ext cx="323332" cy="323332"/>
          </a:xfrm>
          <a:prstGeom prst="rect">
            <a:avLst/>
          </a:prstGeom>
        </p:spPr>
      </p:pic>
      <p:sp>
        <p:nvSpPr>
          <p:cNvPr id="7" name="Text 4"/>
          <p:cNvSpPr/>
          <p:nvPr/>
        </p:nvSpPr>
        <p:spPr>
          <a:xfrm>
            <a:off x="514286" y="2274656"/>
            <a:ext cx="10698480" cy="1188720"/>
          </a:xfrm>
          <a:prstGeom prst="rect">
            <a:avLst/>
          </a:prstGeom>
          <a:noFill/>
          <a:ln/>
        </p:spPr>
        <p:txBody>
          <a:bodyPr wrap="square" rtlCol="0" anchor="ctr"/>
          <a:lstStyle/>
          <a:p>
            <a:pPr marL="0" indent="0" algn="l">
              <a:lnSpc>
                <a:spcPts val="2800"/>
              </a:lnSpc>
              <a:buNone/>
            </a:pPr>
            <a:r>
              <a:rPr lang="en-US" sz="2100" b="0" dirty="0">
                <a:solidFill>
                  <a:srgbClr val="CADCFC"/>
                </a:solidFill>
              </a:rPr>
              <a:t>  </a:t>
            </a:r>
            <a:r>
              <a:rPr sz="2100" b="0" dirty="0">
                <a:solidFill>
                  <a:srgbClr val="CADCFC"/>
                </a:solidFill>
              </a:rPr>
              <a:t>We built a Corrective RAG (CRAG) system that goes beyond basic RAG:</a:t>
            </a:r>
            <a:endParaRPr lang="en-US" sz="2100" dirty="0"/>
          </a:p>
          <a:p>
            <a:pPr algn="l"/>
            <a:r>
              <a:rPr sz="2100" b="0" dirty="0">
                <a:solidFill>
                  <a:srgbClr val="FFFFFF"/>
                </a:solidFill>
              </a:rPr>
              <a:t>  Hybrid retrieval: FAISS + BM25 for broader evidence coverage</a:t>
            </a:r>
          </a:p>
          <a:p>
            <a:pPr algn="l"/>
            <a:r>
              <a:rPr sz="2100" b="0" dirty="0">
                <a:solidFill>
                  <a:srgbClr val="FFFFFF"/>
                </a:solidFill>
              </a:rPr>
              <a:t>  LLM-based evidence verification before answer generation</a:t>
            </a:r>
          </a:p>
          <a:p>
            <a:pPr algn="l"/>
            <a:r>
              <a:rPr sz="2100" b="0" dirty="0">
                <a:solidFill>
                  <a:srgbClr val="FFFFFF"/>
                </a:solidFill>
              </a:rPr>
              <a:t>  Iterative query refinement when evidence is insufficient</a:t>
            </a:r>
          </a:p>
          <a:p>
            <a:pPr algn="l"/>
            <a:r>
              <a:rPr sz="2100" b="0" dirty="0">
                <a:solidFill>
                  <a:srgbClr val="FFFFFF"/>
                </a:solidFill>
              </a:rPr>
              <a:t>  </a:t>
            </a:r>
            <a:r>
              <a:rPr sz="2100" b="0" dirty="0" err="1">
                <a:solidFill>
                  <a:srgbClr val="FFFFFF"/>
                </a:solidFill>
              </a:rPr>
              <a:t>Tavily</a:t>
            </a:r>
            <a:r>
              <a:rPr sz="2100" b="0" dirty="0">
                <a:solidFill>
                  <a:srgbClr val="FFFFFF"/>
                </a:solidFill>
              </a:rPr>
              <a:t> web search as a final fallback option</a:t>
            </a:r>
          </a:p>
          <a:p>
            <a:pPr algn="l"/>
            <a:r>
              <a:rPr sz="2100" b="0" dirty="0">
                <a:solidFill>
                  <a:srgbClr val="FFFFFF"/>
                </a:solidFill>
              </a:rPr>
              <a:t>  Every answer includes sources + confidence score</a:t>
            </a:r>
          </a:p>
          <a:p>
            <a:pPr algn="l"/>
            <a:r>
              <a:rPr sz="2100" b="0" dirty="0">
                <a:solidFill>
                  <a:srgbClr val="FFFFFF"/>
                </a:solidFill>
              </a:rPr>
              <a:t>  Conversation history stored in PostgreSQL via </a:t>
            </a:r>
            <a:r>
              <a:rPr sz="2100" b="0" dirty="0" err="1">
                <a:solidFill>
                  <a:srgbClr val="FFFFFF"/>
                </a:solidFill>
              </a:rPr>
              <a:t>SQLAlchemy</a:t>
            </a:r>
            <a:endParaRPr sz="2100" b="0" dirty="0">
              <a:solidFill>
                <a:srgbClr val="FFFFFF"/>
              </a:solidFill>
            </a:endParaRPr>
          </a:p>
        </p:txBody>
      </p:sp>
      <p:sp>
        <p:nvSpPr>
          <p:cNvPr id="8" name="Text 5"/>
          <p:cNvSpPr/>
          <p:nvPr/>
        </p:nvSpPr>
        <p:spPr>
          <a:xfrm>
            <a:off x="620619" y="4297680"/>
            <a:ext cx="10698480" cy="822960"/>
          </a:xfrm>
          <a:prstGeom prst="rect">
            <a:avLst/>
          </a:prstGeom>
          <a:noFill/>
          <a:ln/>
        </p:spPr>
        <p:txBody>
          <a:bodyPr wrap="square" rtlCol="0" anchor="ctr"/>
          <a:lstStyle/>
          <a:p>
            <a:pPr marL="0" indent="0" algn="l">
              <a:lnSpc>
                <a:spcPts val="2000"/>
              </a:lnSpc>
              <a:buNone/>
            </a:pPr>
            <a:r>
              <a:rPr sz="2200" b="1" dirty="0">
                <a:solidFill>
                  <a:srgbClr val="C89B3C"/>
                </a:solidFill>
              </a:rPr>
              <a:t>Result: trustworthy, transparent, evidence-grounded AI answers.</a:t>
            </a:r>
            <a:endParaRPr lang="en-US" sz="1500" dirty="0"/>
          </a:p>
        </p:txBody>
      </p:sp>
      <p:sp>
        <p:nvSpPr>
          <p:cNvPr id="10" name="Text 7"/>
          <p:cNvSpPr/>
          <p:nvPr/>
        </p:nvSpPr>
        <p:spPr>
          <a:xfrm>
            <a:off x="731520" y="4434840"/>
            <a:ext cx="1726387" cy="457200"/>
          </a:xfrm>
          <a:prstGeom prst="rect">
            <a:avLst/>
          </a:prstGeom>
          <a:noFill/>
          <a:ln/>
        </p:spPr>
        <p:txBody>
          <a:bodyPr wrap="square" rtlCol="0" anchor="ctr"/>
          <a:lstStyle/>
          <a:p>
            <a:pPr marL="0" indent="0" algn="l">
              <a:buNone/>
            </a:pPr>
            <a:endParaRPr lang="en-US" sz="1100" dirty="0"/>
          </a:p>
        </p:txBody>
      </p:sp>
      <p:sp>
        <p:nvSpPr>
          <p:cNvPr id="12" name="Text 9"/>
          <p:cNvSpPr/>
          <p:nvPr/>
        </p:nvSpPr>
        <p:spPr>
          <a:xfrm>
            <a:off x="2622499" y="4434840"/>
            <a:ext cx="2174443" cy="457200"/>
          </a:xfrm>
          <a:prstGeom prst="rect">
            <a:avLst/>
          </a:prstGeom>
          <a:noFill/>
          <a:ln/>
        </p:spPr>
        <p:txBody>
          <a:bodyPr wrap="square" rtlCol="0" anchor="ctr"/>
          <a:lstStyle/>
          <a:p>
            <a:pPr marL="0" indent="0" algn="l">
              <a:buNone/>
            </a:pPr>
            <a:endParaRPr lang="en-US" sz="1100" dirty="0"/>
          </a:p>
        </p:txBody>
      </p:sp>
      <p:sp>
        <p:nvSpPr>
          <p:cNvPr id="14" name="Text 11"/>
          <p:cNvSpPr/>
          <p:nvPr/>
        </p:nvSpPr>
        <p:spPr>
          <a:xfrm>
            <a:off x="4961534" y="4434840"/>
            <a:ext cx="2174443" cy="457200"/>
          </a:xfrm>
          <a:prstGeom prst="rect">
            <a:avLst/>
          </a:prstGeom>
          <a:noFill/>
          <a:ln/>
        </p:spPr>
        <p:txBody>
          <a:bodyPr wrap="square" rtlCol="0" anchor="ctr"/>
          <a:lstStyle/>
          <a:p>
            <a:pPr marL="0" indent="0" algn="l">
              <a:buNone/>
            </a:pPr>
            <a:endParaRPr lang="en-US" sz="1100" dirty="0"/>
          </a:p>
        </p:txBody>
      </p:sp>
      <p:sp>
        <p:nvSpPr>
          <p:cNvPr id="16" name="Text 13"/>
          <p:cNvSpPr/>
          <p:nvPr/>
        </p:nvSpPr>
        <p:spPr>
          <a:xfrm>
            <a:off x="7300570" y="4663440"/>
            <a:ext cx="1905610" cy="457200"/>
          </a:xfrm>
          <a:prstGeom prst="rect">
            <a:avLst/>
          </a:prstGeom>
          <a:noFill/>
          <a:ln/>
        </p:spPr>
        <p:txBody>
          <a:bodyPr wrap="square" rtlCol="0" anchor="ctr"/>
          <a:lstStyle/>
          <a:p>
            <a:pPr marL="0" indent="0" algn="l">
              <a:buNone/>
            </a:pPr>
            <a:endParaRPr lang="en-US" sz="1100" dirty="0"/>
          </a:p>
        </p:txBody>
      </p:sp>
      <p:sp>
        <p:nvSpPr>
          <p:cNvPr id="18" name="Text 15"/>
          <p:cNvSpPr/>
          <p:nvPr/>
        </p:nvSpPr>
        <p:spPr>
          <a:xfrm>
            <a:off x="9370771" y="4434840"/>
            <a:ext cx="1547165" cy="457200"/>
          </a:xfrm>
          <a:prstGeom prst="rect">
            <a:avLst/>
          </a:prstGeom>
          <a:noFill/>
          <a:ln/>
        </p:spPr>
        <p:txBody>
          <a:bodyPr wrap="square" rtlCol="0" anchor="ctr"/>
          <a:lstStyle/>
          <a:p>
            <a:pPr marL="0" indent="0" algn="l">
              <a:buNone/>
            </a:pPr>
            <a:endParaRPr lang="en-US" sz="1100" dirty="0"/>
          </a:p>
        </p:txBody>
      </p:sp>
      <p:sp>
        <p:nvSpPr>
          <p:cNvPr id="19" name="Shape 16"/>
          <p:cNvSpPr/>
          <p:nvPr/>
        </p:nvSpPr>
        <p:spPr>
          <a:xfrm>
            <a:off x="620619" y="5431536"/>
            <a:ext cx="10698480" cy="960120"/>
          </a:xfrm>
          <a:prstGeom prst="roundRect">
            <a:avLst>
              <a:gd name="adj" fmla="val 7619"/>
            </a:avLst>
          </a:prstGeom>
          <a:solidFill>
            <a:srgbClr val="141B49"/>
          </a:solidFill>
          <a:ln/>
        </p:spPr>
        <p:txBody>
          <a:bodyPr/>
          <a:lstStyle/>
          <a:p>
            <a:endParaRPr lang="en-US" dirty="0"/>
          </a:p>
        </p:txBody>
      </p:sp>
      <p:sp>
        <p:nvSpPr>
          <p:cNvPr id="20" name="Text 17"/>
          <p:cNvSpPr/>
          <p:nvPr/>
        </p:nvSpPr>
        <p:spPr>
          <a:xfrm>
            <a:off x="652975" y="5454396"/>
            <a:ext cx="10149840" cy="960120"/>
          </a:xfrm>
          <a:prstGeom prst="rect">
            <a:avLst/>
          </a:prstGeom>
          <a:noFill/>
          <a:ln/>
        </p:spPr>
        <p:txBody>
          <a:bodyPr wrap="square" rtlCol="0" anchor="ctr"/>
          <a:lstStyle/>
          <a:p>
            <a:pPr marL="0" indent="0" algn="l">
              <a:buNone/>
            </a:pPr>
            <a:r>
              <a:rPr sz="2200" b="1" dirty="0">
                <a:solidFill>
                  <a:srgbClr val="C89B3C"/>
                </a:solidFill>
              </a:rPr>
              <a:t>Thank you  ?  Questions and Feedback Welcome</a:t>
            </a:r>
            <a:endParaRPr lang="en-US" sz="1400" dirty="0"/>
          </a:p>
        </p:txBody>
      </p:sp>
      <p:sp>
        <p:nvSpPr>
          <p:cNvPr id="21" name="Text 18"/>
          <p:cNvSpPr/>
          <p:nvPr/>
        </p:nvSpPr>
        <p:spPr>
          <a:xfrm>
            <a:off x="11475720" y="6473952"/>
            <a:ext cx="548640" cy="274320"/>
          </a:xfrm>
          <a:prstGeom prst="rect">
            <a:avLst/>
          </a:prstGeom>
          <a:noFill/>
          <a:ln/>
        </p:spPr>
        <p:txBody>
          <a:bodyPr wrap="square" rtlCol="0" anchor="ctr"/>
          <a:lstStyle/>
          <a:p>
            <a:pPr marL="0" indent="0" algn="l">
              <a:buNone/>
            </a:pPr>
            <a:endParaRPr lang="en-US" sz="1000" dirty="0"/>
          </a:p>
        </p:txBody>
      </p:sp>
      <p:sp>
        <p:nvSpPr>
          <p:cNvPr id="22" name="Text 19"/>
          <p:cNvSpPr/>
          <p:nvPr/>
        </p:nvSpPr>
        <p:spPr>
          <a:xfrm>
            <a:off x="457200" y="6473952"/>
            <a:ext cx="7315200" cy="274320"/>
          </a:xfrm>
          <a:prstGeom prst="rect">
            <a:avLst/>
          </a:prstGeom>
          <a:noFill/>
          <a:ln/>
        </p:spPr>
        <p:txBody>
          <a:bodyPr wrap="square" rtlCol="0" anchor="ctr"/>
          <a:lstStyle/>
          <a:p>
            <a:pPr marL="0" indent="0" algn="l">
              <a:buNone/>
            </a:pPr>
            <a:endParaRPr lang="en-US" sz="8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119</TotalTime>
  <Words>1093</Words>
  <Application>Microsoft Office PowerPoint</Application>
  <PresentationFormat>Widescreen</PresentationFormat>
  <Paragraphs>164</Paragraphs>
  <Slides>9</Slides>
  <Notes>9</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9</vt:i4>
      </vt:variant>
    </vt:vector>
  </HeadingPairs>
  <TitlesOfParts>
    <vt:vector size="13"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Evidence-Based Fact Verification using RAG and LLMs</dc:title>
  <dc:subject>PptxGenJS Presentation</dc:subject>
  <dc:creator>Capstone Project Proposal</dc:creator>
  <cp:lastModifiedBy>safal goyal</cp:lastModifiedBy>
  <cp:revision>3</cp:revision>
  <dcterms:created xsi:type="dcterms:W3CDTF">2026-07-29T09:04:47Z</dcterms:created>
  <dcterms:modified xsi:type="dcterms:W3CDTF">2026-09-16T06:54:12Z</dcterms:modified>
</cp:coreProperties>
</file>